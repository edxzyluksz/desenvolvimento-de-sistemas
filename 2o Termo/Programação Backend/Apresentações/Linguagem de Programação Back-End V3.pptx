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36"/>
  </p:notesMasterIdLst>
  <p:handoutMasterIdLst>
    <p:handoutMasterId r:id="rId37"/>
  </p:handoutMasterIdLst>
  <p:sldIdLst>
    <p:sldId id="278" r:id="rId5"/>
    <p:sldId id="282" r:id="rId6"/>
    <p:sldId id="293" r:id="rId7"/>
    <p:sldId id="271" r:id="rId8"/>
    <p:sldId id="294" r:id="rId9"/>
    <p:sldId id="283" r:id="rId10"/>
    <p:sldId id="284" r:id="rId11"/>
    <p:sldId id="285" r:id="rId12"/>
    <p:sldId id="309" r:id="rId13"/>
    <p:sldId id="310" r:id="rId14"/>
    <p:sldId id="311" r:id="rId15"/>
    <p:sldId id="312" r:id="rId16"/>
    <p:sldId id="317" r:id="rId17"/>
    <p:sldId id="286" r:id="rId18"/>
    <p:sldId id="318" r:id="rId19"/>
    <p:sldId id="319" r:id="rId20"/>
    <p:sldId id="313" r:id="rId21"/>
    <p:sldId id="314" r:id="rId22"/>
    <p:sldId id="315" r:id="rId23"/>
    <p:sldId id="316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292" r:id="rId3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521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FCF5D6B5-35B7-4285-9A4D-92ED5F34F328}" type="datetime1">
              <a:rPr lang="pt-BR" smtClean="0"/>
              <a:t>09/10/2025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CFA70580-B89C-4157-871D-6B9318EE5F58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4CFF1DF4-D409-4130-8A44-0FEC7A586139}" type="datetime1">
              <a:rPr lang="pt-BR" smtClean="0"/>
              <a:pPr/>
              <a:t>09/10/2025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E7AF00E9-A49D-4007-B3B9-A3783809E505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ABEDD-7FE8-1A67-C17D-FFD6A26AC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FE7660C-5D53-C3EA-DA55-25816EC43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C5F0A0B-A6DD-ADBB-0F5C-FB4B384B8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F88FC4B-0D7D-BE9B-4300-35830078A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0421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92E8C-7876-3129-13A7-A32F3966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EAF9E30-DD39-8940-CAF1-3EE5F3237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B15DF16-210A-D979-3416-F242FC0E2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86968D9-E72C-1E57-B7FE-692F97C829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6838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221D0-0270-3B1E-260F-08BF509AF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2799EAC-0741-0E2A-0627-46C895E7B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D9434BD-C9D4-EEB8-FB28-4CA2880E1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9338CE1-63FB-DB57-04C8-EA26128F5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7891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DFF0-6C56-A444-62BA-04BC70E4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2FF1848-3DB8-8B87-8731-EA8743D86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2438F3A-44DF-4B46-C9F1-C02690CF79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E5A9392-FF4E-5B6B-61E5-A4A1AAC2E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2270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DF3A8-4427-8E3B-0AE0-CE7A96A8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BCB19A6-A691-B662-94A3-6346B6D51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0F03DBE-30B1-3F3A-C91D-BC1CEF013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ACA4A83-A0DE-1AA6-F279-324C138AF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3804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ABDF5-02BD-0C2B-8552-CF064D05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6DEDD374-8286-9369-E182-84F66CEE0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75D2357-580D-5A4B-AFBB-2F9355FE37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D462533-B07F-6689-6F76-2E75A206F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66337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6157-B86C-D1EA-FD80-02CBCD94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A5830234-816F-D207-969C-4DF546940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E1C81ED-02AA-402C-CB1F-4142D69F3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1F02967-9A3F-2492-D965-FE401EE6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1284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3CA9-C244-EA9A-CD87-3F5F4BC4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E779DD3-EF07-36A1-833B-641CA00CC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E80FC3C-695D-3EBE-676E-C44BB2718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067D7F9-8D9C-0BB7-8525-5F31CF061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4634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27D8-9736-57C3-155F-DAA5D3B74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6F4A6A5-A07A-3156-AFEC-1CE85AE46A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CBFBB00-90C4-8E1C-0B18-4A3F470D1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F906D3E-ADD5-11AD-2E6A-7D1CA709A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4820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B27B-5F96-AC48-5705-1D509EBE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DA49249-0216-0EA4-36B3-4FC23CA71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6F1671B5-2D77-5AA6-EA1C-60EB8BA11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BE15E2E-2645-06F4-FAB1-E045F85D7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29764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02047-18C2-3558-03C7-120EE8E6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D3237F02-E41A-E800-D574-83A2E53EE4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7F087DB-9F09-DEEF-8358-67C166149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002921C-80D2-354D-9F36-AFCBCABBB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76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4437-1B8B-7D3F-0864-50EEF592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105F0230-8E37-30BD-F041-BC7C633B1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208E767D-5D3B-F7D2-AD41-21B16648F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B5BAF26-0390-44CD-B626-D5B01926F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69543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AFD4-936B-0B1F-1F4E-2F58444F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5337D55-5864-9215-C497-8E769C88A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176D213F-D142-3B9E-6679-9C2F4497C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B7C0F7D-121F-47D3-70F4-4EAA72E2F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07877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1DB8-760F-6534-ED28-484817F5D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73891718-799A-7D42-5D5E-5A9C0D07A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C048C63-5476-2F67-D07D-1CBE82DFE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8DF14B6-865B-DC36-E456-E3DEB485D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87458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1CAE-7A17-2E5C-0DD0-8B376C89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BFE73B1-9FFF-E6AC-4E49-F6E935BFC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3BC6FD5F-477C-3EE2-36E4-B87410AB7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D41671B-CF11-D56A-030F-0F8BC6850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83226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E4286-9769-EDE7-921F-A2791B7FC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C79A596-4B63-84F2-2898-1AB5247BBB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E84044E-21AE-20A4-0A02-9A7EE38FE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1EFE7F2-9FC2-E78B-557E-4D18460F2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1630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E7AF00E9-A49D-4007-B3B9-A3783809E505}" type="slidenum">
              <a:rPr lang="pt-BR" smtClean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pt-BR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ítulo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22" name="Espaço Reservado para Conteúdo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 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orma Livre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7" name="Forma Livre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8" name="Forma Livre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orma livre: Forma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orma Livre: Forma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orma Livre: Forma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rtlCol="0" anchor="b">
            <a:noAutofit/>
          </a:bodyPr>
          <a:lstStyle>
            <a:lvl1pPr algn="l"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 rtlCol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orma Livre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2" name="Forma Livre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3" name="Forma Livre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8" name="Espaço Reservado para Imagem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 rtlCol="0">
            <a:noAutofit/>
          </a:bodyPr>
          <a:lstStyle>
            <a:lvl1pPr marL="0" indent="0" algn="ctr">
              <a:buNone/>
              <a:defRPr lang="pt-BR" sz="18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007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orma livre: Forma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orma Livre: Forma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pt-BR"/>
                </a:defPPr>
              </a:lstStyle>
              <a:p>
                <a:pPr algn="ctr" rtl="0"/>
                <a:endParaRPr lang="pt-BR" dirty="0"/>
              </a:p>
            </p:txBody>
          </p:sp>
        </p:grp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orma livre: Forma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pt-BR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pt-BR" sz="1800">
                <a:solidFill>
                  <a:schemeClr val="tx1"/>
                </a:solidFill>
              </a:defRPr>
            </a:lvl1pPr>
            <a:lvl2pPr>
              <a:defRPr lang="pt-BR" sz="1200">
                <a:solidFill>
                  <a:schemeClr val="tx1"/>
                </a:solidFill>
              </a:defRPr>
            </a:lvl2pPr>
            <a:lvl3pPr>
              <a:defRPr lang="pt-BR" sz="1200">
                <a:solidFill>
                  <a:schemeClr val="tx1"/>
                </a:solidFill>
              </a:defRPr>
            </a:lvl3pPr>
            <a:lvl4pPr>
              <a:defRPr lang="pt-BR" sz="1200">
                <a:solidFill>
                  <a:schemeClr val="tx1"/>
                </a:solidFill>
              </a:defRPr>
            </a:lvl4pPr>
            <a:lvl5pPr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pt-BR" sz="5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pt-BR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CBD12358-51D2-46B3-9BDE-DF29528B945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orma Livre: Forma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15" name="Forma livre: Forma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pt-BR" sz="1800">
                <a:solidFill>
                  <a:schemeClr val="tx1"/>
                </a:solidFill>
              </a:defRPr>
            </a:lvl1pPr>
            <a:lvl2pPr>
              <a:defRPr lang="pt-BR" sz="1800">
                <a:solidFill>
                  <a:schemeClr val="tx1"/>
                </a:solidFill>
              </a:defRPr>
            </a:lvl2pPr>
            <a:lvl3pPr>
              <a:defRPr lang="pt-BR" sz="1800">
                <a:solidFill>
                  <a:schemeClr val="tx1"/>
                </a:solidFill>
              </a:defRPr>
            </a:lvl3pPr>
            <a:lvl4pPr>
              <a:defRPr lang="pt-BR" sz="1800">
                <a:solidFill>
                  <a:schemeClr val="tx1"/>
                </a:solidFill>
              </a:defRPr>
            </a:lvl4pPr>
            <a:lvl5pPr>
              <a:defRPr lang="pt-BR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pt-BR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pt-BR"/>
              <a:t>Clique para adicionar um título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pt-BR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pt-BR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0" name="Espaço Reservado para Imagem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no ícone para inserir a imagem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orma Livre: Forma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pt-BR" sz="64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pt-BR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rtl="0"/>
            <a:r>
              <a:rPr lang="pt-BR"/>
              <a:t>Clique para adicionar um subtítulo 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BA1B0FB-D917-4C8C-928F-313BD683BF39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</a:lstStyle>
            <a:p>
              <a:pPr algn="ctr" rtl="0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pt-BR"/>
              </a:defPPr>
            </a:lstStyle>
            <a:p>
              <a:pPr algn="ctr"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</a:lstStyle>
          <a:p>
            <a:pPr lvl="0" rtl="0">
              <a:lnSpc>
                <a:spcPct val="100000"/>
              </a:lnSpc>
            </a:pPr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pt-BR"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rtl="0"/>
            <a:fld id="{DBA1B0FB-D917-4C8C-928F-313BD683BF39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697" r:id="rId4"/>
    <p:sldLayoutId id="2147483703" r:id="rId5"/>
    <p:sldLayoutId id="2147483698" r:id="rId6"/>
    <p:sldLayoutId id="2147483704" r:id="rId7"/>
    <p:sldLayoutId id="2147483688" r:id="rId8"/>
    <p:sldLayoutId id="2147483686" r:id="rId9"/>
    <p:sldLayoutId id="2147483685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pt-BR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4302255"/>
          </a:xfrm>
          <a:noFill/>
        </p:spPr>
        <p:txBody>
          <a:bodyPr rtlCol="0" anchor="ctr">
            <a:noAutofit/>
          </a:bodyPr>
          <a:lstStyle>
            <a:defPPr>
              <a:defRPr lang="pt-BR"/>
            </a:defPPr>
          </a:lstStyle>
          <a:p>
            <a:pPr>
              <a:lnSpc>
                <a:spcPct val="100000"/>
              </a:lnSpc>
            </a:pPr>
            <a:r>
              <a:rPr lang="pt-BR" dirty="0"/>
              <a:t>Linguagem de Programação Back-</a:t>
            </a:r>
            <a:r>
              <a:rPr lang="pt-BR" dirty="0" err="1"/>
              <a:t>End</a:t>
            </a:r>
            <a:endParaRPr lang="pt-BR" dirty="0"/>
          </a:p>
        </p:txBody>
      </p:sp>
      <p:pic>
        <p:nvPicPr>
          <p:cNvPr id="8" name="Espaço Reservado para Imagem 13" descr="Tela de fundo digital de pontos de dados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A935D48-0C4A-CDBB-2DC4-A015CCD2232A}"/>
              </a:ext>
            </a:extLst>
          </p:cNvPr>
          <p:cNvSpPr txBox="1"/>
          <p:nvPr/>
        </p:nvSpPr>
        <p:spPr>
          <a:xfrm>
            <a:off x="8750808" y="6185919"/>
            <a:ext cx="329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/>
              <a:t>Prof. Wellington S. S. Silva</a:t>
            </a: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Estante com livros">
            <a:extLst>
              <a:ext uri="{FF2B5EF4-FFF2-40B4-BE49-F238E27FC236}">
                <a16:creationId xmlns:a16="http://schemas.microsoft.com/office/drawing/2014/main" id="{76A63FB3-B8C4-7836-7C5E-BF2F4EEBC2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833">
            <a:off x="4053716" y="883300"/>
            <a:ext cx="7715496" cy="55387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5545137" cy="1028005"/>
          </a:xfrm>
          <a:solidFill>
            <a:schemeClr val="bg1">
              <a:alpha val="20000"/>
            </a:schemeClr>
          </a:solidFill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Python: Bibliotecas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4248472"/>
            <a:ext cx="9139892" cy="728880"/>
          </a:xfrm>
          <a:solidFill>
            <a:schemeClr val="bg1">
              <a:alpha val="45000"/>
            </a:schemeClr>
          </a:solidFill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2800" dirty="0">
                <a:solidFill>
                  <a:srgbClr val="FFFF00"/>
                </a:solidFill>
              </a:rPr>
              <a:t>Introdução: O que é uma Biblioteca para Linguagem Python?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8B42C-B887-1278-0748-424514C44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483924"/>
            <a:ext cx="11850986" cy="1055165"/>
          </a:xfrm>
        </p:spPr>
        <p:txBody>
          <a:bodyPr>
            <a:normAutofit/>
          </a:bodyPr>
          <a:lstStyle/>
          <a:p>
            <a:r>
              <a:rPr lang="pt-BR" sz="3800" dirty="0"/>
              <a:t>Biblioteca – coleção de Ferramentas, Funções e módulos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034668-0363-5B8A-87E2-FED7535C3B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1638677"/>
            <a:ext cx="11090274" cy="4735399"/>
          </a:xfrm>
        </p:spPr>
        <p:txBody>
          <a:bodyPr>
            <a:normAutofit lnSpcReduction="10000"/>
          </a:bodyPr>
          <a:lstStyle/>
          <a:p>
            <a:endParaRPr lang="pt-BR" dirty="0"/>
          </a:p>
          <a:p>
            <a:pPr algn="just"/>
            <a:r>
              <a:rPr lang="pt-BR" sz="2000" dirty="0"/>
              <a:t>	No mundo da programação, uma </a:t>
            </a:r>
            <a:r>
              <a:rPr lang="pt-BR" sz="2000" b="1" dirty="0"/>
              <a:t>biblioteca</a:t>
            </a:r>
            <a:r>
              <a:rPr lang="pt-BR" sz="2000" dirty="0"/>
              <a:t> (ou </a:t>
            </a:r>
            <a:r>
              <a:rPr lang="pt-BR" sz="2000" i="1" dirty="0" err="1"/>
              <a:t>library</a:t>
            </a:r>
            <a:r>
              <a:rPr lang="pt-BR" sz="2000" dirty="0"/>
              <a:t>, em inglês) é como uma grande coleção de ferramentas, funções e módulos que já foram escritos por outras pessoas. Em vez de começar um projeto do zero e criar cada pequena função que você precisa, você pode simplesmente usar essas ferramentas prontas.</a:t>
            </a:r>
          </a:p>
          <a:p>
            <a:pPr algn="just"/>
            <a:r>
              <a:rPr lang="pt-BR" sz="2000" dirty="0"/>
              <a:t>	Pense em um projeto de construção. Você poderia fabricar cada martelo, chave de fenda e serra que você precisa. Ou, você poderia ir a uma loja de ferramentas e comprar um conjunto de ferramentas já feito e de alta qualidade. As bibliotecas são essa loja de ferramentas. Elas economizam tempo, evitam que você "reinvente a roda" e garantem que o seu código seja mais eficiente e confiável, já que essas bibliotecas são amplamente testadas.</a:t>
            </a:r>
          </a:p>
          <a:p>
            <a:pPr algn="just"/>
            <a:r>
              <a:rPr lang="pt-BR" sz="2000" dirty="0"/>
              <a:t>	Para usar uma biblioteca em seu código, você geralmente precisa importá-la com um comando simples, como </a:t>
            </a:r>
            <a:r>
              <a:rPr lang="pt-BR" sz="2000" b="1" dirty="0" err="1"/>
              <a:t>import</a:t>
            </a:r>
            <a:r>
              <a:rPr lang="pt-BR" sz="2000" b="1" dirty="0"/>
              <a:t> </a:t>
            </a:r>
            <a:r>
              <a:rPr lang="pt-BR" sz="2000" b="1" dirty="0" err="1"/>
              <a:t>biblioteca_desejada</a:t>
            </a:r>
            <a:r>
              <a:rPr lang="pt-BR" sz="20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46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5" descr="Tela de fundo digital de pontos de dados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" y="14599"/>
            <a:ext cx="11750040" cy="1899042"/>
          </a:xfrm>
          <a:solidFill>
            <a:schemeClr val="bg2">
              <a:alpha val="48000"/>
            </a:schemeClr>
          </a:solidFill>
        </p:spPr>
        <p:txBody>
          <a:bodyPr rtlCol="0" anchor="ctr"/>
          <a:lstStyle>
            <a:defPPr>
              <a:defRPr lang="pt-BR"/>
            </a:defPPr>
          </a:lstStyle>
          <a:p>
            <a:r>
              <a:rPr lang="pt-BR" dirty="0"/>
              <a:t>Algumas das Bibliotecas mais utilizadas</a:t>
            </a:r>
          </a:p>
        </p:txBody>
      </p:sp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371BF66E-6D74-2E87-01C0-12395A8A722D}"/>
              </a:ext>
            </a:extLst>
          </p:cNvPr>
          <p:cNvSpPr txBox="1">
            <a:spLocks/>
          </p:cNvSpPr>
          <p:nvPr/>
        </p:nvSpPr>
        <p:spPr>
          <a:xfrm>
            <a:off x="4637988" y="1613716"/>
            <a:ext cx="7015687" cy="377187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pt-BR"/>
            </a:defPPr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pt-BR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AutoNum type="arabicPeriod"/>
            </a:pP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NumPy</a:t>
            </a: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Numerical</a:t>
            </a: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Python)</a:t>
            </a:r>
            <a:endParaRPr lang="pt-BR" sz="1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Pandas</a:t>
            </a:r>
          </a:p>
          <a:p>
            <a:pPr marL="342900" indent="-342900" algn="l">
              <a:buAutoNum type="arabicPeriod"/>
            </a:pP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Matplotlib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Scikit-learn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TensorFlow</a:t>
            </a: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</a:t>
            </a: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PyTorch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Requests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Django e </a:t>
            </a: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Flask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Beautiful</a:t>
            </a:r>
            <a:r>
              <a:rPr lang="pt-BR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Soup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pt-BR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Seaborn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l">
              <a:buAutoNum type="arabicPeriod"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OpenCV (Open Source Computer Vision Library)</a:t>
            </a:r>
            <a:endParaRPr lang="pt-BR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B73DD-3D80-F73D-19CA-67000C5BF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4" y="178117"/>
            <a:ext cx="11972041" cy="1702302"/>
          </a:xfrm>
        </p:spPr>
        <p:txBody>
          <a:bodyPr/>
          <a:lstStyle/>
          <a:p>
            <a:r>
              <a:rPr lang="pt-BR" dirty="0"/>
              <a:t>Biblioteca – </a:t>
            </a:r>
            <a:r>
              <a:rPr lang="pt-BR" dirty="0" err="1"/>
              <a:t>NumPy</a:t>
            </a:r>
            <a:r>
              <a:rPr lang="pt-BR" dirty="0"/>
              <a:t> (</a:t>
            </a:r>
            <a:r>
              <a:rPr lang="pt-BR" dirty="0" err="1"/>
              <a:t>Numerical</a:t>
            </a:r>
            <a:r>
              <a:rPr lang="pt-BR" dirty="0"/>
              <a:t> Python)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D7EB617-B718-ABAC-FB9E-312EB45A9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01" y="2650648"/>
            <a:ext cx="1071827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É a biblioteca fundamental para computação numérica e científica em Python.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t-BR" altLang="pt-BR" b="1" dirty="0">
                <a:latin typeface="Arial" panose="020B0604020202020204" pitchFamily="34" charset="0"/>
              </a:rPr>
              <a:t>Para que serve:</a:t>
            </a:r>
            <a:r>
              <a:rPr lang="pt-BR" altLang="pt-BR" dirty="0">
                <a:latin typeface="Arial" panose="020B0604020202020204" pitchFamily="34" charset="0"/>
              </a:rPr>
              <a:t> Ela oferece estruturas de dados e funções eficientes para trabalhar com grandes </a:t>
            </a:r>
            <a:r>
              <a:rPr lang="pt-BR" altLang="pt-BR" dirty="0" err="1">
                <a:latin typeface="Arial" panose="020B0604020202020204" pitchFamily="34" charset="0"/>
              </a:rPr>
              <a:t>arrays</a:t>
            </a:r>
            <a:r>
              <a:rPr lang="pt-BR" altLang="pt-BR" dirty="0">
                <a:latin typeface="Arial" panose="020B0604020202020204" pitchFamily="34" charset="0"/>
              </a:rPr>
              <a:t> (vetores e matrizes) e realizar operações matemáticas complexas de forma rápida. É a base para muitas outras bibliotecas de ciência de dados.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505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AC7A5C0B-DE80-28E8-75BB-5813B6668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87" y="184666"/>
            <a:ext cx="10718275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numpy</a:t>
            </a:r>
            <a:r>
              <a:rPr lang="pt-BR" altLang="pt-BR" sz="1200" b="1" dirty="0">
                <a:latin typeface="Arial" panose="020B0604020202020204" pitchFamily="34" charset="0"/>
              </a:rPr>
              <a:t> as </a:t>
            </a:r>
            <a:r>
              <a:rPr lang="pt-BR" altLang="pt-BR" sz="1200" b="1" dirty="0" err="1">
                <a:latin typeface="Arial" panose="020B0604020202020204" pitchFamily="34" charset="0"/>
              </a:rPr>
              <a:t>np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	</a:t>
            </a:r>
            <a:r>
              <a:rPr lang="pt-BR" altLang="pt-BR" sz="1200" b="1" dirty="0">
                <a:latin typeface="Arial" panose="020B0604020202020204" pitchFamily="34" charset="0"/>
              </a:rPr>
              <a:t># 1. Criando </a:t>
            </a:r>
            <a:r>
              <a:rPr lang="pt-BR" altLang="pt-BR" sz="1200" b="1" dirty="0" err="1">
                <a:latin typeface="Arial" panose="020B0604020202020204" pitchFamily="34" charset="0"/>
              </a:rPr>
              <a:t>arrays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NumPy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i="1" dirty="0">
                <a:latin typeface="Arial" panose="020B0604020202020204" pitchFamily="34" charset="0"/>
              </a:rPr>
              <a:t>          # Cria um </a:t>
            </a:r>
            <a:r>
              <a:rPr lang="pt-BR" altLang="pt-BR" sz="1200" i="1" dirty="0" err="1">
                <a:latin typeface="Arial" panose="020B0604020202020204" pitchFamily="34" charset="0"/>
              </a:rPr>
              <a:t>array</a:t>
            </a:r>
            <a:r>
              <a:rPr lang="pt-BR" altLang="pt-BR" sz="1200" i="1" dirty="0">
                <a:latin typeface="Arial" panose="020B0604020202020204" pitchFamily="34" charset="0"/>
              </a:rPr>
              <a:t> unidimensional (vetor) a partir de uma lista Python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vetor = </a:t>
            </a:r>
            <a:r>
              <a:rPr lang="pt-BR" altLang="pt-BR" sz="1200" dirty="0" err="1">
                <a:latin typeface="Arial" panose="020B0604020202020204" pitchFamily="34" charset="0"/>
              </a:rPr>
              <a:t>np.array</a:t>
            </a:r>
            <a:r>
              <a:rPr lang="pt-BR" altLang="pt-BR" sz="1200" dirty="0">
                <a:latin typeface="Arial" panose="020B0604020202020204" pitchFamily="34" charset="0"/>
              </a:rPr>
              <a:t>([1, 2, 3, 4, 5])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print("Vetor original:")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print(vetor)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i="1" dirty="0">
                <a:latin typeface="Arial" panose="020B0604020202020204" pitchFamily="34" charset="0"/>
              </a:rPr>
              <a:t>          # Cria um </a:t>
            </a:r>
            <a:r>
              <a:rPr lang="pt-BR" altLang="pt-BR" sz="1200" i="1" dirty="0" err="1">
                <a:latin typeface="Arial" panose="020B0604020202020204" pitchFamily="34" charset="0"/>
              </a:rPr>
              <a:t>array</a:t>
            </a:r>
            <a:r>
              <a:rPr lang="pt-BR" altLang="pt-BR" sz="1200" i="1" dirty="0">
                <a:latin typeface="Arial" panose="020B0604020202020204" pitchFamily="34" charset="0"/>
              </a:rPr>
              <a:t> bidimensional (matriz)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 err="1">
                <a:latin typeface="Arial" panose="020B0604020202020204" pitchFamily="34" charset="0"/>
              </a:rPr>
              <a:t>matriz_a</a:t>
            </a:r>
            <a:r>
              <a:rPr lang="pt-BR" altLang="pt-BR" sz="1200" dirty="0">
                <a:latin typeface="Arial" panose="020B0604020202020204" pitchFamily="34" charset="0"/>
              </a:rPr>
              <a:t> = </a:t>
            </a:r>
            <a:r>
              <a:rPr lang="pt-BR" altLang="pt-BR" sz="1200" dirty="0" err="1">
                <a:latin typeface="Arial" panose="020B0604020202020204" pitchFamily="34" charset="0"/>
              </a:rPr>
              <a:t>np.array</a:t>
            </a:r>
            <a:r>
              <a:rPr lang="pt-BR" altLang="pt-BR" sz="1200" dirty="0">
                <a:latin typeface="Arial" panose="020B0604020202020204" pitchFamily="34" charset="0"/>
              </a:rPr>
              <a:t>([[1, 2],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                             [3, 4]])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print("\</a:t>
            </a:r>
            <a:r>
              <a:rPr lang="pt-BR" altLang="pt-BR" sz="1200" dirty="0" err="1">
                <a:latin typeface="Arial" panose="020B0604020202020204" pitchFamily="34" charset="0"/>
              </a:rPr>
              <a:t>nMatriz</a:t>
            </a:r>
            <a:r>
              <a:rPr lang="pt-BR" altLang="pt-BR" sz="1200" dirty="0">
                <a:latin typeface="Arial" panose="020B0604020202020204" pitchFamily="34" charset="0"/>
              </a:rPr>
              <a:t> A:")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</a:t>
            </a:r>
            <a:r>
              <a:rPr lang="pt-BR" altLang="pt-BR" sz="1200" dirty="0" err="1">
                <a:latin typeface="Arial" panose="020B0604020202020204" pitchFamily="34" charset="0"/>
              </a:rPr>
              <a:t>matriz_a</a:t>
            </a:r>
            <a:r>
              <a:rPr lang="pt-BR" altLang="pt-BR" sz="12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 err="1">
                <a:latin typeface="Arial" panose="020B0604020202020204" pitchFamily="34" charset="0"/>
              </a:rPr>
              <a:t>matriz_b</a:t>
            </a:r>
            <a:r>
              <a:rPr lang="pt-BR" altLang="pt-BR" sz="1200" dirty="0">
                <a:latin typeface="Arial" panose="020B0604020202020204" pitchFamily="34" charset="0"/>
              </a:rPr>
              <a:t> = </a:t>
            </a:r>
            <a:r>
              <a:rPr lang="pt-BR" altLang="pt-BR" sz="1200" dirty="0" err="1">
                <a:latin typeface="Arial" panose="020B0604020202020204" pitchFamily="34" charset="0"/>
              </a:rPr>
              <a:t>np.array</a:t>
            </a:r>
            <a:r>
              <a:rPr lang="pt-BR" altLang="pt-BR" sz="1200" dirty="0">
                <a:latin typeface="Arial" panose="020B0604020202020204" pitchFamily="34" charset="0"/>
              </a:rPr>
              <a:t>([[5, 6],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                 	            [7, 8]])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print("\</a:t>
            </a:r>
            <a:r>
              <a:rPr lang="pt-BR" altLang="pt-BR" sz="1200" dirty="0" err="1">
                <a:latin typeface="Arial" panose="020B0604020202020204" pitchFamily="34" charset="0"/>
              </a:rPr>
              <a:t>nMatriz</a:t>
            </a:r>
            <a:r>
              <a:rPr lang="pt-BR" altLang="pt-BR" sz="1200" dirty="0">
                <a:latin typeface="Arial" panose="020B0604020202020204" pitchFamily="34" charset="0"/>
              </a:rPr>
              <a:t> B:")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</a:t>
            </a:r>
            <a:r>
              <a:rPr lang="pt-BR" altLang="pt-BR" sz="1200" dirty="0" err="1">
                <a:latin typeface="Arial" panose="020B0604020202020204" pitchFamily="34" charset="0"/>
              </a:rPr>
              <a:t>matriz_b</a:t>
            </a:r>
            <a:r>
              <a:rPr lang="pt-BR" altLang="pt-BR" sz="12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	</a:t>
            </a:r>
            <a:r>
              <a:rPr lang="pt-BR" altLang="pt-BR" sz="1200" b="1" dirty="0">
                <a:latin typeface="Arial" panose="020B0604020202020204" pitchFamily="34" charset="0"/>
              </a:rPr>
              <a:t># 2. Operação matemática em todos os elementos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i="1" dirty="0">
                <a:latin typeface="Arial" panose="020B0604020202020204" pitchFamily="34" charset="0"/>
              </a:rPr>
              <a:t>          # Eleva cada elemento do vetor ao quadrado.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i="1" dirty="0">
                <a:latin typeface="Arial" panose="020B0604020202020204" pitchFamily="34" charset="0"/>
              </a:rPr>
              <a:t>          # Note que a operação é aplicada a cada item de forma eficiente.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 err="1">
                <a:latin typeface="Arial" panose="020B0604020202020204" pitchFamily="34" charset="0"/>
              </a:rPr>
              <a:t>vetor_ao_quadrado</a:t>
            </a:r>
            <a:r>
              <a:rPr lang="pt-BR" altLang="pt-BR" sz="1200" dirty="0">
                <a:latin typeface="Arial" panose="020B0604020202020204" pitchFamily="34" charset="0"/>
              </a:rPr>
              <a:t> = vetor **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print("\</a:t>
            </a:r>
            <a:r>
              <a:rPr lang="pt-BR" altLang="pt-BR" sz="1200" dirty="0" err="1">
                <a:latin typeface="Arial" panose="020B0604020202020204" pitchFamily="34" charset="0"/>
              </a:rPr>
              <a:t>nCada</a:t>
            </a:r>
            <a:r>
              <a:rPr lang="pt-BR" altLang="pt-BR" sz="1200" dirty="0">
                <a:latin typeface="Arial" panose="020B0604020202020204" pitchFamily="34" charset="0"/>
              </a:rPr>
              <a:t> elemento do vetor elevado ao quadrado:")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</a:t>
            </a:r>
            <a:r>
              <a:rPr lang="pt-BR" altLang="pt-BR" sz="1200" dirty="0" err="1">
                <a:latin typeface="Arial" panose="020B0604020202020204" pitchFamily="34" charset="0"/>
              </a:rPr>
              <a:t>vetor_ao_quadrado</a:t>
            </a:r>
            <a:r>
              <a:rPr lang="pt-BR" altLang="pt-BR" sz="12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	</a:t>
            </a:r>
            <a:r>
              <a:rPr lang="pt-BR" altLang="pt-BR" sz="1200" b="1" dirty="0">
                <a:latin typeface="Arial" panose="020B0604020202020204" pitchFamily="34" charset="0"/>
              </a:rPr>
              <a:t># 3. Multiplicação de matrizes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i="1" dirty="0">
                <a:latin typeface="Arial" panose="020B0604020202020204" pitchFamily="34" charset="0"/>
              </a:rPr>
              <a:t>          # Realiza a multiplicação de matrizes de forma eficiente usando np.dot()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i="1" dirty="0">
                <a:latin typeface="Arial" panose="020B0604020202020204" pitchFamily="34" charset="0"/>
              </a:rPr>
              <a:t>          # O resultado é uma nova matriz.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 err="1">
                <a:latin typeface="Arial" panose="020B0604020202020204" pitchFamily="34" charset="0"/>
              </a:rPr>
              <a:t>matriz_resultado</a:t>
            </a:r>
            <a:r>
              <a:rPr lang="pt-BR" altLang="pt-BR" sz="1200" dirty="0">
                <a:latin typeface="Arial" panose="020B0604020202020204" pitchFamily="34" charset="0"/>
              </a:rPr>
              <a:t> = np.dot(</a:t>
            </a:r>
            <a:r>
              <a:rPr lang="pt-BR" altLang="pt-BR" sz="1200" dirty="0" err="1">
                <a:latin typeface="Arial" panose="020B0604020202020204" pitchFamily="34" charset="0"/>
              </a:rPr>
              <a:t>matriz_a</a:t>
            </a:r>
            <a:r>
              <a:rPr lang="pt-BR" altLang="pt-BR" sz="1200" dirty="0">
                <a:latin typeface="Arial" panose="020B0604020202020204" pitchFamily="34" charset="0"/>
              </a:rPr>
              <a:t>, </a:t>
            </a:r>
            <a:r>
              <a:rPr lang="pt-BR" altLang="pt-BR" sz="1200" dirty="0" err="1">
                <a:latin typeface="Arial" panose="020B0604020202020204" pitchFamily="34" charset="0"/>
              </a:rPr>
              <a:t>matriz_b</a:t>
            </a:r>
            <a:r>
              <a:rPr lang="pt-BR" altLang="pt-BR" sz="12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print("\</a:t>
            </a:r>
            <a:r>
              <a:rPr lang="pt-BR" altLang="pt-BR" sz="1200" dirty="0" err="1">
                <a:latin typeface="Arial" panose="020B0604020202020204" pitchFamily="34" charset="0"/>
              </a:rPr>
              <a:t>nResultado</a:t>
            </a:r>
            <a:r>
              <a:rPr lang="pt-BR" altLang="pt-BR" sz="1200" dirty="0">
                <a:latin typeface="Arial" panose="020B0604020202020204" pitchFamily="34" charset="0"/>
              </a:rPr>
              <a:t> da multiplicação de Matriz A por Matriz B:")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</a:t>
            </a:r>
            <a:r>
              <a:rPr lang="pt-BR" altLang="pt-BR" sz="1200" dirty="0" err="1">
                <a:latin typeface="Arial" panose="020B0604020202020204" pitchFamily="34" charset="0"/>
              </a:rPr>
              <a:t>matriz_resultado</a:t>
            </a:r>
            <a:r>
              <a:rPr lang="pt-BR" altLang="pt-BR" sz="1200" dirty="0">
                <a:latin typeface="Arial" panose="020B0604020202020204" pitchFamily="34" charset="0"/>
              </a:rPr>
              <a:t>)</a:t>
            </a: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F71EDABB-6778-48AB-352C-6699AC42DEEF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/>
              <a:t>Pandas</a:t>
            </a:r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FDA7EC7-A361-9517-FD62-D9D74D55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90" y="2136338"/>
            <a:ext cx="1162743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Uma das bibliotecas mais usadas para análise e manipulação de dados.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que serve: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Pandas introduz o conceito de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é como uma planilha do Excel ou uma tabela de banco de dados, mas dentro do Python. Ele facilita a limpeza, o filtro, a agregação e a visualização de dados de forma intuitiva.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94CF2723-2613-3346-F0D4-38888F4D8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6" y="-61553"/>
            <a:ext cx="10718275" cy="667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pandas as </a:t>
            </a:r>
            <a:r>
              <a:rPr lang="pt-BR" altLang="pt-BR" sz="1400" b="1" dirty="0" err="1">
                <a:latin typeface="Arial" panose="020B0604020202020204" pitchFamily="34" charset="0"/>
              </a:rPr>
              <a:t>pd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1. Criando um </a:t>
            </a:r>
            <a:r>
              <a:rPr lang="pt-BR" altLang="pt-BR" sz="1400" b="1" dirty="0" err="1">
                <a:latin typeface="Arial" panose="020B0604020202020204" pitchFamily="34" charset="0"/>
              </a:rPr>
              <a:t>DataFrame</a:t>
            </a:r>
            <a:r>
              <a:rPr lang="pt-BR" altLang="pt-BR" sz="1400" b="1" dirty="0">
                <a:latin typeface="Arial" panose="020B0604020202020204" pitchFamily="34" charset="0"/>
              </a:rPr>
              <a:t> a partir de um dicionário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dados =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'Nome': ['Alice', 'Bob', 'Carlos', 'Diana', 'Eva'],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'Idade': [25, 30, 35, 22, 28],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'Cidade': ['São Paulo', 'Rio de Janeiro', 'Belo Horizonte', 'São Paulo', 'Rio de Janeiro']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      </a:t>
            </a:r>
            <a:r>
              <a:rPr lang="pt-BR" altLang="pt-BR" sz="1200" i="1" dirty="0">
                <a:latin typeface="Arial" panose="020B0604020202020204" pitchFamily="34" charset="0"/>
              </a:rPr>
              <a:t># Cria o </a:t>
            </a:r>
            <a:r>
              <a:rPr lang="pt-BR" altLang="pt-BR" sz="1200" i="1" dirty="0" err="1">
                <a:latin typeface="Arial" panose="020B0604020202020204" pitchFamily="34" charset="0"/>
              </a:rPr>
              <a:t>DataFrame</a:t>
            </a:r>
            <a:endParaRPr lang="pt-BR" altLang="pt-BR" sz="1200" i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 err="1">
                <a:latin typeface="Arial" panose="020B0604020202020204" pitchFamily="34" charset="0"/>
              </a:rPr>
              <a:t>df</a:t>
            </a:r>
            <a:r>
              <a:rPr lang="pt-BR" altLang="pt-BR" sz="1200" dirty="0">
                <a:latin typeface="Arial" panose="020B0604020202020204" pitchFamily="34" charset="0"/>
              </a:rPr>
              <a:t> = </a:t>
            </a:r>
            <a:r>
              <a:rPr lang="pt-BR" altLang="pt-BR" sz="1200" dirty="0" err="1">
                <a:latin typeface="Arial" panose="020B0604020202020204" pitchFamily="34" charset="0"/>
              </a:rPr>
              <a:t>pd.DataFrame</a:t>
            </a:r>
            <a:r>
              <a:rPr lang="pt-BR" altLang="pt-BR" sz="1200" dirty="0">
                <a:latin typeface="Arial" panose="020B0604020202020204" pitchFamily="34" charset="0"/>
              </a:rPr>
              <a:t>(dados)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print("--- </a:t>
            </a:r>
            <a:r>
              <a:rPr lang="pt-BR" altLang="pt-BR" sz="1200" dirty="0" err="1">
                <a:latin typeface="Arial" panose="020B0604020202020204" pitchFamily="34" charset="0"/>
              </a:rPr>
              <a:t>DataFrame</a:t>
            </a:r>
            <a:r>
              <a:rPr lang="pt-BR" altLang="pt-BR" sz="1200" dirty="0">
                <a:latin typeface="Arial" panose="020B0604020202020204" pitchFamily="34" charset="0"/>
              </a:rPr>
              <a:t> Original ---")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</a:t>
            </a:r>
            <a:r>
              <a:rPr lang="pt-BR" altLang="pt-BR" sz="1200" dirty="0" err="1">
                <a:latin typeface="Arial" panose="020B0604020202020204" pitchFamily="34" charset="0"/>
              </a:rPr>
              <a:t>df</a:t>
            </a:r>
            <a:r>
              <a:rPr lang="pt-BR" altLang="pt-BR" sz="12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2. Selecionando uma coluna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print("\n--- Apenas a coluna 'Nome' ---")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      </a:t>
            </a:r>
            <a:r>
              <a:rPr lang="pt-BR" altLang="pt-BR" sz="1200" i="1" dirty="0">
                <a:latin typeface="Arial" panose="020B0604020202020204" pitchFamily="34" charset="0"/>
              </a:rPr>
              <a:t># Selecionar uma única coluna retorna uma Series (tipo de dado do Pandas)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nomes = </a:t>
            </a:r>
            <a:r>
              <a:rPr lang="pt-BR" altLang="pt-BR" sz="1200" dirty="0" err="1">
                <a:latin typeface="Arial" panose="020B0604020202020204" pitchFamily="34" charset="0"/>
              </a:rPr>
              <a:t>df</a:t>
            </a:r>
            <a:r>
              <a:rPr lang="pt-BR" altLang="pt-BR" sz="1200" dirty="0">
                <a:latin typeface="Arial" panose="020B0604020202020204" pitchFamily="34" charset="0"/>
              </a:rPr>
              <a:t>['Nome']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print(nomes)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3. Filtrando dados por uma condição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print("\n--- Pessoas com mais de 25 anos ---")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      </a:t>
            </a:r>
            <a:r>
              <a:rPr lang="pt-BR" altLang="pt-BR" sz="1200" i="1" dirty="0">
                <a:latin typeface="Arial" panose="020B0604020202020204" pitchFamily="34" charset="0"/>
              </a:rPr>
              <a:t># Cria uma condição (uma Series de </a:t>
            </a:r>
            <a:r>
              <a:rPr lang="pt-BR" altLang="pt-BR" sz="1200" i="1" dirty="0" err="1">
                <a:latin typeface="Arial" panose="020B0604020202020204" pitchFamily="34" charset="0"/>
              </a:rPr>
              <a:t>True</a:t>
            </a:r>
            <a:r>
              <a:rPr lang="pt-BR" altLang="pt-BR" sz="1200" i="1" dirty="0">
                <a:latin typeface="Arial" panose="020B0604020202020204" pitchFamily="34" charset="0"/>
              </a:rPr>
              <a:t>/False) e a usa para filtrar o </a:t>
            </a:r>
            <a:r>
              <a:rPr lang="pt-BR" altLang="pt-BR" sz="1200" i="1" dirty="0" err="1">
                <a:latin typeface="Arial" panose="020B0604020202020204" pitchFamily="34" charset="0"/>
              </a:rPr>
              <a:t>DataFrame</a:t>
            </a:r>
            <a:endParaRPr lang="pt-BR" altLang="pt-BR" sz="1200" i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 err="1">
                <a:latin typeface="Arial" panose="020B0604020202020204" pitchFamily="34" charset="0"/>
              </a:rPr>
              <a:t>df_filtrado</a:t>
            </a:r>
            <a:r>
              <a:rPr lang="pt-BR" altLang="pt-BR" sz="1200" dirty="0">
                <a:latin typeface="Arial" panose="020B0604020202020204" pitchFamily="34" charset="0"/>
              </a:rPr>
              <a:t> = </a:t>
            </a:r>
            <a:r>
              <a:rPr lang="pt-BR" altLang="pt-BR" sz="1200" dirty="0" err="1">
                <a:latin typeface="Arial" panose="020B0604020202020204" pitchFamily="34" charset="0"/>
              </a:rPr>
              <a:t>df</a:t>
            </a:r>
            <a:r>
              <a:rPr lang="pt-BR" altLang="pt-BR" sz="1200" dirty="0">
                <a:latin typeface="Arial" panose="020B0604020202020204" pitchFamily="34" charset="0"/>
              </a:rPr>
              <a:t>[</a:t>
            </a:r>
            <a:r>
              <a:rPr lang="pt-BR" altLang="pt-BR" sz="1200" dirty="0" err="1">
                <a:latin typeface="Arial" panose="020B0604020202020204" pitchFamily="34" charset="0"/>
              </a:rPr>
              <a:t>df</a:t>
            </a:r>
            <a:r>
              <a:rPr lang="pt-BR" altLang="pt-BR" sz="1200" dirty="0">
                <a:latin typeface="Arial" panose="020B0604020202020204" pitchFamily="34" charset="0"/>
              </a:rPr>
              <a:t>['Idade'] &gt; 25]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</a:t>
            </a:r>
            <a:r>
              <a:rPr lang="pt-BR" altLang="pt-BR" sz="1200" dirty="0" err="1">
                <a:latin typeface="Arial" panose="020B0604020202020204" pitchFamily="34" charset="0"/>
              </a:rPr>
              <a:t>df_filtrado</a:t>
            </a:r>
            <a:r>
              <a:rPr lang="pt-BR" altLang="pt-BR" sz="1200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4. Realizando um cálculo simples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          </a:t>
            </a:r>
            <a:r>
              <a:rPr lang="pt-BR" altLang="pt-BR" sz="1200" i="1" dirty="0">
                <a:latin typeface="Arial" panose="020B0604020202020204" pitchFamily="34" charset="0"/>
              </a:rPr>
              <a:t># Calcula a média da idade de todas as pessoas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i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 err="1">
                <a:latin typeface="Arial" panose="020B0604020202020204" pitchFamily="34" charset="0"/>
              </a:rPr>
              <a:t>media_idade</a:t>
            </a:r>
            <a:r>
              <a:rPr lang="pt-BR" altLang="pt-BR" sz="1200" dirty="0">
                <a:latin typeface="Arial" panose="020B0604020202020204" pitchFamily="34" charset="0"/>
              </a:rPr>
              <a:t> = </a:t>
            </a:r>
            <a:r>
              <a:rPr lang="pt-BR" altLang="pt-BR" sz="1200" dirty="0" err="1">
                <a:latin typeface="Arial" panose="020B0604020202020204" pitchFamily="34" charset="0"/>
              </a:rPr>
              <a:t>df</a:t>
            </a:r>
            <a:r>
              <a:rPr lang="pt-BR" altLang="pt-BR" sz="1200" dirty="0">
                <a:latin typeface="Arial" panose="020B0604020202020204" pitchFamily="34" charset="0"/>
              </a:rPr>
              <a:t>['Idade'].</a:t>
            </a:r>
            <a:r>
              <a:rPr lang="pt-BR" altLang="pt-BR" sz="1200" dirty="0" err="1">
                <a:latin typeface="Arial" panose="020B0604020202020204" pitchFamily="34" charset="0"/>
              </a:rPr>
              <a:t>mean</a:t>
            </a:r>
            <a:r>
              <a:rPr lang="pt-BR" altLang="pt-BR" sz="1200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print(f"\n--- Média de Idade ---")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dirty="0">
                <a:latin typeface="Arial" panose="020B0604020202020204" pitchFamily="34" charset="0"/>
              </a:rPr>
              <a:t>print(</a:t>
            </a:r>
            <a:r>
              <a:rPr lang="pt-BR" altLang="pt-BR" sz="1200" dirty="0" err="1">
                <a:latin typeface="Arial" panose="020B0604020202020204" pitchFamily="34" charset="0"/>
              </a:rPr>
              <a:t>f"A</a:t>
            </a:r>
            <a:r>
              <a:rPr lang="pt-BR" altLang="pt-BR" sz="1200" dirty="0">
                <a:latin typeface="Arial" panose="020B0604020202020204" pitchFamily="34" charset="0"/>
              </a:rPr>
              <a:t> média de idade das pessoas é: {media_idade:.2f} anos")</a:t>
            </a: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C9813-75C8-D02A-04EF-C4AA399F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F7578A0-3C0E-A764-29BE-0763AE321820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</a:t>
            </a:r>
            <a:r>
              <a:rPr lang="pt-BR" sz="4400" dirty="0"/>
              <a:t> </a:t>
            </a:r>
            <a:r>
              <a:rPr lang="pt-BR" sz="5400" dirty="0"/>
              <a:t>– </a:t>
            </a:r>
            <a:r>
              <a:rPr lang="pt-BR" sz="5400" dirty="0" err="1"/>
              <a:t>Matplotlib</a:t>
            </a:r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A8C4583-5F39-D170-EFFD-7747D3493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90" y="1859341"/>
            <a:ext cx="1162743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 </a:t>
            </a:r>
            <a:r>
              <a:rPr lang="pt-BR" dirty="0"/>
              <a:t>Uma das bibliotecas de visualização de dados mais antigas e amplamente usadas.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que serve: </a:t>
            </a:r>
            <a:r>
              <a:rPr lang="pt-BR" dirty="0"/>
              <a:t>Permite criar uma grande variedade de gráficos estáticos de alta qualidade, como gráficos de linha, barras, dispersão e histogramas, para ajudar a entender e apresentar dados.</a:t>
            </a: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96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4F95E-E576-A5E9-CD1B-52E5EA6B7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600A14CA-D6FD-0FF2-D9CD-86273881181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D54F649-1F40-C3D1-EDB3-46B99B1E1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6" y="323169"/>
            <a:ext cx="10718275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matplotlib.pyplot</a:t>
            </a:r>
            <a:r>
              <a:rPr lang="pt-BR" altLang="pt-BR" sz="1400" b="1" dirty="0">
                <a:latin typeface="Arial" panose="020B0604020202020204" pitchFamily="34" charset="0"/>
              </a:rPr>
              <a:t> as </a:t>
            </a:r>
            <a:r>
              <a:rPr lang="pt-BR" altLang="pt-BR" sz="1400" b="1" dirty="0" err="1">
                <a:latin typeface="Arial" panose="020B0604020202020204" pitchFamily="34" charset="0"/>
              </a:rPr>
              <a:t>plt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numpy</a:t>
            </a:r>
            <a:r>
              <a:rPr lang="pt-BR" altLang="pt-BR" sz="1400" b="1" dirty="0">
                <a:latin typeface="Arial" panose="020B0604020202020204" pitchFamily="34" charset="0"/>
              </a:rPr>
              <a:t> as </a:t>
            </a:r>
            <a:r>
              <a:rPr lang="pt-BR" altLang="pt-BR" sz="1400" b="1" dirty="0" err="1">
                <a:latin typeface="Arial" panose="020B0604020202020204" pitchFamily="34" charset="0"/>
              </a:rPr>
              <a:t>np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1. Preparando os dados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meses = ['Jan', '</a:t>
            </a:r>
            <a:r>
              <a:rPr lang="pt-BR" altLang="pt-BR" sz="1400" b="1" dirty="0" err="1">
                <a:latin typeface="Arial" panose="020B0604020202020204" pitchFamily="34" charset="0"/>
              </a:rPr>
              <a:t>Fev</a:t>
            </a:r>
            <a:r>
              <a:rPr lang="pt-BR" altLang="pt-BR" sz="1400" b="1" dirty="0">
                <a:latin typeface="Arial" panose="020B0604020202020204" pitchFamily="34" charset="0"/>
              </a:rPr>
              <a:t>', 'Mar', '</a:t>
            </a:r>
            <a:r>
              <a:rPr lang="pt-BR" altLang="pt-BR" sz="1400" b="1" dirty="0" err="1">
                <a:latin typeface="Arial" panose="020B0604020202020204" pitchFamily="34" charset="0"/>
              </a:rPr>
              <a:t>Abr</a:t>
            </a:r>
            <a:r>
              <a:rPr lang="pt-BR" altLang="pt-BR" sz="1400" b="1" dirty="0">
                <a:latin typeface="Arial" panose="020B0604020202020204" pitchFamily="34" charset="0"/>
              </a:rPr>
              <a:t>', 'Mai', '</a:t>
            </a:r>
            <a:r>
              <a:rPr lang="pt-BR" altLang="pt-BR" sz="1400" b="1" dirty="0" err="1">
                <a:latin typeface="Arial" panose="020B0604020202020204" pitchFamily="34" charset="0"/>
              </a:rPr>
              <a:t>Jun</a:t>
            </a:r>
            <a:r>
              <a:rPr lang="pt-BR" altLang="pt-BR" sz="1400" b="1" dirty="0">
                <a:latin typeface="Arial" panose="020B0604020202020204" pitchFamily="34" charset="0"/>
              </a:rPr>
              <a:t>']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vendas = </a:t>
            </a:r>
            <a:r>
              <a:rPr lang="pt-BR" altLang="pt-BR" sz="1400" b="1" dirty="0" err="1">
                <a:latin typeface="Arial" panose="020B0604020202020204" pitchFamily="34" charset="0"/>
              </a:rPr>
              <a:t>np.array</a:t>
            </a:r>
            <a:r>
              <a:rPr lang="pt-BR" altLang="pt-BR" sz="1400" b="1" dirty="0">
                <a:latin typeface="Arial" panose="020B0604020202020204" pitchFamily="34" charset="0"/>
              </a:rPr>
              <a:t>([150, 200, 250, 300, 280, 320])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2. Criando o gráfico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plt.figure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figsize</a:t>
            </a:r>
            <a:r>
              <a:rPr lang="pt-BR" altLang="pt-BR" sz="1400" b="1" dirty="0">
                <a:latin typeface="Arial" panose="020B0604020202020204" pitchFamily="34" charset="0"/>
              </a:rPr>
              <a:t>=(8, 6))  # Cria uma figura para o gráfico com tamanho definido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  # Plota os dados: meses no eixo X e vendas no eixo 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plt.plot</a:t>
            </a:r>
            <a:r>
              <a:rPr lang="pt-BR" altLang="pt-BR" sz="1400" b="1" dirty="0">
                <a:latin typeface="Arial" panose="020B0604020202020204" pitchFamily="34" charset="0"/>
              </a:rPr>
              <a:t>(meses, vendas, </a:t>
            </a:r>
            <a:r>
              <a:rPr lang="pt-BR" altLang="pt-BR" sz="1400" b="1" dirty="0" err="1">
                <a:latin typeface="Arial" panose="020B0604020202020204" pitchFamily="34" charset="0"/>
              </a:rPr>
              <a:t>marker</a:t>
            </a:r>
            <a:r>
              <a:rPr lang="pt-BR" altLang="pt-BR" sz="1400" b="1" dirty="0">
                <a:latin typeface="Arial" panose="020B0604020202020204" pitchFamily="34" charset="0"/>
              </a:rPr>
              <a:t>='o', </a:t>
            </a:r>
            <a:r>
              <a:rPr lang="pt-BR" altLang="pt-BR" sz="1400" b="1" dirty="0" err="1">
                <a:latin typeface="Arial" panose="020B0604020202020204" pitchFamily="34" charset="0"/>
              </a:rPr>
              <a:t>linestyle</a:t>
            </a:r>
            <a:r>
              <a:rPr lang="pt-BR" altLang="pt-BR" sz="1400" b="1" dirty="0">
                <a:latin typeface="Arial" panose="020B0604020202020204" pitchFamily="34" charset="0"/>
              </a:rPr>
              <a:t>='-', color='b’)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3. Adicionando rótulos e título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plt.title</a:t>
            </a:r>
            <a:r>
              <a:rPr lang="pt-BR" altLang="pt-BR" sz="1400" b="1" dirty="0">
                <a:latin typeface="Arial" panose="020B0604020202020204" pitchFamily="34" charset="0"/>
              </a:rPr>
              <a:t>('Vendas Mensais no Primeiro Semestre', </a:t>
            </a:r>
            <a:r>
              <a:rPr lang="pt-BR" altLang="pt-BR" sz="1400" b="1" dirty="0" err="1">
                <a:latin typeface="Arial" panose="020B0604020202020204" pitchFamily="34" charset="0"/>
              </a:rPr>
              <a:t>fontsize</a:t>
            </a:r>
            <a:r>
              <a:rPr lang="pt-BR" altLang="pt-BR" sz="1400" b="1" dirty="0">
                <a:latin typeface="Arial" panose="020B0604020202020204" pitchFamily="34" charset="0"/>
              </a:rPr>
              <a:t>=16)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plt.xlabel</a:t>
            </a:r>
            <a:r>
              <a:rPr lang="pt-BR" altLang="pt-BR" sz="1400" b="1" dirty="0">
                <a:latin typeface="Arial" panose="020B0604020202020204" pitchFamily="34" charset="0"/>
              </a:rPr>
              <a:t>('Mês', </a:t>
            </a:r>
            <a:r>
              <a:rPr lang="pt-BR" altLang="pt-BR" sz="1400" b="1" dirty="0" err="1">
                <a:latin typeface="Arial" panose="020B0604020202020204" pitchFamily="34" charset="0"/>
              </a:rPr>
              <a:t>fontsize</a:t>
            </a:r>
            <a:r>
              <a:rPr lang="pt-BR" altLang="pt-BR" sz="1400" b="1" dirty="0">
                <a:latin typeface="Arial" panose="020B0604020202020204" pitchFamily="34" charset="0"/>
              </a:rPr>
              <a:t>=12)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plt.ylabel</a:t>
            </a:r>
            <a:r>
              <a:rPr lang="pt-BR" altLang="pt-BR" sz="1400" b="1" dirty="0">
                <a:latin typeface="Arial" panose="020B0604020202020204" pitchFamily="34" charset="0"/>
              </a:rPr>
              <a:t>('Total de Vendas', </a:t>
            </a:r>
            <a:r>
              <a:rPr lang="pt-BR" altLang="pt-BR" sz="1400" b="1" dirty="0" err="1">
                <a:latin typeface="Arial" panose="020B0604020202020204" pitchFamily="34" charset="0"/>
              </a:rPr>
              <a:t>fontsize</a:t>
            </a:r>
            <a:r>
              <a:rPr lang="pt-BR" altLang="pt-BR" sz="1400" b="1" dirty="0">
                <a:latin typeface="Arial" panose="020B0604020202020204" pitchFamily="34" charset="0"/>
              </a:rPr>
              <a:t>=12)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  # Adiciona uma grade para facilitar a leitura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plt.grid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True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# 4. Exibindo o gráfico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plt.show</a:t>
            </a:r>
            <a:r>
              <a:rPr lang="pt-BR" altLang="pt-BR" sz="1400" b="1" dirty="0"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3185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15B5F-F3BD-BAFE-0AC2-D1D022122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E554432E-6737-9E82-9739-81375AD2FBA5}"/>
              </a:ext>
            </a:extLst>
          </p:cNvPr>
          <p:cNvSpPr txBox="1">
            <a:spLocks/>
          </p:cNvSpPr>
          <p:nvPr/>
        </p:nvSpPr>
        <p:spPr>
          <a:xfrm>
            <a:off x="382253" y="178117"/>
            <a:ext cx="11452573" cy="119819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pt-B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5400" dirty="0"/>
              <a:t>Biblioteca </a:t>
            </a:r>
            <a:r>
              <a:rPr lang="pt-BR" sz="4400" dirty="0"/>
              <a:t>– </a:t>
            </a:r>
            <a:r>
              <a:rPr lang="pt-BR" sz="5400" dirty="0" err="1"/>
              <a:t>Scikit-learn</a:t>
            </a:r>
            <a:endParaRPr lang="pt-BR" sz="44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B04383D-DC4C-1EF7-9BBE-4CF393DA7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90" y="1397678"/>
            <a:ext cx="1162743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 </a:t>
            </a:r>
            <a:r>
              <a:rPr lang="pt-BR" dirty="0"/>
              <a:t>A biblioteca mais popular para aprendizado de máquina (Machine Learning) em Python.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que serve: </a:t>
            </a:r>
            <a:r>
              <a:rPr lang="pt-BR" dirty="0"/>
              <a:t>Ela oferece uma vasta gama de algoritmos e ferramentas para tarefas de aprendizado de máquina, como classificação, regressão, </a:t>
            </a:r>
            <a:r>
              <a:rPr lang="pt-BR" i="1" dirty="0" err="1"/>
              <a:t>clustering</a:t>
            </a:r>
            <a:r>
              <a:rPr lang="pt-BR" dirty="0"/>
              <a:t> e redução de dimensionalidade. É conhecida por sua simplicidade e consistência na API.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instalar a Biblioteca execute o comando abaixo.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	 </a:t>
            </a:r>
            <a:r>
              <a:rPr lang="pt-BR" altLang="pt-BR" sz="2400" b="1" dirty="0" err="1">
                <a:latin typeface="Arial" panose="020B0604020202020204" pitchFamily="34" charset="0"/>
              </a:rPr>
              <a:t>pip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install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scikit-learn</a:t>
            </a:r>
            <a:endParaRPr lang="pt-BR" altLang="pt-B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958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6207-9A1F-E151-AE37-C93C5AFD8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96ED712E-F223-418A-5923-F636D83DF13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62F16A73-4CB9-21D8-32CB-F95A22E76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5" y="964081"/>
            <a:ext cx="10718275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1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 err="1">
                <a:latin typeface="Arial" panose="020B0604020202020204" pitchFamily="34" charset="0"/>
              </a:rPr>
              <a:t>from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sklearn.linear_model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import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LinearRegression</a:t>
            </a:r>
            <a:endParaRPr lang="pt-BR" altLang="pt-BR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# Dados de exemplo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X = [[1], [2], [3], [4]]   # variável independente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y = [2, 4, 6, 8]           # variável dependente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# Criando e treinando o modelo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modelo = </a:t>
            </a:r>
            <a:r>
              <a:rPr lang="pt-BR" altLang="pt-BR" sz="2400" b="1" dirty="0" err="1">
                <a:latin typeface="Arial" panose="020B0604020202020204" pitchFamily="34" charset="0"/>
              </a:rPr>
              <a:t>LinearRegression</a:t>
            </a:r>
            <a:r>
              <a:rPr lang="pt-BR" altLang="pt-BR" sz="24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 err="1">
                <a:latin typeface="Arial" panose="020B0604020202020204" pitchFamily="34" charset="0"/>
              </a:rPr>
              <a:t>modelo.fit</a:t>
            </a:r>
            <a:r>
              <a:rPr lang="pt-BR" altLang="pt-BR" sz="2400" b="1" dirty="0">
                <a:latin typeface="Arial" panose="020B0604020202020204" pitchFamily="34" charset="0"/>
              </a:rPr>
              <a:t>(X, 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# Fazendo previsão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print(</a:t>
            </a:r>
            <a:r>
              <a:rPr lang="pt-BR" altLang="pt-BR" sz="2400" b="1" dirty="0" err="1">
                <a:latin typeface="Arial" panose="020B0604020202020204" pitchFamily="34" charset="0"/>
              </a:rPr>
              <a:t>modelo.predict</a:t>
            </a:r>
            <a:r>
              <a:rPr lang="pt-BR" altLang="pt-BR" sz="2400" b="1" dirty="0">
                <a:latin typeface="Arial" panose="020B0604020202020204" pitchFamily="34" charset="0"/>
              </a:rPr>
              <a:t>([[5]]))  # Resultado esperado: ~10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1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669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58416-0803-F36F-916F-4DC24A4C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7E423390-25D7-9383-9CA5-10845C0679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B389664-6CA2-F0D4-034A-3836B9675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5" y="-66973"/>
            <a:ext cx="10718275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import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numpy</a:t>
            </a:r>
            <a:r>
              <a:rPr lang="pt-BR" altLang="pt-BR" sz="1100" b="1" dirty="0">
                <a:latin typeface="Arial" panose="020B0604020202020204" pitchFamily="34" charset="0"/>
              </a:rPr>
              <a:t> as </a:t>
            </a:r>
            <a:r>
              <a:rPr lang="pt-BR" altLang="pt-BR" sz="1100" b="1" dirty="0" err="1">
                <a:latin typeface="Arial" panose="020B0604020202020204" pitchFamily="34" charset="0"/>
              </a:rPr>
              <a:t>np</a:t>
            </a:r>
            <a:endParaRPr lang="pt-BR" altLang="pt-BR" sz="11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import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matplotlib.pyplot</a:t>
            </a:r>
            <a:r>
              <a:rPr lang="pt-BR" altLang="pt-BR" sz="1100" b="1" dirty="0">
                <a:latin typeface="Arial" panose="020B0604020202020204" pitchFamily="34" charset="0"/>
              </a:rPr>
              <a:t> as </a:t>
            </a:r>
            <a:r>
              <a:rPr lang="pt-BR" altLang="pt-BR" sz="1100" b="1" dirty="0" err="1">
                <a:latin typeface="Arial" panose="020B0604020202020204" pitchFamily="34" charset="0"/>
              </a:rPr>
              <a:t>plt</a:t>
            </a:r>
            <a:endParaRPr lang="pt-BR" altLang="pt-BR" sz="11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from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sklearn.model_selection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import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train_test_split</a:t>
            </a:r>
            <a:endParaRPr lang="pt-BR" altLang="pt-BR" sz="11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from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sklearn.linear_model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import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LinearRegression</a:t>
            </a:r>
            <a:endParaRPr lang="pt-BR" altLang="pt-BR" sz="11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from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sklearn.metrics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import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mean_squared_error</a:t>
            </a:r>
            <a:endParaRPr lang="pt-BR" altLang="pt-BR" sz="11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8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	# 1. Gerando dados de exemplo para regressão linear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# x é a nossa variável independente (por exemplo, "horas de estudo")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# y é a nossa variável dependente (por exemplo, "nota no teste")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np.random.seed</a:t>
            </a:r>
            <a:r>
              <a:rPr lang="pt-BR" altLang="pt-BR" sz="1100" b="1" dirty="0">
                <a:latin typeface="Arial" panose="020B0604020202020204" pitchFamily="34" charset="0"/>
              </a:rPr>
              <a:t>(0)  # Para garantir que os dados sejam os mesmos em todas as execuções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x = 2 * </a:t>
            </a:r>
            <a:r>
              <a:rPr lang="pt-BR" altLang="pt-BR" sz="1100" b="1" dirty="0" err="1">
                <a:latin typeface="Arial" panose="020B0604020202020204" pitchFamily="34" charset="0"/>
              </a:rPr>
              <a:t>np.random.rand</a:t>
            </a:r>
            <a:r>
              <a:rPr lang="pt-BR" altLang="pt-BR" sz="1100" b="1" dirty="0">
                <a:latin typeface="Arial" panose="020B0604020202020204" pitchFamily="34" charset="0"/>
              </a:rPr>
              <a:t>(100, 1) # 100 valores aleatórios entre 0 e 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y = 4 + 3 * x + </a:t>
            </a:r>
            <a:r>
              <a:rPr lang="pt-BR" altLang="pt-BR" sz="1100" b="1" dirty="0" err="1">
                <a:latin typeface="Arial" panose="020B0604020202020204" pitchFamily="34" charset="0"/>
              </a:rPr>
              <a:t>np.random.randn</a:t>
            </a:r>
            <a:r>
              <a:rPr lang="pt-BR" altLang="pt-BR" sz="1100" b="1" dirty="0">
                <a:latin typeface="Arial" panose="020B0604020202020204" pitchFamily="34" charset="0"/>
              </a:rPr>
              <a:t>(100, 1) # A equação é y = 4 + 3x, com algum "ruído"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8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	# 2. Dividindo os dados em conjuntos de treino e teste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# 80% para treino e 20% para teste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x_treino</a:t>
            </a:r>
            <a:r>
              <a:rPr lang="pt-BR" altLang="pt-BR" sz="1100" b="1" dirty="0">
                <a:latin typeface="Arial" panose="020B0604020202020204" pitchFamily="34" charset="0"/>
              </a:rPr>
              <a:t>, </a:t>
            </a:r>
            <a:r>
              <a:rPr lang="pt-BR" altLang="pt-BR" sz="1100" b="1" dirty="0" err="1">
                <a:latin typeface="Arial" panose="020B0604020202020204" pitchFamily="34" charset="0"/>
              </a:rPr>
              <a:t>x_teste</a:t>
            </a:r>
            <a:r>
              <a:rPr lang="pt-BR" altLang="pt-BR" sz="1100" b="1" dirty="0">
                <a:latin typeface="Arial" panose="020B0604020202020204" pitchFamily="34" charset="0"/>
              </a:rPr>
              <a:t>, </a:t>
            </a:r>
            <a:r>
              <a:rPr lang="pt-BR" altLang="pt-BR" sz="1100" b="1" dirty="0" err="1">
                <a:latin typeface="Arial" panose="020B0604020202020204" pitchFamily="34" charset="0"/>
              </a:rPr>
              <a:t>y_treino</a:t>
            </a:r>
            <a:r>
              <a:rPr lang="pt-BR" altLang="pt-BR" sz="1100" b="1" dirty="0">
                <a:latin typeface="Arial" panose="020B0604020202020204" pitchFamily="34" charset="0"/>
              </a:rPr>
              <a:t>, </a:t>
            </a:r>
            <a:r>
              <a:rPr lang="pt-BR" altLang="pt-BR" sz="1100" b="1" dirty="0" err="1">
                <a:latin typeface="Arial" panose="020B0604020202020204" pitchFamily="34" charset="0"/>
              </a:rPr>
              <a:t>y_teste</a:t>
            </a:r>
            <a:r>
              <a:rPr lang="pt-BR" altLang="pt-BR" sz="1100" b="1" dirty="0">
                <a:latin typeface="Arial" panose="020B0604020202020204" pitchFamily="34" charset="0"/>
              </a:rPr>
              <a:t> = </a:t>
            </a:r>
            <a:r>
              <a:rPr lang="pt-BR" altLang="pt-BR" sz="1100" b="1" dirty="0" err="1">
                <a:latin typeface="Arial" panose="020B0604020202020204" pitchFamily="34" charset="0"/>
              </a:rPr>
              <a:t>train_test_split</a:t>
            </a:r>
            <a:r>
              <a:rPr lang="pt-BR" altLang="pt-BR" sz="1100" b="1" dirty="0">
                <a:latin typeface="Arial" panose="020B0604020202020204" pitchFamily="34" charset="0"/>
              </a:rPr>
              <a:t>(x, y, </a:t>
            </a:r>
            <a:r>
              <a:rPr lang="pt-BR" altLang="pt-BR" sz="1100" b="1" dirty="0" err="1">
                <a:latin typeface="Arial" panose="020B0604020202020204" pitchFamily="34" charset="0"/>
              </a:rPr>
              <a:t>test_size</a:t>
            </a:r>
            <a:r>
              <a:rPr lang="pt-BR" altLang="pt-BR" sz="1100" b="1" dirty="0">
                <a:latin typeface="Arial" panose="020B0604020202020204" pitchFamily="34" charset="0"/>
              </a:rPr>
              <a:t>=0.2, </a:t>
            </a:r>
            <a:r>
              <a:rPr lang="pt-BR" altLang="pt-BR" sz="1100" b="1" dirty="0" err="1">
                <a:latin typeface="Arial" panose="020B0604020202020204" pitchFamily="34" charset="0"/>
              </a:rPr>
              <a:t>random_state</a:t>
            </a:r>
            <a:r>
              <a:rPr lang="pt-BR" altLang="pt-BR" sz="1100" b="1" dirty="0">
                <a:latin typeface="Arial" panose="020B0604020202020204" pitchFamily="34" charset="0"/>
              </a:rPr>
              <a:t>=42)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8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	# 3. Criando e treinando o modelo de Regressão Linear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modelo = </a:t>
            </a:r>
            <a:r>
              <a:rPr lang="pt-BR" altLang="pt-BR" sz="1100" b="1" dirty="0" err="1">
                <a:latin typeface="Arial" panose="020B0604020202020204" pitchFamily="34" charset="0"/>
              </a:rPr>
              <a:t>LinearRegression</a:t>
            </a:r>
            <a:r>
              <a:rPr lang="pt-BR" altLang="pt-BR" sz="11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modelo.fit</a:t>
            </a:r>
            <a:r>
              <a:rPr lang="pt-BR" altLang="pt-BR" sz="1100" b="1" dirty="0">
                <a:latin typeface="Arial" panose="020B0604020202020204" pitchFamily="34" charset="0"/>
              </a:rPr>
              <a:t>(</a:t>
            </a:r>
            <a:r>
              <a:rPr lang="pt-BR" altLang="pt-BR" sz="1100" b="1" dirty="0" err="1">
                <a:latin typeface="Arial" panose="020B0604020202020204" pitchFamily="34" charset="0"/>
              </a:rPr>
              <a:t>x_treino</a:t>
            </a:r>
            <a:r>
              <a:rPr lang="pt-BR" altLang="pt-BR" sz="1100" b="1" dirty="0">
                <a:latin typeface="Arial" panose="020B0604020202020204" pitchFamily="34" charset="0"/>
              </a:rPr>
              <a:t>, </a:t>
            </a:r>
            <a:r>
              <a:rPr lang="pt-BR" altLang="pt-BR" sz="1100" b="1" dirty="0" err="1">
                <a:latin typeface="Arial" panose="020B0604020202020204" pitchFamily="34" charset="0"/>
              </a:rPr>
              <a:t>y_treino</a:t>
            </a:r>
            <a:r>
              <a:rPr lang="pt-BR" altLang="pt-BR" sz="11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8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	# 4. Fazendo previsões com o conjunto de teste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y_previsto</a:t>
            </a:r>
            <a:r>
              <a:rPr lang="pt-BR" altLang="pt-BR" sz="1100" b="1" dirty="0">
                <a:latin typeface="Arial" panose="020B0604020202020204" pitchFamily="34" charset="0"/>
              </a:rPr>
              <a:t> = </a:t>
            </a:r>
            <a:r>
              <a:rPr lang="pt-BR" altLang="pt-BR" sz="1100" b="1" dirty="0" err="1">
                <a:latin typeface="Arial" panose="020B0604020202020204" pitchFamily="34" charset="0"/>
              </a:rPr>
              <a:t>modelo.predict</a:t>
            </a:r>
            <a:r>
              <a:rPr lang="pt-BR" altLang="pt-BR" sz="1100" b="1" dirty="0">
                <a:latin typeface="Arial" panose="020B0604020202020204" pitchFamily="34" charset="0"/>
              </a:rPr>
              <a:t>(</a:t>
            </a:r>
            <a:r>
              <a:rPr lang="pt-BR" altLang="pt-BR" sz="1100" b="1" dirty="0" err="1">
                <a:latin typeface="Arial" panose="020B0604020202020204" pitchFamily="34" charset="0"/>
              </a:rPr>
              <a:t>x_teste</a:t>
            </a:r>
            <a:r>
              <a:rPr lang="pt-BR" altLang="pt-BR" sz="11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9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	# 5. Avaliando o modelo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# Calcula o Erro Quadrático Médio (</a:t>
            </a:r>
            <a:r>
              <a:rPr lang="pt-BR" altLang="pt-BR" sz="1100" b="1" dirty="0" err="1">
                <a:latin typeface="Arial" panose="020B0604020202020204" pitchFamily="34" charset="0"/>
              </a:rPr>
              <a:t>Mean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Squared</a:t>
            </a:r>
            <a:r>
              <a:rPr lang="pt-BR" altLang="pt-BR" sz="1100" b="1" dirty="0">
                <a:latin typeface="Arial" panose="020B0604020202020204" pitchFamily="34" charset="0"/>
              </a:rPr>
              <a:t> </a:t>
            </a:r>
            <a:r>
              <a:rPr lang="pt-BR" altLang="pt-BR" sz="1100" b="1" dirty="0" err="1">
                <a:latin typeface="Arial" panose="020B0604020202020204" pitchFamily="34" charset="0"/>
              </a:rPr>
              <a:t>Error</a:t>
            </a:r>
            <a:r>
              <a:rPr lang="pt-BR" altLang="pt-BR" sz="11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mse</a:t>
            </a:r>
            <a:r>
              <a:rPr lang="pt-BR" altLang="pt-BR" sz="1100" b="1" dirty="0">
                <a:latin typeface="Arial" panose="020B0604020202020204" pitchFamily="34" charset="0"/>
              </a:rPr>
              <a:t> = </a:t>
            </a:r>
            <a:r>
              <a:rPr lang="pt-BR" altLang="pt-BR" sz="1100" b="1" dirty="0" err="1">
                <a:latin typeface="Arial" panose="020B0604020202020204" pitchFamily="34" charset="0"/>
              </a:rPr>
              <a:t>mean_squared_error</a:t>
            </a:r>
            <a:r>
              <a:rPr lang="pt-BR" altLang="pt-BR" sz="1100" b="1" dirty="0">
                <a:latin typeface="Arial" panose="020B0604020202020204" pitchFamily="34" charset="0"/>
              </a:rPr>
              <a:t>(</a:t>
            </a:r>
            <a:r>
              <a:rPr lang="pt-BR" altLang="pt-BR" sz="1100" b="1" dirty="0" err="1">
                <a:latin typeface="Arial" panose="020B0604020202020204" pitchFamily="34" charset="0"/>
              </a:rPr>
              <a:t>y_teste</a:t>
            </a:r>
            <a:r>
              <a:rPr lang="pt-BR" altLang="pt-BR" sz="1100" b="1" dirty="0">
                <a:latin typeface="Arial" panose="020B0604020202020204" pitchFamily="34" charset="0"/>
              </a:rPr>
              <a:t>, </a:t>
            </a:r>
            <a:r>
              <a:rPr lang="pt-BR" altLang="pt-BR" sz="1100" b="1" dirty="0" err="1">
                <a:latin typeface="Arial" panose="020B0604020202020204" pitchFamily="34" charset="0"/>
              </a:rPr>
              <a:t>y_previsto</a:t>
            </a:r>
            <a:r>
              <a:rPr lang="pt-BR" altLang="pt-BR" sz="11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print(</a:t>
            </a:r>
            <a:r>
              <a:rPr lang="pt-BR" altLang="pt-BR" sz="1100" b="1" dirty="0" err="1">
                <a:latin typeface="Arial" panose="020B0604020202020204" pitchFamily="34" charset="0"/>
              </a:rPr>
              <a:t>f"Erro</a:t>
            </a:r>
            <a:r>
              <a:rPr lang="pt-BR" altLang="pt-BR" sz="1100" b="1" dirty="0">
                <a:latin typeface="Arial" panose="020B0604020202020204" pitchFamily="34" charset="0"/>
              </a:rPr>
              <a:t> Quadrático Médio (MSE): {mse:.2f}")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8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	# 6. Visualizando os resultados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plt.figure</a:t>
            </a:r>
            <a:r>
              <a:rPr lang="pt-BR" altLang="pt-BR" sz="1100" b="1" dirty="0">
                <a:latin typeface="Arial" panose="020B0604020202020204" pitchFamily="34" charset="0"/>
              </a:rPr>
              <a:t>(</a:t>
            </a:r>
            <a:r>
              <a:rPr lang="pt-BR" altLang="pt-BR" sz="1100" b="1" dirty="0" err="1">
                <a:latin typeface="Arial" panose="020B0604020202020204" pitchFamily="34" charset="0"/>
              </a:rPr>
              <a:t>figsize</a:t>
            </a:r>
            <a:r>
              <a:rPr lang="pt-BR" altLang="pt-BR" sz="1100" b="1" dirty="0">
                <a:latin typeface="Arial" panose="020B0604020202020204" pitchFamily="34" charset="0"/>
              </a:rPr>
              <a:t>=(10, 6))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# Plota os pontos de dados de teste (os originais)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plt.scatter</a:t>
            </a:r>
            <a:r>
              <a:rPr lang="pt-BR" altLang="pt-BR" sz="1100" b="1" dirty="0">
                <a:latin typeface="Arial" panose="020B0604020202020204" pitchFamily="34" charset="0"/>
              </a:rPr>
              <a:t>(</a:t>
            </a:r>
            <a:r>
              <a:rPr lang="pt-BR" altLang="pt-BR" sz="1100" b="1" dirty="0" err="1">
                <a:latin typeface="Arial" panose="020B0604020202020204" pitchFamily="34" charset="0"/>
              </a:rPr>
              <a:t>x_teste</a:t>
            </a:r>
            <a:r>
              <a:rPr lang="pt-BR" altLang="pt-BR" sz="1100" b="1" dirty="0">
                <a:latin typeface="Arial" panose="020B0604020202020204" pitchFamily="34" charset="0"/>
              </a:rPr>
              <a:t>, </a:t>
            </a:r>
            <a:r>
              <a:rPr lang="pt-BR" altLang="pt-BR" sz="1100" b="1" dirty="0" err="1">
                <a:latin typeface="Arial" panose="020B0604020202020204" pitchFamily="34" charset="0"/>
              </a:rPr>
              <a:t>y_teste</a:t>
            </a:r>
            <a:r>
              <a:rPr lang="pt-BR" altLang="pt-BR" sz="1100" b="1" dirty="0">
                <a:latin typeface="Arial" panose="020B0604020202020204" pitchFamily="34" charset="0"/>
              </a:rPr>
              <a:t>, color='blue', </a:t>
            </a:r>
            <a:r>
              <a:rPr lang="pt-BR" altLang="pt-BR" sz="1100" b="1" dirty="0" err="1">
                <a:latin typeface="Arial" panose="020B0604020202020204" pitchFamily="34" charset="0"/>
              </a:rPr>
              <a:t>label</a:t>
            </a:r>
            <a:r>
              <a:rPr lang="pt-BR" altLang="pt-BR" sz="1100" b="1" dirty="0">
                <a:latin typeface="Arial" panose="020B0604020202020204" pitchFamily="34" charset="0"/>
              </a:rPr>
              <a:t>='Dados de Teste Reais')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>
                <a:latin typeface="Arial" panose="020B0604020202020204" pitchFamily="34" charset="0"/>
              </a:rPr>
              <a:t># Plota a linha de regressão (a previsão do modelo)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plt.plot</a:t>
            </a:r>
            <a:r>
              <a:rPr lang="pt-BR" altLang="pt-BR" sz="1100" b="1" dirty="0">
                <a:latin typeface="Arial" panose="020B0604020202020204" pitchFamily="34" charset="0"/>
              </a:rPr>
              <a:t>(</a:t>
            </a:r>
            <a:r>
              <a:rPr lang="pt-BR" altLang="pt-BR" sz="1100" b="1" dirty="0" err="1">
                <a:latin typeface="Arial" panose="020B0604020202020204" pitchFamily="34" charset="0"/>
              </a:rPr>
              <a:t>x_teste</a:t>
            </a:r>
            <a:r>
              <a:rPr lang="pt-BR" altLang="pt-BR" sz="1100" b="1" dirty="0">
                <a:latin typeface="Arial" panose="020B0604020202020204" pitchFamily="34" charset="0"/>
              </a:rPr>
              <a:t>, </a:t>
            </a:r>
            <a:r>
              <a:rPr lang="pt-BR" altLang="pt-BR" sz="1100" b="1" dirty="0" err="1">
                <a:latin typeface="Arial" panose="020B0604020202020204" pitchFamily="34" charset="0"/>
              </a:rPr>
              <a:t>y_previsto</a:t>
            </a:r>
            <a:r>
              <a:rPr lang="pt-BR" altLang="pt-BR" sz="1100" b="1" dirty="0">
                <a:latin typeface="Arial" panose="020B0604020202020204" pitchFamily="34" charset="0"/>
              </a:rPr>
              <a:t>, color='</a:t>
            </a:r>
            <a:r>
              <a:rPr lang="pt-BR" altLang="pt-BR" sz="1100" b="1" dirty="0" err="1">
                <a:latin typeface="Arial" panose="020B0604020202020204" pitchFamily="34" charset="0"/>
              </a:rPr>
              <a:t>red</a:t>
            </a:r>
            <a:r>
              <a:rPr lang="pt-BR" altLang="pt-BR" sz="1100" b="1" dirty="0">
                <a:latin typeface="Arial" panose="020B0604020202020204" pitchFamily="34" charset="0"/>
              </a:rPr>
              <a:t>', </a:t>
            </a:r>
            <a:r>
              <a:rPr lang="pt-BR" altLang="pt-BR" sz="1100" b="1" dirty="0" err="1">
                <a:latin typeface="Arial" panose="020B0604020202020204" pitchFamily="34" charset="0"/>
              </a:rPr>
              <a:t>linewidth</a:t>
            </a:r>
            <a:r>
              <a:rPr lang="pt-BR" altLang="pt-BR" sz="1100" b="1" dirty="0">
                <a:latin typeface="Arial" panose="020B0604020202020204" pitchFamily="34" charset="0"/>
              </a:rPr>
              <a:t>=3, </a:t>
            </a:r>
            <a:r>
              <a:rPr lang="pt-BR" altLang="pt-BR" sz="1100" b="1" dirty="0" err="1">
                <a:latin typeface="Arial" panose="020B0604020202020204" pitchFamily="34" charset="0"/>
              </a:rPr>
              <a:t>label</a:t>
            </a:r>
            <a:r>
              <a:rPr lang="pt-BR" altLang="pt-BR" sz="1100" b="1" dirty="0">
                <a:latin typeface="Arial" panose="020B0604020202020204" pitchFamily="34" charset="0"/>
              </a:rPr>
              <a:t>='Previsão do Modelo')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plt.title</a:t>
            </a:r>
            <a:r>
              <a:rPr lang="pt-BR" altLang="pt-BR" sz="1100" b="1" dirty="0">
                <a:latin typeface="Arial" panose="020B0604020202020204" pitchFamily="34" charset="0"/>
              </a:rPr>
              <a:t>('Regressão Linear Simples')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plt.xlabel</a:t>
            </a:r>
            <a:r>
              <a:rPr lang="pt-BR" altLang="pt-BR" sz="1100" b="1" dirty="0">
                <a:latin typeface="Arial" panose="020B0604020202020204" pitchFamily="34" charset="0"/>
              </a:rPr>
              <a:t>('Variável X')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plt.ylabel</a:t>
            </a:r>
            <a:r>
              <a:rPr lang="pt-BR" altLang="pt-BR" sz="1100" b="1" dirty="0">
                <a:latin typeface="Arial" panose="020B0604020202020204" pitchFamily="34" charset="0"/>
              </a:rPr>
              <a:t>('Variável Y')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plt.legend</a:t>
            </a:r>
            <a:r>
              <a:rPr lang="pt-BR" altLang="pt-BR" sz="11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plt.grid</a:t>
            </a:r>
            <a:r>
              <a:rPr lang="pt-BR" altLang="pt-BR" sz="1100" b="1" dirty="0">
                <a:latin typeface="Arial" panose="020B0604020202020204" pitchFamily="34" charset="0"/>
              </a:rPr>
              <a:t>(</a:t>
            </a:r>
            <a:r>
              <a:rPr lang="pt-BR" altLang="pt-BR" sz="1100" b="1" dirty="0" err="1">
                <a:latin typeface="Arial" panose="020B0604020202020204" pitchFamily="34" charset="0"/>
              </a:rPr>
              <a:t>True</a:t>
            </a:r>
            <a:r>
              <a:rPr lang="pt-BR" altLang="pt-BR" sz="11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100" b="1" dirty="0" err="1">
                <a:latin typeface="Arial" panose="020B0604020202020204" pitchFamily="34" charset="0"/>
              </a:rPr>
              <a:t>plt.show</a:t>
            </a:r>
            <a:r>
              <a:rPr lang="pt-BR" altLang="pt-BR" sz="1100" b="1" dirty="0">
                <a:latin typeface="Arial" panose="020B0604020202020204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76911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9086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Biblioteca – </a:t>
            </a:r>
            <a:r>
              <a:rPr lang="pt-BR" dirty="0" err="1"/>
              <a:t>TensorFlow</a:t>
            </a:r>
            <a:r>
              <a:rPr lang="pt-BR" dirty="0"/>
              <a:t> e </a:t>
            </a:r>
            <a:r>
              <a:rPr lang="pt-BR" dirty="0" err="1"/>
              <a:t>PyTorch</a:t>
            </a:r>
            <a:endParaRPr lang="pt-B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2BBBE17-4FD5-D76C-AC61-F4831A7E5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37" y="1087810"/>
            <a:ext cx="1162743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 </a:t>
            </a:r>
            <a:r>
              <a:rPr lang="pt-BR" dirty="0"/>
              <a:t>As duas principais bibliotecas para </a:t>
            </a:r>
            <a:r>
              <a:rPr lang="pt-BR" b="1" dirty="0"/>
              <a:t>aprendizado profundo</a:t>
            </a:r>
            <a:r>
              <a:rPr lang="pt-BR" dirty="0"/>
              <a:t> (</a:t>
            </a:r>
            <a:r>
              <a:rPr lang="pt-BR" i="1" dirty="0" err="1"/>
              <a:t>Deep</a:t>
            </a:r>
            <a:r>
              <a:rPr lang="pt-BR" i="1" dirty="0"/>
              <a:t> Learning</a:t>
            </a:r>
            <a:r>
              <a:rPr lang="pt-BR" dirty="0"/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que serve: </a:t>
            </a:r>
            <a:r>
              <a:rPr lang="pt-BR" dirty="0"/>
              <a:t>São usadas para construir e treinar redes neurais complexas, que são a base de muitas aplicações de IA, como reconhecimento de imagem, processamento de linguagem natural e muito mais.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Para instalar a Biblioteca execute o comando abaixo.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	</a:t>
            </a:r>
            <a:r>
              <a:rPr lang="pt-BR" altLang="pt-BR" sz="2400" b="1" dirty="0" err="1">
                <a:latin typeface="Arial" panose="020B0604020202020204" pitchFamily="34" charset="0"/>
              </a:rPr>
              <a:t>pip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install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TensorFlow</a:t>
            </a:r>
            <a:endParaRPr lang="pt-BR" altLang="pt-BR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400" b="1" dirty="0">
                <a:latin typeface="Arial" panose="020B0604020202020204" pitchFamily="34" charset="0"/>
              </a:rPr>
              <a:t>	</a:t>
            </a:r>
            <a:r>
              <a:rPr lang="pt-BR" altLang="pt-BR" sz="2400" b="1" dirty="0" err="1">
                <a:latin typeface="Arial" panose="020B0604020202020204" pitchFamily="34" charset="0"/>
              </a:rPr>
              <a:t>pip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install</a:t>
            </a:r>
            <a:r>
              <a:rPr lang="pt-BR" altLang="pt-BR" sz="2400" b="1" dirty="0">
                <a:latin typeface="Arial" panose="020B0604020202020204" pitchFamily="34" charset="0"/>
              </a:rPr>
              <a:t> </a:t>
            </a:r>
            <a:r>
              <a:rPr lang="pt-BR" altLang="pt-BR" sz="2400" b="1" dirty="0" err="1">
                <a:latin typeface="Arial" panose="020B0604020202020204" pitchFamily="34" charset="0"/>
              </a:rPr>
              <a:t>Torch</a:t>
            </a:r>
            <a:endParaRPr lang="pt-BR" altLang="pt-BR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D533-4538-D8B1-D698-1CF48895F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FECD17A2-E243-4771-7649-926266CC3A5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A719B53E-5704-31E0-E367-EB238A8B7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5" y="248500"/>
            <a:ext cx="10718275" cy="6294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tensorflow</a:t>
            </a:r>
            <a:r>
              <a:rPr lang="pt-BR" altLang="pt-BR" sz="1400" b="1" dirty="0">
                <a:latin typeface="Arial" panose="020B0604020202020204" pitchFamily="34" charset="0"/>
              </a:rPr>
              <a:t> as tf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from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tensorflow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import</a:t>
            </a:r>
            <a:r>
              <a:rPr lang="pt-BR" altLang="pt-BR" sz="1400" b="1" dirty="0">
                <a:latin typeface="Arial" panose="020B0604020202020204" pitchFamily="34" charset="0"/>
              </a:rPr>
              <a:t> </a:t>
            </a:r>
            <a:r>
              <a:rPr lang="pt-BR" altLang="pt-BR" sz="1400" b="1" dirty="0" err="1">
                <a:latin typeface="Arial" panose="020B0604020202020204" pitchFamily="34" charset="0"/>
              </a:rPr>
              <a:t>keras</a:t>
            </a: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</a:t>
            </a:r>
            <a:r>
              <a:rPr lang="pt-BR" altLang="pt-BR" sz="1400" b="1" i="1" dirty="0">
                <a:latin typeface="Arial" panose="020B0604020202020204" pitchFamily="34" charset="0"/>
              </a:rPr>
              <a:t># 1. Carregar o </a:t>
            </a:r>
            <a:r>
              <a:rPr lang="pt-BR" altLang="pt-BR" sz="1400" b="1" i="1" dirty="0" err="1">
                <a:latin typeface="Arial" panose="020B0604020202020204" pitchFamily="34" charset="0"/>
              </a:rPr>
              <a:t>dataset</a:t>
            </a:r>
            <a:r>
              <a:rPr lang="pt-BR" altLang="pt-BR" sz="1400" b="1" i="1" dirty="0">
                <a:latin typeface="Arial" panose="020B0604020202020204" pitchFamily="34" charset="0"/>
              </a:rPr>
              <a:t> MNIST (imagens de 28x28 pixels)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x_train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y_train</a:t>
            </a:r>
            <a:r>
              <a:rPr lang="pt-BR" altLang="pt-BR" sz="1400" b="1" dirty="0">
                <a:latin typeface="Arial" panose="020B0604020202020204" pitchFamily="34" charset="0"/>
              </a:rPr>
              <a:t>), (</a:t>
            </a:r>
            <a:r>
              <a:rPr lang="pt-BR" altLang="pt-BR" sz="1400" b="1" dirty="0" err="1">
                <a:latin typeface="Arial" panose="020B0604020202020204" pitchFamily="34" charset="0"/>
              </a:rPr>
              <a:t>x_test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y_test</a:t>
            </a:r>
            <a:r>
              <a:rPr lang="pt-BR" altLang="pt-BR" sz="1400" b="1" dirty="0">
                <a:latin typeface="Arial" panose="020B0604020202020204" pitchFamily="34" charset="0"/>
              </a:rPr>
              <a:t>) = </a:t>
            </a:r>
            <a:r>
              <a:rPr lang="pt-BR" altLang="pt-BR" sz="1400" b="1" dirty="0" err="1">
                <a:latin typeface="Arial" panose="020B0604020202020204" pitchFamily="34" charset="0"/>
              </a:rPr>
              <a:t>keras.datasets.mnist.load_data</a:t>
            </a:r>
            <a:r>
              <a:rPr lang="pt-BR" altLang="pt-BR" sz="14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</a:t>
            </a:r>
            <a:r>
              <a:rPr lang="pt-BR" altLang="pt-BR" sz="1400" b="1" i="1" dirty="0">
                <a:latin typeface="Arial" panose="020B0604020202020204" pitchFamily="34" charset="0"/>
              </a:rPr>
              <a:t># 2. Normalizar os dados (0-255 → 0-1)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x_train</a:t>
            </a:r>
            <a:r>
              <a:rPr lang="pt-BR" altLang="pt-BR" sz="1400" b="1" dirty="0">
                <a:latin typeface="Arial" panose="020B0604020202020204" pitchFamily="34" charset="0"/>
              </a:rPr>
              <a:t> = </a:t>
            </a:r>
            <a:r>
              <a:rPr lang="pt-BR" altLang="pt-BR" sz="1400" b="1" dirty="0" err="1">
                <a:latin typeface="Arial" panose="020B0604020202020204" pitchFamily="34" charset="0"/>
              </a:rPr>
              <a:t>x_train</a:t>
            </a:r>
            <a:r>
              <a:rPr lang="pt-BR" altLang="pt-BR" sz="1400" b="1" dirty="0">
                <a:latin typeface="Arial" panose="020B0604020202020204" pitchFamily="34" charset="0"/>
              </a:rPr>
              <a:t> / 255.0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x_test</a:t>
            </a:r>
            <a:r>
              <a:rPr lang="pt-BR" altLang="pt-BR" sz="1400" b="1" dirty="0">
                <a:latin typeface="Arial" panose="020B0604020202020204" pitchFamily="34" charset="0"/>
              </a:rPr>
              <a:t> = </a:t>
            </a:r>
            <a:r>
              <a:rPr lang="pt-BR" altLang="pt-BR" sz="1400" b="1" dirty="0" err="1">
                <a:latin typeface="Arial" panose="020B0604020202020204" pitchFamily="34" charset="0"/>
              </a:rPr>
              <a:t>x_test</a:t>
            </a:r>
            <a:r>
              <a:rPr lang="pt-BR" altLang="pt-BR" sz="1400" b="1" dirty="0">
                <a:latin typeface="Arial" panose="020B0604020202020204" pitchFamily="34" charset="0"/>
              </a:rPr>
              <a:t> / 255.0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</a:t>
            </a:r>
            <a:r>
              <a:rPr lang="pt-BR" altLang="pt-BR" sz="1400" b="1" i="1" dirty="0">
                <a:latin typeface="Arial" panose="020B0604020202020204" pitchFamily="34" charset="0"/>
              </a:rPr>
              <a:t># 3. Criar o modelo da rede neural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modelo = </a:t>
            </a:r>
            <a:r>
              <a:rPr lang="pt-BR" altLang="pt-BR" sz="1400" b="1" dirty="0" err="1">
                <a:latin typeface="Arial" panose="020B0604020202020204" pitchFamily="34" charset="0"/>
              </a:rPr>
              <a:t>keras.Sequential</a:t>
            </a:r>
            <a:r>
              <a:rPr lang="pt-BR" altLang="pt-BR" sz="1400" b="1" dirty="0">
                <a:latin typeface="Arial" panose="020B0604020202020204" pitchFamily="34" charset="0"/>
              </a:rPr>
              <a:t>([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keras.layers.Flatten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input_shape</a:t>
            </a:r>
            <a:r>
              <a:rPr lang="pt-BR" altLang="pt-BR" sz="1400" b="1" dirty="0">
                <a:latin typeface="Arial" panose="020B0604020202020204" pitchFamily="34" charset="0"/>
              </a:rPr>
              <a:t>=(28, 28)),   # transforma 28x28 em vetor de 784 posições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keras.layers.Dense</a:t>
            </a:r>
            <a:r>
              <a:rPr lang="pt-BR" altLang="pt-BR" sz="1400" b="1" dirty="0">
                <a:latin typeface="Arial" panose="020B0604020202020204" pitchFamily="34" charset="0"/>
              </a:rPr>
              <a:t>(128, </a:t>
            </a:r>
            <a:r>
              <a:rPr lang="pt-BR" altLang="pt-BR" sz="1400" b="1" dirty="0" err="1">
                <a:latin typeface="Arial" panose="020B0604020202020204" pitchFamily="34" charset="0"/>
              </a:rPr>
              <a:t>activation</a:t>
            </a:r>
            <a:r>
              <a:rPr lang="pt-BR" altLang="pt-BR" sz="1400" b="1" dirty="0">
                <a:latin typeface="Arial" panose="020B0604020202020204" pitchFamily="34" charset="0"/>
              </a:rPr>
              <a:t>='</a:t>
            </a:r>
            <a:r>
              <a:rPr lang="pt-BR" altLang="pt-BR" sz="1400" b="1" dirty="0" err="1">
                <a:latin typeface="Arial" panose="020B0604020202020204" pitchFamily="34" charset="0"/>
              </a:rPr>
              <a:t>relu</a:t>
            </a:r>
            <a:r>
              <a:rPr lang="pt-BR" altLang="pt-BR" sz="1400" b="1" dirty="0">
                <a:latin typeface="Arial" panose="020B0604020202020204" pitchFamily="34" charset="0"/>
              </a:rPr>
              <a:t>'),   # camada oculta com 128 neurônios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</a:t>
            </a:r>
            <a:r>
              <a:rPr lang="pt-BR" altLang="pt-BR" sz="1400" b="1" dirty="0" err="1">
                <a:latin typeface="Arial" panose="020B0604020202020204" pitchFamily="34" charset="0"/>
              </a:rPr>
              <a:t>keras.layers.Dense</a:t>
            </a:r>
            <a:r>
              <a:rPr lang="pt-BR" altLang="pt-BR" sz="1400" b="1" dirty="0">
                <a:latin typeface="Arial" panose="020B0604020202020204" pitchFamily="34" charset="0"/>
              </a:rPr>
              <a:t>(10, </a:t>
            </a:r>
            <a:r>
              <a:rPr lang="pt-BR" altLang="pt-BR" sz="1400" b="1" dirty="0" err="1">
                <a:latin typeface="Arial" panose="020B0604020202020204" pitchFamily="34" charset="0"/>
              </a:rPr>
              <a:t>activation</a:t>
            </a:r>
            <a:r>
              <a:rPr lang="pt-BR" altLang="pt-BR" sz="1400" b="1" dirty="0">
                <a:latin typeface="Arial" panose="020B0604020202020204" pitchFamily="34" charset="0"/>
              </a:rPr>
              <a:t>='</a:t>
            </a:r>
            <a:r>
              <a:rPr lang="pt-BR" altLang="pt-BR" sz="1400" b="1" dirty="0" err="1">
                <a:latin typeface="Arial" panose="020B0604020202020204" pitchFamily="34" charset="0"/>
              </a:rPr>
              <a:t>softmax</a:t>
            </a:r>
            <a:r>
              <a:rPr lang="pt-BR" altLang="pt-BR" sz="1400" b="1" dirty="0">
                <a:latin typeface="Arial" panose="020B0604020202020204" pitchFamily="34" charset="0"/>
              </a:rPr>
              <a:t>')  # saída: 10 classes (0 a 9)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</a:t>
            </a:r>
            <a:r>
              <a:rPr lang="pt-BR" altLang="pt-BR" sz="1400" b="1" i="1" dirty="0">
                <a:latin typeface="Arial" panose="020B0604020202020204" pitchFamily="34" charset="0"/>
              </a:rPr>
              <a:t># 4. Compilar o modelo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modelo.compile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optimizer</a:t>
            </a:r>
            <a:r>
              <a:rPr lang="pt-BR" altLang="pt-BR" sz="1400" b="1" dirty="0">
                <a:latin typeface="Arial" panose="020B0604020202020204" pitchFamily="34" charset="0"/>
              </a:rPr>
              <a:t>='adam',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loss</a:t>
            </a:r>
            <a:r>
              <a:rPr lang="pt-BR" altLang="pt-BR" sz="1400" b="1" dirty="0">
                <a:latin typeface="Arial" panose="020B0604020202020204" pitchFamily="34" charset="0"/>
              </a:rPr>
              <a:t>='</a:t>
            </a:r>
            <a:r>
              <a:rPr lang="pt-BR" altLang="pt-BR" sz="1400" b="1" dirty="0" err="1">
                <a:latin typeface="Arial" panose="020B0604020202020204" pitchFamily="34" charset="0"/>
              </a:rPr>
              <a:t>sparse_categorical_crossentropy</a:t>
            </a:r>
            <a:r>
              <a:rPr lang="pt-BR" altLang="pt-BR" sz="1400" b="1" dirty="0">
                <a:latin typeface="Arial" panose="020B0604020202020204" pitchFamily="34" charset="0"/>
              </a:rPr>
              <a:t>',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               </a:t>
            </a:r>
            <a:r>
              <a:rPr lang="pt-BR" altLang="pt-BR" sz="1400" b="1" dirty="0" err="1">
                <a:latin typeface="Arial" panose="020B0604020202020204" pitchFamily="34" charset="0"/>
              </a:rPr>
              <a:t>metrics</a:t>
            </a:r>
            <a:r>
              <a:rPr lang="pt-BR" altLang="pt-BR" sz="1400" b="1" dirty="0">
                <a:latin typeface="Arial" panose="020B0604020202020204" pitchFamily="34" charset="0"/>
              </a:rPr>
              <a:t>=['</a:t>
            </a:r>
            <a:r>
              <a:rPr lang="pt-BR" altLang="pt-BR" sz="1400" b="1" dirty="0" err="1">
                <a:latin typeface="Arial" panose="020B0604020202020204" pitchFamily="34" charset="0"/>
              </a:rPr>
              <a:t>accuracy</a:t>
            </a:r>
            <a:r>
              <a:rPr lang="pt-BR" altLang="pt-BR" sz="1400" b="1" dirty="0">
                <a:latin typeface="Arial" panose="020B0604020202020204" pitchFamily="34" charset="0"/>
              </a:rPr>
              <a:t>'])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</a:t>
            </a:r>
            <a:r>
              <a:rPr lang="pt-BR" altLang="pt-BR" sz="1400" b="1" i="1" dirty="0">
                <a:latin typeface="Arial" panose="020B0604020202020204" pitchFamily="34" charset="0"/>
              </a:rPr>
              <a:t># 5. Treinar o modelo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modelo.fit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x_train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y_train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epochs</a:t>
            </a:r>
            <a:r>
              <a:rPr lang="pt-BR" altLang="pt-BR" sz="1400" b="1" dirty="0">
                <a:latin typeface="Arial" panose="020B0604020202020204" pitchFamily="34" charset="0"/>
              </a:rPr>
              <a:t>=5)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	</a:t>
            </a:r>
            <a:r>
              <a:rPr lang="pt-BR" altLang="pt-BR" sz="1400" b="1" i="1" dirty="0">
                <a:latin typeface="Arial" panose="020B0604020202020204" pitchFamily="34" charset="0"/>
              </a:rPr>
              <a:t># 6. Avaliar no conjunto de teste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 err="1">
                <a:latin typeface="Arial" panose="020B0604020202020204" pitchFamily="34" charset="0"/>
              </a:rPr>
              <a:t>teste_loss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teste_acc</a:t>
            </a:r>
            <a:r>
              <a:rPr lang="pt-BR" altLang="pt-BR" sz="1400" b="1" dirty="0">
                <a:latin typeface="Arial" panose="020B0604020202020204" pitchFamily="34" charset="0"/>
              </a:rPr>
              <a:t> = </a:t>
            </a:r>
            <a:r>
              <a:rPr lang="pt-BR" altLang="pt-BR" sz="1400" b="1" dirty="0" err="1">
                <a:latin typeface="Arial" panose="020B0604020202020204" pitchFamily="34" charset="0"/>
              </a:rPr>
              <a:t>modelo.evaluate</a:t>
            </a:r>
            <a:r>
              <a:rPr lang="pt-BR" altLang="pt-BR" sz="1400" b="1" dirty="0">
                <a:latin typeface="Arial" panose="020B0604020202020204" pitchFamily="34" charset="0"/>
              </a:rPr>
              <a:t>(</a:t>
            </a:r>
            <a:r>
              <a:rPr lang="pt-BR" altLang="pt-BR" sz="1400" b="1" dirty="0" err="1">
                <a:latin typeface="Arial" panose="020B0604020202020204" pitchFamily="34" charset="0"/>
              </a:rPr>
              <a:t>x_test</a:t>
            </a:r>
            <a:r>
              <a:rPr lang="pt-BR" altLang="pt-BR" sz="1400" b="1" dirty="0">
                <a:latin typeface="Arial" panose="020B0604020202020204" pitchFamily="34" charset="0"/>
              </a:rPr>
              <a:t>, </a:t>
            </a:r>
            <a:r>
              <a:rPr lang="pt-BR" altLang="pt-BR" sz="1400" b="1" dirty="0" err="1">
                <a:latin typeface="Arial" panose="020B0604020202020204" pitchFamily="34" charset="0"/>
              </a:rPr>
              <a:t>y_test</a:t>
            </a:r>
            <a:r>
              <a:rPr lang="pt-BR" altLang="pt-BR" sz="14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b="1" dirty="0">
                <a:latin typeface="Arial" panose="020B0604020202020204" pitchFamily="34" charset="0"/>
              </a:rPr>
              <a:t>print(</a:t>
            </a:r>
            <a:r>
              <a:rPr lang="pt-BR" altLang="pt-BR" sz="1400" b="1" dirty="0" err="1">
                <a:latin typeface="Arial" panose="020B0604020202020204" pitchFamily="34" charset="0"/>
              </a:rPr>
              <a:t>f"Acurácia</a:t>
            </a:r>
            <a:r>
              <a:rPr lang="pt-BR" altLang="pt-BR" sz="1400" b="1" dirty="0">
                <a:latin typeface="Arial" panose="020B0604020202020204" pitchFamily="34" charset="0"/>
              </a:rPr>
              <a:t> no teste: {teste_acc:.2f}")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1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385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922B6-0132-7459-137C-879B79C56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08E3307C-4E43-A2C6-B8C0-9A7936602F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7761DABA-EDED-BBAE-376C-77C367EE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448" y="-118125"/>
            <a:ext cx="10718275" cy="709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torch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torch.nn</a:t>
            </a:r>
            <a:r>
              <a:rPr lang="pt-BR" altLang="pt-BR" sz="1200" b="1" dirty="0">
                <a:latin typeface="Arial" panose="020B0604020202020204" pitchFamily="34" charset="0"/>
              </a:rPr>
              <a:t> as </a:t>
            </a:r>
            <a:r>
              <a:rPr lang="pt-BR" altLang="pt-BR" sz="1200" b="1" dirty="0" err="1">
                <a:latin typeface="Arial" panose="020B0604020202020204" pitchFamily="34" charset="0"/>
              </a:rPr>
              <a:t>nn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torch.optim</a:t>
            </a:r>
            <a:r>
              <a:rPr lang="pt-BR" altLang="pt-BR" sz="1200" b="1" dirty="0">
                <a:latin typeface="Arial" panose="020B0604020202020204" pitchFamily="34" charset="0"/>
              </a:rPr>
              <a:t> as </a:t>
            </a:r>
            <a:r>
              <a:rPr lang="pt-BR" altLang="pt-BR" sz="1200" b="1" dirty="0" err="1">
                <a:latin typeface="Arial" panose="020B0604020202020204" pitchFamily="34" charset="0"/>
              </a:rPr>
              <a:t>optim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</a:t>
            </a:r>
            <a:r>
              <a:rPr lang="pt-BR" altLang="pt-BR" sz="1200" b="1" i="1" dirty="0">
                <a:latin typeface="Arial" panose="020B0604020202020204" pitchFamily="34" charset="0"/>
              </a:rPr>
              <a:t># 1. Dados de entrada e saída (queremos aprender a relação y = 2x + 1)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X = </a:t>
            </a:r>
            <a:r>
              <a:rPr lang="pt-BR" altLang="pt-BR" sz="1200" b="1" dirty="0" err="1">
                <a:latin typeface="Arial" panose="020B0604020202020204" pitchFamily="34" charset="0"/>
              </a:rPr>
              <a:t>torch.tensor</a:t>
            </a:r>
            <a:r>
              <a:rPr lang="pt-BR" altLang="pt-BR" sz="1200" b="1" dirty="0">
                <a:latin typeface="Arial" panose="020B0604020202020204" pitchFamily="34" charset="0"/>
              </a:rPr>
              <a:t>([[1.0], [2.0], [3.0], [4.0]])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y = </a:t>
            </a:r>
            <a:r>
              <a:rPr lang="pt-BR" altLang="pt-BR" sz="1200" b="1" dirty="0" err="1">
                <a:latin typeface="Arial" panose="020B0604020202020204" pitchFamily="34" charset="0"/>
              </a:rPr>
              <a:t>torch.tensor</a:t>
            </a:r>
            <a:r>
              <a:rPr lang="pt-BR" altLang="pt-BR" sz="1200" b="1" dirty="0">
                <a:latin typeface="Arial" panose="020B0604020202020204" pitchFamily="34" charset="0"/>
              </a:rPr>
              <a:t>([[3.0], [5.0], [7.0], [9.0]])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</a:t>
            </a:r>
            <a:r>
              <a:rPr lang="pt-BR" altLang="pt-BR" sz="1200" b="1" i="1" dirty="0">
                <a:latin typeface="Arial" panose="020B0604020202020204" pitchFamily="34" charset="0"/>
              </a:rPr>
              <a:t># 2. Definir o modelo (camada linear simples: y = w*x + b)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modelo = </a:t>
            </a:r>
            <a:r>
              <a:rPr lang="pt-BR" altLang="pt-BR" sz="1200" b="1" dirty="0" err="1">
                <a:latin typeface="Arial" panose="020B0604020202020204" pitchFamily="34" charset="0"/>
              </a:rPr>
              <a:t>nn.Linear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in_features</a:t>
            </a:r>
            <a:r>
              <a:rPr lang="pt-BR" altLang="pt-BR" sz="1200" b="1" dirty="0">
                <a:latin typeface="Arial" panose="020B0604020202020204" pitchFamily="34" charset="0"/>
              </a:rPr>
              <a:t>=1, </a:t>
            </a:r>
            <a:r>
              <a:rPr lang="pt-BR" altLang="pt-BR" sz="1200" b="1" dirty="0" err="1">
                <a:latin typeface="Arial" panose="020B0604020202020204" pitchFamily="34" charset="0"/>
              </a:rPr>
              <a:t>out_features</a:t>
            </a:r>
            <a:r>
              <a:rPr lang="pt-BR" altLang="pt-BR" sz="1200" b="1" dirty="0">
                <a:latin typeface="Arial" panose="020B0604020202020204" pitchFamily="34" charset="0"/>
              </a:rPr>
              <a:t>=1)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</a:t>
            </a:r>
            <a:r>
              <a:rPr lang="pt-BR" altLang="pt-BR" sz="1200" b="1" i="1" dirty="0">
                <a:latin typeface="Arial" panose="020B0604020202020204" pitchFamily="34" charset="0"/>
              </a:rPr>
              <a:t># 3. Função de perda (erro quadrático médio)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criterio</a:t>
            </a:r>
            <a:r>
              <a:rPr lang="pt-BR" altLang="pt-BR" sz="1200" b="1" dirty="0">
                <a:latin typeface="Arial" panose="020B0604020202020204" pitchFamily="34" charset="0"/>
              </a:rPr>
              <a:t> = </a:t>
            </a:r>
            <a:r>
              <a:rPr lang="pt-BR" altLang="pt-BR" sz="1200" b="1" dirty="0" err="1">
                <a:latin typeface="Arial" panose="020B0604020202020204" pitchFamily="34" charset="0"/>
              </a:rPr>
              <a:t>nn.MSELoss</a:t>
            </a:r>
            <a:r>
              <a:rPr lang="pt-BR" altLang="pt-BR" sz="12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</a:t>
            </a:r>
            <a:r>
              <a:rPr lang="pt-BR" altLang="pt-BR" sz="1200" b="1" i="1" dirty="0">
                <a:latin typeface="Arial" panose="020B0604020202020204" pitchFamily="34" charset="0"/>
              </a:rPr>
              <a:t># 4. Otimizador (Gradiente Descendente usando SGD)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otimizador = </a:t>
            </a:r>
            <a:r>
              <a:rPr lang="pt-BR" altLang="pt-BR" sz="1200" b="1" dirty="0" err="1">
                <a:latin typeface="Arial" panose="020B0604020202020204" pitchFamily="34" charset="0"/>
              </a:rPr>
              <a:t>optim.SGD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modelo.parameters</a:t>
            </a:r>
            <a:r>
              <a:rPr lang="pt-BR" altLang="pt-BR" sz="1200" b="1" dirty="0">
                <a:latin typeface="Arial" panose="020B0604020202020204" pitchFamily="34" charset="0"/>
              </a:rPr>
              <a:t>(), </a:t>
            </a:r>
            <a:r>
              <a:rPr lang="pt-BR" altLang="pt-BR" sz="1200" b="1" dirty="0" err="1">
                <a:latin typeface="Arial" panose="020B0604020202020204" pitchFamily="34" charset="0"/>
              </a:rPr>
              <a:t>lr</a:t>
            </a:r>
            <a:r>
              <a:rPr lang="pt-BR" altLang="pt-BR" sz="1200" b="1" dirty="0">
                <a:latin typeface="Arial" panose="020B0604020202020204" pitchFamily="34" charset="0"/>
              </a:rPr>
              <a:t>=0.01)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</a:t>
            </a:r>
            <a:r>
              <a:rPr lang="pt-BR" altLang="pt-BR" sz="1200" b="1" i="1" dirty="0">
                <a:latin typeface="Arial" panose="020B0604020202020204" pitchFamily="34" charset="0"/>
              </a:rPr>
              <a:t># 5. Treinamento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for </a:t>
            </a:r>
            <a:r>
              <a:rPr lang="pt-BR" altLang="pt-BR" sz="1200" b="1" dirty="0" err="1">
                <a:latin typeface="Arial" panose="020B0604020202020204" pitchFamily="34" charset="0"/>
              </a:rPr>
              <a:t>epoca</a:t>
            </a:r>
            <a:r>
              <a:rPr lang="pt-BR" altLang="pt-BR" sz="1200" b="1" dirty="0">
                <a:latin typeface="Arial" panose="020B0604020202020204" pitchFamily="34" charset="0"/>
              </a:rPr>
              <a:t> in range(500):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y_pred</a:t>
            </a:r>
            <a:r>
              <a:rPr lang="pt-BR" altLang="pt-BR" sz="1200" b="1" dirty="0">
                <a:latin typeface="Arial" panose="020B0604020202020204" pitchFamily="34" charset="0"/>
              </a:rPr>
              <a:t> = modelo(X) 		# </a:t>
            </a:r>
            <a:r>
              <a:rPr lang="pt-BR" altLang="pt-BR" sz="1200" b="1" dirty="0" err="1">
                <a:latin typeface="Arial" panose="020B0604020202020204" pitchFamily="34" charset="0"/>
              </a:rPr>
              <a:t>Forward</a:t>
            </a:r>
            <a:r>
              <a:rPr lang="pt-BR" altLang="pt-BR" sz="1200" b="1" dirty="0">
                <a:latin typeface="Arial" panose="020B0604020202020204" pitchFamily="34" charset="0"/>
              </a:rPr>
              <a:t>: previsão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perda = </a:t>
            </a:r>
            <a:r>
              <a:rPr lang="pt-BR" altLang="pt-BR" sz="1200" b="1" dirty="0" err="1">
                <a:latin typeface="Arial" panose="020B0604020202020204" pitchFamily="34" charset="0"/>
              </a:rPr>
              <a:t>criterio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y_pred</a:t>
            </a:r>
            <a:r>
              <a:rPr lang="pt-BR" altLang="pt-BR" sz="1200" b="1" dirty="0">
                <a:latin typeface="Arial" panose="020B0604020202020204" pitchFamily="34" charset="0"/>
              </a:rPr>
              <a:t>, y) 	# Calcular perda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otimizador.zero_grad() 		# Zerar gradientes acumulados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perda.backward</a:t>
            </a:r>
            <a:r>
              <a:rPr lang="pt-BR" altLang="pt-BR" sz="1200" b="1" dirty="0">
                <a:latin typeface="Arial" panose="020B0604020202020204" pitchFamily="34" charset="0"/>
              </a:rPr>
              <a:t>() 		# </a:t>
            </a:r>
            <a:r>
              <a:rPr lang="pt-BR" altLang="pt-BR" sz="1200" b="1" dirty="0" err="1">
                <a:latin typeface="Arial" panose="020B0604020202020204" pitchFamily="34" charset="0"/>
              </a:rPr>
              <a:t>Backward</a:t>
            </a:r>
            <a:r>
              <a:rPr lang="pt-BR" altLang="pt-BR" sz="1200" b="1" dirty="0">
                <a:latin typeface="Arial" panose="020B0604020202020204" pitchFamily="34" charset="0"/>
              </a:rPr>
              <a:t>: calcular gradientes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otimizador.step</a:t>
            </a:r>
            <a:r>
              <a:rPr lang="pt-BR" altLang="pt-BR" sz="1200" b="1" dirty="0">
                <a:latin typeface="Arial" panose="020B0604020202020204" pitchFamily="34" charset="0"/>
              </a:rPr>
              <a:t>() 		# Atualizar pesos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i="1" dirty="0">
                <a:latin typeface="Arial" panose="020B0604020202020204" pitchFamily="34" charset="0"/>
              </a:rPr>
              <a:t># Mostrar progresso a cada 50 épocas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</a:t>
            </a:r>
            <a:r>
              <a:rPr lang="pt-BR" altLang="pt-BR" sz="1200" b="1" dirty="0" err="1">
                <a:latin typeface="Arial" panose="020B0604020202020204" pitchFamily="34" charset="0"/>
              </a:rPr>
              <a:t>if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epoca</a:t>
            </a:r>
            <a:r>
              <a:rPr lang="pt-BR" altLang="pt-BR" sz="1200" b="1" dirty="0">
                <a:latin typeface="Arial" panose="020B0604020202020204" pitchFamily="34" charset="0"/>
              </a:rPr>
              <a:t> % 50 == 0: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print(</a:t>
            </a:r>
            <a:r>
              <a:rPr lang="pt-BR" altLang="pt-BR" sz="1200" b="1" dirty="0" err="1">
                <a:latin typeface="Arial" panose="020B0604020202020204" pitchFamily="34" charset="0"/>
              </a:rPr>
              <a:t>f"Época</a:t>
            </a:r>
            <a:r>
              <a:rPr lang="pt-BR" altLang="pt-BR" sz="1200" b="1" dirty="0">
                <a:latin typeface="Arial" panose="020B0604020202020204" pitchFamily="34" charset="0"/>
              </a:rPr>
              <a:t> {</a:t>
            </a:r>
            <a:r>
              <a:rPr lang="pt-BR" altLang="pt-BR" sz="1200" b="1" dirty="0" err="1">
                <a:latin typeface="Arial" panose="020B0604020202020204" pitchFamily="34" charset="0"/>
              </a:rPr>
              <a:t>epoca</a:t>
            </a:r>
            <a:r>
              <a:rPr lang="pt-BR" altLang="pt-BR" sz="1200" b="1" dirty="0">
                <a:latin typeface="Arial" panose="020B0604020202020204" pitchFamily="34" charset="0"/>
              </a:rPr>
              <a:t>}, Perda: {</a:t>
            </a:r>
            <a:r>
              <a:rPr lang="pt-BR" altLang="pt-BR" sz="1200" b="1" dirty="0" err="1">
                <a:latin typeface="Arial" panose="020B0604020202020204" pitchFamily="34" charset="0"/>
              </a:rPr>
              <a:t>perda.item</a:t>
            </a:r>
            <a:r>
              <a:rPr lang="pt-BR" altLang="pt-BR" sz="1200" b="1" dirty="0">
                <a:latin typeface="Arial" panose="020B0604020202020204" pitchFamily="34" charset="0"/>
              </a:rPr>
              <a:t>():.4f}")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</a:t>
            </a:r>
            <a:r>
              <a:rPr lang="pt-BR" altLang="pt-BR" sz="1200" b="1" i="1" dirty="0">
                <a:latin typeface="Arial" panose="020B0604020202020204" pitchFamily="34" charset="0"/>
              </a:rPr>
              <a:t># 6. Testando previsão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entrada = </a:t>
            </a:r>
            <a:r>
              <a:rPr lang="pt-BR" altLang="pt-BR" sz="1200" b="1" dirty="0" err="1">
                <a:latin typeface="Arial" panose="020B0604020202020204" pitchFamily="34" charset="0"/>
              </a:rPr>
              <a:t>torch.tensor</a:t>
            </a:r>
            <a:r>
              <a:rPr lang="pt-BR" altLang="pt-BR" sz="1200" b="1" dirty="0">
                <a:latin typeface="Arial" panose="020B0604020202020204" pitchFamily="34" charset="0"/>
              </a:rPr>
              <a:t>([[5.0]])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saida</a:t>
            </a:r>
            <a:r>
              <a:rPr lang="pt-BR" altLang="pt-BR" sz="1200" b="1" dirty="0">
                <a:latin typeface="Arial" panose="020B0604020202020204" pitchFamily="34" charset="0"/>
              </a:rPr>
              <a:t> = modelo(entrada)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print(</a:t>
            </a:r>
            <a:r>
              <a:rPr lang="pt-BR" altLang="pt-BR" sz="1200" b="1" dirty="0" err="1">
                <a:latin typeface="Arial" panose="020B0604020202020204" pitchFamily="34" charset="0"/>
              </a:rPr>
              <a:t>f"Previsão</a:t>
            </a:r>
            <a:r>
              <a:rPr lang="pt-BR" altLang="pt-BR" sz="1200" b="1" dirty="0">
                <a:latin typeface="Arial" panose="020B0604020202020204" pitchFamily="34" charset="0"/>
              </a:rPr>
              <a:t> para x=5: {</a:t>
            </a:r>
            <a:r>
              <a:rPr lang="pt-BR" altLang="pt-BR" sz="1200" b="1" dirty="0" err="1">
                <a:latin typeface="Arial" panose="020B0604020202020204" pitchFamily="34" charset="0"/>
              </a:rPr>
              <a:t>saida.item</a:t>
            </a:r>
            <a:r>
              <a:rPr lang="pt-BR" altLang="pt-BR" sz="1200" b="1" dirty="0">
                <a:latin typeface="Arial" panose="020B0604020202020204" pitchFamily="34" charset="0"/>
              </a:rPr>
              <a:t>():.2f}")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1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117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DFDD-A13E-6AA4-AE3F-0EF84BEF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FE5609A-4754-89C4-AF82-0911FD48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9086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Biblioteca – </a:t>
            </a:r>
            <a:r>
              <a:rPr lang="pt-BR" dirty="0" err="1"/>
              <a:t>Requests</a:t>
            </a:r>
            <a:endParaRPr lang="pt-B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0C04436-AD29-8BE4-4B60-12842EA7F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37" y="1811086"/>
            <a:ext cx="11627436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 </a:t>
            </a:r>
            <a:r>
              <a:rPr lang="pt-BR" dirty="0"/>
              <a:t>Uma biblioteca para fazer requisições HTTP.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que serve: </a:t>
            </a:r>
            <a:r>
              <a:rPr lang="pt-BR" dirty="0"/>
              <a:t>Permite que seu código se comunique com a internet de forma simples. É usada para interagir com APIs e baixar conteúdo de sites, por exemplo.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dirty="0">
                <a:latin typeface="Arial" panose="020B0604020202020204" pitchFamily="34" charset="0"/>
              </a:rPr>
              <a:t>	</a:t>
            </a:r>
            <a:r>
              <a:rPr lang="pt-BR" altLang="pt-BR" sz="3200" b="1" dirty="0" err="1">
                <a:latin typeface="Arial" panose="020B0604020202020204" pitchFamily="34" charset="0"/>
              </a:rPr>
              <a:t>pip</a:t>
            </a:r>
            <a:r>
              <a:rPr lang="pt-BR" altLang="pt-BR" sz="3200" b="1" dirty="0">
                <a:latin typeface="Arial" panose="020B0604020202020204" pitchFamily="34" charset="0"/>
              </a:rPr>
              <a:t> </a:t>
            </a:r>
            <a:r>
              <a:rPr lang="pt-BR" altLang="pt-BR" sz="3200" b="1" dirty="0" err="1">
                <a:latin typeface="Arial" panose="020B0604020202020204" pitchFamily="34" charset="0"/>
              </a:rPr>
              <a:t>install</a:t>
            </a:r>
            <a:r>
              <a:rPr lang="pt-BR" altLang="pt-BR" sz="3200" b="1" dirty="0">
                <a:latin typeface="Arial" panose="020B0604020202020204" pitchFamily="34" charset="0"/>
              </a:rPr>
              <a:t> </a:t>
            </a:r>
            <a:r>
              <a:rPr lang="pt-BR" altLang="pt-BR" sz="3200" b="1" dirty="0" err="1">
                <a:latin typeface="Arial" panose="020B0604020202020204" pitchFamily="34" charset="0"/>
              </a:rPr>
              <a:t>requests</a:t>
            </a: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977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CC84F-D059-22DC-8451-4E4617AC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B27F8505-BD88-A0CB-7BB0-D0C8D8B52C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D32E24F7-0DC4-81C7-0BF0-EA033A4B0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5" y="487027"/>
            <a:ext cx="10718275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import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requests</a:t>
            </a: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# 1. Definir a URL da API que queremos acessar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  # A URL aponta para a postagem de ID 10 na API de exemplo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url</a:t>
            </a:r>
            <a:r>
              <a:rPr lang="pt-BR" altLang="pt-BR" sz="1200" b="1" dirty="0">
                <a:latin typeface="Arial" panose="020B0604020202020204" pitchFamily="34" charset="0"/>
              </a:rPr>
              <a:t> = 'https://jsonplaceholder.typicode.com/posts/10’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# 2. Fazer a requisição HTTP GET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  # A função </a:t>
            </a:r>
            <a:r>
              <a:rPr lang="pt-BR" altLang="pt-BR" sz="1200" b="1" dirty="0" err="1">
                <a:latin typeface="Arial" panose="020B0604020202020204" pitchFamily="34" charset="0"/>
              </a:rPr>
              <a:t>requests.get</a:t>
            </a:r>
            <a:r>
              <a:rPr lang="pt-BR" altLang="pt-BR" sz="1200" b="1" dirty="0">
                <a:latin typeface="Arial" panose="020B0604020202020204" pitchFamily="34" charset="0"/>
              </a:rPr>
              <a:t>() envia a requisição e retorna um objeto de resposta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response = </a:t>
            </a:r>
            <a:r>
              <a:rPr lang="pt-BR" altLang="pt-BR" sz="1200" b="1" dirty="0" err="1">
                <a:latin typeface="Arial" panose="020B0604020202020204" pitchFamily="34" charset="0"/>
              </a:rPr>
              <a:t>requests.get</a:t>
            </a:r>
            <a:r>
              <a:rPr lang="pt-BR" altLang="pt-BR" sz="1200" b="1" dirty="0">
                <a:latin typeface="Arial" panose="020B0604020202020204" pitchFamily="34" charset="0"/>
              </a:rPr>
              <a:t>(</a:t>
            </a:r>
            <a:r>
              <a:rPr lang="pt-BR" altLang="pt-BR" sz="1200" b="1" dirty="0" err="1">
                <a:latin typeface="Arial" panose="020B0604020202020204" pitchFamily="34" charset="0"/>
              </a:rPr>
              <a:t>url</a:t>
            </a:r>
            <a:r>
              <a:rPr lang="pt-BR" altLang="pt-BR" sz="12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	# 3. Verificar se a requisição foi bem-sucedida (código de status 200)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if</a:t>
            </a:r>
            <a:r>
              <a:rPr lang="pt-BR" altLang="pt-BR" sz="1200" b="1" dirty="0">
                <a:latin typeface="Arial" panose="020B0604020202020204" pitchFamily="34" charset="0"/>
              </a:rPr>
              <a:t> </a:t>
            </a:r>
            <a:r>
              <a:rPr lang="pt-BR" altLang="pt-BR" sz="1200" b="1" dirty="0" err="1">
                <a:latin typeface="Arial" panose="020B0604020202020204" pitchFamily="34" charset="0"/>
              </a:rPr>
              <a:t>response.status_code</a:t>
            </a:r>
            <a:r>
              <a:rPr lang="pt-BR" altLang="pt-BR" sz="1200" b="1" dirty="0">
                <a:latin typeface="Arial" panose="020B0604020202020204" pitchFamily="34" charset="0"/>
              </a:rPr>
              <a:t> == 200: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	 # 4. Acessar os dados da resposta no formato JSON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  # A função </a:t>
            </a:r>
            <a:r>
              <a:rPr lang="pt-BR" altLang="pt-BR" sz="1200" b="1" dirty="0" err="1">
                <a:latin typeface="Arial" panose="020B0604020202020204" pitchFamily="34" charset="0"/>
              </a:rPr>
              <a:t>response.json</a:t>
            </a:r>
            <a:r>
              <a:rPr lang="pt-BR" altLang="pt-BR" sz="1200" b="1" dirty="0">
                <a:latin typeface="Arial" panose="020B0604020202020204" pitchFamily="34" charset="0"/>
              </a:rPr>
              <a:t>() converte a resposta para um dicionário Python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post = </a:t>
            </a:r>
            <a:r>
              <a:rPr lang="pt-BR" altLang="pt-BR" sz="1200" b="1" dirty="0" err="1">
                <a:latin typeface="Arial" panose="020B0604020202020204" pitchFamily="34" charset="0"/>
              </a:rPr>
              <a:t>response.json</a:t>
            </a:r>
            <a:r>
              <a:rPr lang="pt-BR" altLang="pt-BR" sz="1200" b="1" dirty="0">
                <a:latin typeface="Arial" panose="020B0604020202020204" pitchFamily="34" charset="0"/>
              </a:rPr>
              <a:t>()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	# 5. Imprimir os dados de forma legível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print("--- Dados da Postagem ---")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print(</a:t>
            </a:r>
            <a:r>
              <a:rPr lang="pt-BR" altLang="pt-BR" sz="1200" b="1" dirty="0" err="1">
                <a:latin typeface="Arial" panose="020B0604020202020204" pitchFamily="34" charset="0"/>
              </a:rPr>
              <a:t>f"ID</a:t>
            </a:r>
            <a:r>
              <a:rPr lang="pt-BR" altLang="pt-BR" sz="1200" b="1" dirty="0">
                <a:latin typeface="Arial" panose="020B0604020202020204" pitchFamily="34" charset="0"/>
              </a:rPr>
              <a:t> do Usuário: {post['</a:t>
            </a:r>
            <a:r>
              <a:rPr lang="pt-BR" altLang="pt-BR" sz="1200" b="1" dirty="0" err="1">
                <a:latin typeface="Arial" panose="020B0604020202020204" pitchFamily="34" charset="0"/>
              </a:rPr>
              <a:t>userId</a:t>
            </a:r>
            <a:r>
              <a:rPr lang="pt-BR" altLang="pt-BR" sz="1200" b="1" dirty="0">
                <a:latin typeface="Arial" panose="020B0604020202020204" pitchFamily="34" charset="0"/>
              </a:rPr>
              <a:t>']}")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print(</a:t>
            </a:r>
            <a:r>
              <a:rPr lang="pt-BR" altLang="pt-BR" sz="1200" b="1" dirty="0" err="1">
                <a:latin typeface="Arial" panose="020B0604020202020204" pitchFamily="34" charset="0"/>
              </a:rPr>
              <a:t>f"ID</a:t>
            </a:r>
            <a:r>
              <a:rPr lang="pt-BR" altLang="pt-BR" sz="1200" b="1" dirty="0">
                <a:latin typeface="Arial" panose="020B0604020202020204" pitchFamily="34" charset="0"/>
              </a:rPr>
              <a:t> da Postagem: {post['id']}")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print(</a:t>
            </a:r>
            <a:r>
              <a:rPr lang="pt-BR" altLang="pt-BR" sz="1200" b="1" dirty="0" err="1">
                <a:latin typeface="Arial" panose="020B0604020202020204" pitchFamily="34" charset="0"/>
              </a:rPr>
              <a:t>f"Título</a:t>
            </a:r>
            <a:r>
              <a:rPr lang="pt-BR" altLang="pt-BR" sz="1200" b="1" dirty="0">
                <a:latin typeface="Arial" panose="020B0604020202020204" pitchFamily="34" charset="0"/>
              </a:rPr>
              <a:t>: {post['</a:t>
            </a:r>
            <a:r>
              <a:rPr lang="pt-BR" altLang="pt-BR" sz="1200" b="1" dirty="0" err="1">
                <a:latin typeface="Arial" panose="020B0604020202020204" pitchFamily="34" charset="0"/>
              </a:rPr>
              <a:t>title</a:t>
            </a:r>
            <a:r>
              <a:rPr lang="pt-BR" altLang="pt-BR" sz="1200" b="1" dirty="0">
                <a:latin typeface="Arial" panose="020B0604020202020204" pitchFamily="34" charset="0"/>
              </a:rPr>
              <a:t>']}")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print(</a:t>
            </a:r>
            <a:r>
              <a:rPr lang="pt-BR" altLang="pt-BR" sz="1200" b="1" dirty="0" err="1">
                <a:latin typeface="Arial" panose="020B0604020202020204" pitchFamily="34" charset="0"/>
              </a:rPr>
              <a:t>f"Corpo</a:t>
            </a:r>
            <a:r>
              <a:rPr lang="pt-BR" altLang="pt-BR" sz="1200" b="1" dirty="0">
                <a:latin typeface="Arial" panose="020B0604020202020204" pitchFamily="34" charset="0"/>
              </a:rPr>
              <a:t>: {post['body']}")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2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 err="1">
                <a:latin typeface="Arial" panose="020B0604020202020204" pitchFamily="34" charset="0"/>
              </a:rPr>
              <a:t>else</a:t>
            </a:r>
            <a:r>
              <a:rPr lang="pt-BR" altLang="pt-BR" sz="1200" b="1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          # Caso a requisição não seja bem-sucedida, imprime o código de erro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200" b="1" dirty="0">
                <a:latin typeface="Arial" panose="020B0604020202020204" pitchFamily="34" charset="0"/>
              </a:rPr>
              <a:t>    print(</a:t>
            </a:r>
            <a:r>
              <a:rPr lang="pt-BR" altLang="pt-BR" sz="1200" b="1" dirty="0" err="1">
                <a:latin typeface="Arial" panose="020B0604020202020204" pitchFamily="34" charset="0"/>
              </a:rPr>
              <a:t>f"Erro</a:t>
            </a:r>
            <a:r>
              <a:rPr lang="pt-BR" altLang="pt-BR" sz="1200" b="1" dirty="0">
                <a:latin typeface="Arial" panose="020B0604020202020204" pitchFamily="34" charset="0"/>
              </a:rPr>
              <a:t> ao buscar os dados. Código de status: {</a:t>
            </a:r>
            <a:r>
              <a:rPr lang="pt-BR" altLang="pt-BR" sz="1200" b="1" dirty="0" err="1">
                <a:latin typeface="Arial" panose="020B0604020202020204" pitchFamily="34" charset="0"/>
              </a:rPr>
              <a:t>response.status_code</a:t>
            </a:r>
            <a:r>
              <a:rPr lang="pt-BR" altLang="pt-BR" sz="1200" b="1" dirty="0">
                <a:latin typeface="Arial" panose="020B0604020202020204" pitchFamily="34" charset="0"/>
              </a:rPr>
              <a:t>}")</a:t>
            </a:r>
          </a:p>
        </p:txBody>
      </p:sp>
    </p:spTree>
    <p:extLst>
      <p:ext uri="{BB962C8B-B14F-4D97-AF65-F5344CB8AC3E}">
        <p14:creationId xmlns:p14="http://schemas.microsoft.com/office/powerpoint/2010/main" val="697335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87E9B-3C19-FFF5-7045-348A2128B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4DAABA1-DBCA-C8C0-1B0B-65FF93F19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9086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Biblioteca – Django e </a:t>
            </a:r>
            <a:r>
              <a:rPr lang="pt-BR" dirty="0" err="1"/>
              <a:t>Flask</a:t>
            </a:r>
            <a:endParaRPr lang="pt-B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D0623F-EB11-50CE-DD6A-3CA1169B5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37" y="1503309"/>
            <a:ext cx="1162743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 </a:t>
            </a:r>
            <a:r>
              <a:rPr lang="pt-BR" dirty="0"/>
              <a:t>Dois dos </a:t>
            </a:r>
            <a:r>
              <a:rPr lang="pt-BR" i="1" dirty="0"/>
              <a:t>frameworks</a:t>
            </a:r>
            <a:r>
              <a:rPr lang="pt-BR" dirty="0"/>
              <a:t> mais populares para desenvolvimento web.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que serve: </a:t>
            </a:r>
            <a:r>
              <a:rPr lang="pt-BR" dirty="0"/>
              <a:t>Embora sejam mais que simples bibliotecas, eles são coleções de módulos que ajudam a construir aplicações web completas. </a:t>
            </a:r>
            <a:r>
              <a:rPr lang="pt-BR" b="1" dirty="0"/>
              <a:t>Django</a:t>
            </a:r>
            <a:r>
              <a:rPr lang="pt-BR" dirty="0"/>
              <a:t> é um </a:t>
            </a:r>
            <a:r>
              <a:rPr lang="pt-BR" i="1" dirty="0"/>
              <a:t>framework</a:t>
            </a:r>
            <a:r>
              <a:rPr lang="pt-BR" dirty="0"/>
              <a:t> "completo" (</a:t>
            </a:r>
            <a:r>
              <a:rPr lang="pt-BR" i="1" dirty="0" err="1"/>
              <a:t>full-stack</a:t>
            </a:r>
            <a:r>
              <a:rPr lang="pt-BR" dirty="0"/>
              <a:t>), enquanto </a:t>
            </a:r>
            <a:r>
              <a:rPr lang="pt-BR" b="1" dirty="0" err="1"/>
              <a:t>Flask</a:t>
            </a:r>
            <a:r>
              <a:rPr lang="pt-BR" dirty="0"/>
              <a:t> é mais leve e flexível, ideal para projetos menores.</a:t>
            </a: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3600" b="1" dirty="0">
                <a:latin typeface="Arial" panose="020B0604020202020204" pitchFamily="34" charset="0"/>
              </a:rPr>
              <a:t>	</a:t>
            </a:r>
            <a:r>
              <a:rPr lang="pt-BR" altLang="pt-BR" sz="3600" b="1" dirty="0" err="1">
                <a:latin typeface="Arial" panose="020B0604020202020204" pitchFamily="34" charset="0"/>
              </a:rPr>
              <a:t>pip</a:t>
            </a:r>
            <a:r>
              <a:rPr lang="pt-BR" altLang="pt-BR" sz="3600" b="1" dirty="0">
                <a:latin typeface="Arial" panose="020B0604020202020204" pitchFamily="34" charset="0"/>
              </a:rPr>
              <a:t> </a:t>
            </a:r>
            <a:r>
              <a:rPr lang="pt-BR" altLang="pt-BR" sz="3600" b="1" dirty="0" err="1">
                <a:latin typeface="Arial" panose="020B0604020202020204" pitchFamily="34" charset="0"/>
              </a:rPr>
              <a:t>install</a:t>
            </a:r>
            <a:r>
              <a:rPr lang="pt-BR" altLang="pt-BR" sz="3600" b="1" dirty="0">
                <a:latin typeface="Arial" panose="020B0604020202020204" pitchFamily="34" charset="0"/>
              </a:rPr>
              <a:t> </a:t>
            </a:r>
            <a:r>
              <a:rPr lang="pt-BR" altLang="pt-BR" sz="3600" b="1" dirty="0" err="1">
                <a:latin typeface="Arial" panose="020B0604020202020204" pitchFamily="34" charset="0"/>
              </a:rPr>
              <a:t>Flask</a:t>
            </a:r>
            <a:endParaRPr lang="pt-BR" altLang="pt-BR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324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198CC-7D87-1FB8-5B5D-7C74D2BA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53CD767B-E5EA-AE66-3DA8-82B34C8C73C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A262D3CC-4179-6999-9471-1A668869A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29" y="25365"/>
            <a:ext cx="1117197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from</a:t>
            </a:r>
            <a:r>
              <a:rPr lang="pt-BR" altLang="pt-BR" sz="1600" b="1" dirty="0">
                <a:latin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</a:rPr>
              <a:t>flask</a:t>
            </a:r>
            <a:r>
              <a:rPr lang="pt-BR" altLang="pt-BR" sz="1600" b="1" dirty="0">
                <a:latin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</a:rPr>
              <a:t>import</a:t>
            </a:r>
            <a:r>
              <a:rPr lang="pt-BR" altLang="pt-BR" sz="1600" b="1" dirty="0">
                <a:latin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</a:rPr>
              <a:t>Flask</a:t>
            </a: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# 1. Cria a instância do aplicativo </a:t>
            </a:r>
            <a:r>
              <a:rPr lang="pt-BR" altLang="pt-BR" sz="1600" b="1" dirty="0" err="1">
                <a:latin typeface="Arial" panose="020B0604020202020204" pitchFamily="34" charset="0"/>
              </a:rPr>
              <a:t>Flask</a:t>
            </a: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app = </a:t>
            </a:r>
            <a:r>
              <a:rPr lang="pt-BR" altLang="pt-BR" sz="1600" b="1" dirty="0" err="1">
                <a:latin typeface="Arial" panose="020B0604020202020204" pitchFamily="34" charset="0"/>
              </a:rPr>
              <a:t>Flask</a:t>
            </a:r>
            <a:r>
              <a:rPr lang="pt-BR" altLang="pt-BR" sz="1600" b="1" dirty="0">
                <a:latin typeface="Arial" panose="020B0604020202020204" pitchFamily="34" charset="0"/>
              </a:rPr>
              <a:t>(__</a:t>
            </a:r>
            <a:r>
              <a:rPr lang="pt-BR" altLang="pt-BR" sz="1600" b="1" dirty="0" err="1">
                <a:latin typeface="Arial" panose="020B0604020202020204" pitchFamily="34" charset="0"/>
              </a:rPr>
              <a:t>name</a:t>
            </a:r>
            <a:r>
              <a:rPr lang="pt-BR" altLang="pt-BR" sz="1600" b="1" dirty="0">
                <a:latin typeface="Arial" panose="020B0604020202020204" pitchFamily="34" charset="0"/>
              </a:rPr>
              <a:t>__)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# 2. Define a primeira rota para a URL base ('/’)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   # Quando alguém acessa a URL raiz, esta função é executada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@app.route('/')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def</a:t>
            </a:r>
            <a:r>
              <a:rPr lang="pt-BR" altLang="pt-BR" sz="1600" b="1" dirty="0">
                <a:latin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</a:rPr>
              <a:t>hello_world</a:t>
            </a:r>
            <a:r>
              <a:rPr lang="pt-BR" altLang="pt-BR" sz="1600" b="1" dirty="0">
                <a:latin typeface="Arial" panose="020B0604020202020204" pitchFamily="34" charset="0"/>
              </a:rPr>
              <a:t>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</a:t>
            </a:r>
            <a:r>
              <a:rPr lang="pt-BR" altLang="pt-BR" sz="1600" b="1" dirty="0" err="1">
                <a:latin typeface="Arial" panose="020B0604020202020204" pitchFamily="34" charset="0"/>
              </a:rPr>
              <a:t>return</a:t>
            </a:r>
            <a:r>
              <a:rPr lang="pt-BR" altLang="pt-BR" sz="1600" b="1" dirty="0">
                <a:latin typeface="Arial" panose="020B0604020202020204" pitchFamily="34" charset="0"/>
              </a:rPr>
              <a:t> '&lt;h1&gt;Olá, Mundo Maravilhoso! 🌍&lt;/h1&gt;&lt;p&gt;Bem-vindo à sua primeira página com </a:t>
            </a:r>
            <a:r>
              <a:rPr lang="pt-BR" altLang="pt-BR" sz="1600" b="1" dirty="0" err="1">
                <a:latin typeface="Arial" panose="020B0604020202020204" pitchFamily="34" charset="0"/>
              </a:rPr>
              <a:t>Flask</a:t>
            </a:r>
            <a:r>
              <a:rPr lang="pt-BR" altLang="pt-BR" sz="1600" b="1" dirty="0">
                <a:latin typeface="Arial" panose="020B0604020202020204" pitchFamily="34" charset="0"/>
              </a:rPr>
              <a:t> (Nice!!!) 😉.&lt;/p&gt;’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# 3. Define uma segunda rota que aceita um parâmetro na URL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   # O &lt;nome&gt; na URL será passado como argumento para a função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@app.route('/ola/&lt;nome&gt;')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def</a:t>
            </a:r>
            <a:r>
              <a:rPr lang="pt-BR" altLang="pt-BR" sz="1600" b="1" dirty="0">
                <a:latin typeface="Arial" panose="020B0604020202020204" pitchFamily="34" charset="0"/>
              </a:rPr>
              <a:t> </a:t>
            </a:r>
            <a:r>
              <a:rPr lang="pt-BR" altLang="pt-BR" sz="1600" b="1" dirty="0" err="1">
                <a:latin typeface="Arial" panose="020B0604020202020204" pitchFamily="34" charset="0"/>
              </a:rPr>
              <a:t>ola_nome</a:t>
            </a:r>
            <a:r>
              <a:rPr lang="pt-BR" altLang="pt-BR" sz="1600" b="1" dirty="0">
                <a:latin typeface="Arial" panose="020B0604020202020204" pitchFamily="34" charset="0"/>
              </a:rPr>
              <a:t>(nome):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</a:t>
            </a:r>
            <a:r>
              <a:rPr lang="pt-BR" altLang="pt-BR" sz="1600" b="1" dirty="0" err="1">
                <a:latin typeface="Arial" panose="020B0604020202020204" pitchFamily="34" charset="0"/>
              </a:rPr>
              <a:t>return</a:t>
            </a:r>
            <a:r>
              <a:rPr lang="pt-BR" altLang="pt-BR" sz="1600" b="1" dirty="0">
                <a:latin typeface="Arial" panose="020B0604020202020204" pitchFamily="34" charset="0"/>
              </a:rPr>
              <a:t> f'&lt;h1&gt;Olá, {nome}! 👍😎&lt;/h1&gt;’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# 4. Executa o servidor de desenvolvimento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   # O código dentro deste bloco só roda quando você executa o arquivo diretamente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 err="1">
                <a:latin typeface="Arial" panose="020B0604020202020204" pitchFamily="34" charset="0"/>
              </a:rPr>
              <a:t>if</a:t>
            </a:r>
            <a:r>
              <a:rPr lang="pt-BR" altLang="pt-BR" sz="1600" b="1" dirty="0">
                <a:latin typeface="Arial" panose="020B0604020202020204" pitchFamily="34" charset="0"/>
              </a:rPr>
              <a:t> __</a:t>
            </a:r>
            <a:r>
              <a:rPr lang="pt-BR" altLang="pt-BR" sz="1600" b="1" dirty="0" err="1">
                <a:latin typeface="Arial" panose="020B0604020202020204" pitchFamily="34" charset="0"/>
              </a:rPr>
              <a:t>name</a:t>
            </a:r>
            <a:r>
              <a:rPr lang="pt-BR" altLang="pt-BR" sz="1600" b="1" dirty="0">
                <a:latin typeface="Arial" panose="020B0604020202020204" pitchFamily="34" charset="0"/>
              </a:rPr>
              <a:t>__ == '__</a:t>
            </a:r>
            <a:r>
              <a:rPr lang="pt-BR" altLang="pt-BR" sz="1600" b="1" dirty="0" err="1">
                <a:latin typeface="Arial" panose="020B0604020202020204" pitchFamily="34" charset="0"/>
              </a:rPr>
              <a:t>main</a:t>
            </a:r>
            <a:r>
              <a:rPr lang="pt-BR" altLang="pt-BR" sz="1600" b="1" dirty="0">
                <a:latin typeface="Arial" panose="020B0604020202020204" pitchFamily="34" charset="0"/>
              </a:rPr>
              <a:t>__':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    </a:t>
            </a:r>
            <a:r>
              <a:rPr lang="pt-BR" altLang="pt-BR" sz="1600" b="1" dirty="0" err="1">
                <a:latin typeface="Arial" panose="020B0604020202020204" pitchFamily="34" charset="0"/>
              </a:rPr>
              <a:t>app.run</a:t>
            </a:r>
            <a:r>
              <a:rPr lang="pt-BR" altLang="pt-BR" sz="1600" b="1" dirty="0">
                <a:latin typeface="Arial" panose="020B0604020202020204" pitchFamily="34" charset="0"/>
              </a:rPr>
              <a:t>(debug=</a:t>
            </a:r>
            <a:r>
              <a:rPr lang="pt-BR" altLang="pt-BR" sz="1600" b="1" dirty="0" err="1">
                <a:latin typeface="Arial" panose="020B0604020202020204" pitchFamily="34" charset="0"/>
              </a:rPr>
              <a:t>True</a:t>
            </a:r>
            <a:r>
              <a:rPr lang="pt-BR" altLang="pt-BR" sz="1600" b="1" dirty="0"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0969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4964-99CF-7F1A-185C-F1422559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DCE8EF0D-DA89-F2B0-D231-7F59FEC3B2F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58C553D3-00C7-DF03-0F7D-3B7224AA6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5" y="1502697"/>
            <a:ext cx="1071827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Rodando a aplicação feita </a:t>
            </a:r>
            <a:r>
              <a:rPr lang="pt-BR" altLang="pt-BR" sz="1600" b="1" dirty="0" err="1">
                <a:latin typeface="Arial" panose="020B0604020202020204" pitchFamily="34" charset="0"/>
              </a:rPr>
              <a:t>emFlask</a:t>
            </a: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Primeiro, pelo terminal, rode o programa que acabou de criar.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Também pode-se ir na pasta que está o programa criado e rodar a aplicação da maneira abaixo.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</a:t>
            </a:r>
            <a:r>
              <a:rPr lang="pt-BR" altLang="pt-BR" sz="1600" b="1" i="1" dirty="0">
                <a:solidFill>
                  <a:srgbClr val="FFC000"/>
                </a:solidFill>
                <a:latin typeface="Arial" panose="020B0604020202020204" pitchFamily="34" charset="0"/>
              </a:rPr>
              <a:t>Python nomedoprograma.py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Quando o programa estiver rodando, abra um navegador de internet e coloque as URLs abaixo.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</a:t>
            </a:r>
            <a:r>
              <a:rPr lang="pt-BR" sz="1600" dirty="0"/>
              <a:t> </a:t>
            </a:r>
            <a:r>
              <a:rPr lang="pt-BR" sz="1600" dirty="0">
                <a:solidFill>
                  <a:srgbClr val="FFC000"/>
                </a:solidFill>
              </a:rPr>
              <a:t>http://127.0.0.1:5000/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solidFill>
                  <a:srgbClr val="FFC000"/>
                </a:solidFill>
                <a:latin typeface="Arial" panose="020B0604020202020204" pitchFamily="34" charset="0"/>
              </a:rPr>
              <a:t>	</a:t>
            </a:r>
            <a:r>
              <a:rPr lang="pt-BR" sz="1600" dirty="0">
                <a:solidFill>
                  <a:srgbClr val="FFC000"/>
                </a:solidFill>
              </a:rPr>
              <a:t> http://127.0.0.1:5000/ola/Fulano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578670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22D8-C6A9-575B-3616-5D0C5990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B744090-5894-258E-0E8E-4FC44A28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08635"/>
            <a:ext cx="11090274" cy="9086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Biblioteca – Random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C8E186-57C4-5B2F-B31D-019074FF3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37" y="1918807"/>
            <a:ext cx="1162743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é: </a:t>
            </a:r>
            <a:r>
              <a:rPr lang="pt-BR" dirty="0"/>
              <a:t>A biblioteca </a:t>
            </a:r>
            <a:r>
              <a:rPr lang="pt-BR" b="1" dirty="0" err="1"/>
              <a:t>random</a:t>
            </a:r>
            <a:r>
              <a:rPr lang="pt-BR" dirty="0"/>
              <a:t> em Python é uma ferramenta essencial para gerar números e escolher elementos de forma aleatória. Ela faz parte da biblioteca padrão do Python, o que significa que você não precisa instalá-la, basta importá-la para usar suas funções.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dirty="0"/>
              <a:t>O nome "</a:t>
            </a:r>
            <a:r>
              <a:rPr lang="pt-BR" b="1" dirty="0" err="1"/>
              <a:t>random</a:t>
            </a:r>
            <a:r>
              <a:rPr lang="pt-BR" dirty="0"/>
              <a:t>" em programação na verdade se refere a "</a:t>
            </a:r>
            <a:r>
              <a:rPr lang="pt-BR" b="1" i="1" dirty="0" err="1"/>
              <a:t>pseudo-aleatório</a:t>
            </a:r>
            <a:r>
              <a:rPr lang="pt-BR" dirty="0"/>
              <a:t>". Isso significa que os números gerados não são verdadeiramente aleatórios, mas são criados por um algoritmo matemático que produz uma sequência de números que parece aleatória. Isso é útil porque a sequência pode ser reproduzida se você usar a mesma semente, o que é importante para testes e simulações.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917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02B1-9982-6D5E-B8EA-C0A141189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0297FE-5BC6-C4B6-E83C-C5220C2C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99" y="137443"/>
            <a:ext cx="11090274" cy="908685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Biblioteca – Random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9598680-87E7-A725-D728-A85B81D61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537" y="810814"/>
            <a:ext cx="11627436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t-BR" b="1" dirty="0"/>
              <a:t>			Principais Funções da Biblioteca Random.</a:t>
            </a:r>
          </a:p>
          <a:p>
            <a:endParaRPr lang="pt-BR" b="1" dirty="0"/>
          </a:p>
          <a:p>
            <a:r>
              <a:rPr lang="pt-BR" dirty="0"/>
              <a:t>A biblioteca </a:t>
            </a:r>
            <a:r>
              <a:rPr lang="pt-BR" dirty="0" err="1"/>
              <a:t>random</a:t>
            </a:r>
            <a:r>
              <a:rPr lang="pt-BR" dirty="0"/>
              <a:t> oferece várias funções para diferentes tipos de sorteio.  As mais comuns incluem:</a:t>
            </a:r>
          </a:p>
          <a:p>
            <a:endParaRPr lang="pt-BR" dirty="0"/>
          </a:p>
          <a:p>
            <a:r>
              <a:rPr lang="pt-BR" b="1" dirty="0" err="1">
                <a:solidFill>
                  <a:srgbClr val="FFC000"/>
                </a:solidFill>
              </a:rPr>
              <a:t>random.random</a:t>
            </a:r>
            <a:r>
              <a:rPr lang="pt-BR" b="1" dirty="0">
                <a:solidFill>
                  <a:srgbClr val="FFC000"/>
                </a:solidFill>
              </a:rPr>
              <a:t>()</a:t>
            </a:r>
            <a:r>
              <a:rPr lang="pt-BR" dirty="0">
                <a:solidFill>
                  <a:srgbClr val="FFC000"/>
                </a:solidFill>
              </a:rPr>
              <a:t>: </a:t>
            </a:r>
            <a:r>
              <a:rPr lang="pt-BR" dirty="0"/>
              <a:t>Retorna um número de ponto flutuante (</a:t>
            </a:r>
            <a:r>
              <a:rPr lang="pt-BR" dirty="0" err="1"/>
              <a:t>float</a:t>
            </a:r>
            <a:r>
              <a:rPr lang="pt-BR" dirty="0"/>
              <a:t>) entre 0.0 e 1.0.</a:t>
            </a:r>
          </a:p>
          <a:p>
            <a:endParaRPr lang="pt-BR" dirty="0"/>
          </a:p>
          <a:p>
            <a:r>
              <a:rPr lang="pt-BR" b="1" dirty="0" err="1">
                <a:solidFill>
                  <a:srgbClr val="FFC000"/>
                </a:solidFill>
              </a:rPr>
              <a:t>random.randint</a:t>
            </a:r>
            <a:r>
              <a:rPr lang="pt-BR" b="1" dirty="0">
                <a:solidFill>
                  <a:srgbClr val="FFC000"/>
                </a:solidFill>
              </a:rPr>
              <a:t>(a, b)</a:t>
            </a:r>
            <a:r>
              <a:rPr lang="pt-BR" dirty="0">
                <a:solidFill>
                  <a:srgbClr val="FFC000"/>
                </a:solidFill>
              </a:rPr>
              <a:t>: </a:t>
            </a:r>
            <a:r>
              <a:rPr lang="pt-BR" dirty="0"/>
              <a:t>Retorna um número inteiro aleatório entre a e b, incluindo ambos os valores. É ideal para simular um dado, por exemplo.</a:t>
            </a:r>
          </a:p>
          <a:p>
            <a:endParaRPr lang="pt-BR" dirty="0"/>
          </a:p>
          <a:p>
            <a:r>
              <a:rPr lang="pt-BR" b="1" dirty="0" err="1">
                <a:solidFill>
                  <a:srgbClr val="FFC000"/>
                </a:solidFill>
              </a:rPr>
              <a:t>random.choice</a:t>
            </a:r>
            <a:r>
              <a:rPr lang="pt-BR" b="1" dirty="0">
                <a:solidFill>
                  <a:srgbClr val="FFC000"/>
                </a:solidFill>
              </a:rPr>
              <a:t>(sequência)</a:t>
            </a:r>
            <a:r>
              <a:rPr lang="pt-BR" dirty="0">
                <a:solidFill>
                  <a:srgbClr val="FFC000"/>
                </a:solidFill>
              </a:rPr>
              <a:t>: </a:t>
            </a:r>
            <a:r>
              <a:rPr lang="pt-BR" dirty="0"/>
              <a:t>Retorna um elemento aleatório de uma sequência não vazia, como uma lista, uma tupla ou uma </a:t>
            </a:r>
            <a:r>
              <a:rPr lang="pt-BR" dirty="0" err="1"/>
              <a:t>string</a:t>
            </a:r>
            <a:r>
              <a:rPr lang="pt-BR" dirty="0"/>
              <a:t>. É a função que usamos para sortear um nome de uma lista.</a:t>
            </a:r>
          </a:p>
          <a:p>
            <a:endParaRPr lang="pt-BR" dirty="0"/>
          </a:p>
          <a:p>
            <a:r>
              <a:rPr lang="pt-BR" b="1" dirty="0" err="1">
                <a:solidFill>
                  <a:srgbClr val="FFC000"/>
                </a:solidFill>
              </a:rPr>
              <a:t>random.shuffle</a:t>
            </a:r>
            <a:r>
              <a:rPr lang="pt-BR" b="1" dirty="0">
                <a:solidFill>
                  <a:srgbClr val="FFC000"/>
                </a:solidFill>
              </a:rPr>
              <a:t>(lista)</a:t>
            </a:r>
            <a:r>
              <a:rPr lang="pt-BR" dirty="0">
                <a:solidFill>
                  <a:srgbClr val="FFC000"/>
                </a:solidFill>
              </a:rPr>
              <a:t>: </a:t>
            </a:r>
            <a:r>
              <a:rPr lang="pt-BR" dirty="0"/>
              <a:t>Embaralha os itens de uma lista no lugar, ou seja, a lista original é modificada.</a:t>
            </a:r>
          </a:p>
          <a:p>
            <a:endParaRPr lang="pt-BR" dirty="0"/>
          </a:p>
          <a:p>
            <a:r>
              <a:rPr lang="pt-BR" b="1" dirty="0" err="1">
                <a:solidFill>
                  <a:srgbClr val="FFC000"/>
                </a:solidFill>
              </a:rPr>
              <a:t>random.sample</a:t>
            </a:r>
            <a:r>
              <a:rPr lang="pt-BR" b="1" dirty="0">
                <a:solidFill>
                  <a:srgbClr val="FFC000"/>
                </a:solidFill>
              </a:rPr>
              <a:t>(população, k)</a:t>
            </a:r>
            <a:r>
              <a:rPr lang="pt-BR" dirty="0">
                <a:solidFill>
                  <a:srgbClr val="FFC000"/>
                </a:solidFill>
              </a:rPr>
              <a:t>: </a:t>
            </a:r>
            <a:r>
              <a:rPr lang="pt-BR" dirty="0"/>
              <a:t>Retorna uma nova lista com k elementos únicos escolhidos aleatoriamente da população (que pode ser uma lista ou tupla). É útil para sortear vários vencedores sem repetição.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dirty="0">
                <a:latin typeface="Arial" panose="020B0604020202020204" pitchFamily="34" charset="0"/>
              </a:rPr>
              <a:t>A seguir temos um exemplo de código utilizando essa biblioteca.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406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69062-7A09-A485-BDF4-E2D293AA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7" descr="Plano de fundo digital de pontos de dados">
            <a:extLst>
              <a:ext uri="{FF2B5EF4-FFF2-40B4-BE49-F238E27FC236}">
                <a16:creationId xmlns:a16="http://schemas.microsoft.com/office/drawing/2014/main" id="{C42C2A96-D771-B1B9-1DE2-293D836CB0D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3E41FD40-6067-D3A5-30D4-10D06804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555" y="456260"/>
            <a:ext cx="10718275" cy="587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 err="1">
                <a:latin typeface="Arial" panose="020B0604020202020204" pitchFamily="34" charset="0"/>
              </a:rPr>
              <a:t>import</a:t>
            </a:r>
            <a:r>
              <a:rPr lang="pt-BR" altLang="pt-BR" sz="2000" b="1" dirty="0">
                <a:latin typeface="Arial" panose="020B0604020202020204" pitchFamily="34" charset="0"/>
              </a:rPr>
              <a:t> </a:t>
            </a:r>
            <a:r>
              <a:rPr lang="pt-BR" altLang="pt-BR" sz="2000" b="1" dirty="0" err="1">
                <a:latin typeface="Arial" panose="020B0604020202020204" pitchFamily="34" charset="0"/>
              </a:rPr>
              <a:t>random</a:t>
            </a:r>
            <a:endParaRPr lang="pt-BR" altLang="pt-BR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	</a:t>
            </a:r>
            <a:r>
              <a:rPr lang="pt-BR" altLang="pt-BR" sz="2000" b="1" i="1" dirty="0">
                <a:latin typeface="Arial" panose="020B0604020202020204" pitchFamily="34" charset="0"/>
              </a:rPr>
              <a:t># 1. Definir a lista de nomes que você quer usar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 err="1">
                <a:latin typeface="Arial" panose="020B0604020202020204" pitchFamily="34" charset="0"/>
              </a:rPr>
              <a:t>nomes_lista</a:t>
            </a:r>
            <a:r>
              <a:rPr lang="pt-BR" altLang="pt-BR" sz="2000" b="1" dirty="0">
                <a:latin typeface="Arial" panose="020B0604020202020204" pitchFamily="34" charset="0"/>
              </a:rPr>
              <a:t> = ["Alice", "Bob", "Carlos", "Diana", "Eva", "Fábio", "Giovana"]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	</a:t>
            </a:r>
            <a:r>
              <a:rPr lang="pt-BR" altLang="pt-BR" sz="2000" b="1" i="1" dirty="0">
                <a:latin typeface="Arial" panose="020B0604020202020204" pitchFamily="34" charset="0"/>
              </a:rPr>
              <a:t># 2. Verificar se a lista não está vazia para evitar erros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 err="1">
                <a:latin typeface="Arial" panose="020B0604020202020204" pitchFamily="34" charset="0"/>
              </a:rPr>
              <a:t>if</a:t>
            </a:r>
            <a:r>
              <a:rPr lang="pt-BR" altLang="pt-BR" sz="2000" b="1" dirty="0">
                <a:latin typeface="Arial" panose="020B0604020202020204" pitchFamily="34" charset="0"/>
              </a:rPr>
              <a:t> </a:t>
            </a:r>
            <a:r>
              <a:rPr lang="pt-BR" altLang="pt-BR" sz="2000" b="1" dirty="0" err="1">
                <a:latin typeface="Arial" panose="020B0604020202020204" pitchFamily="34" charset="0"/>
              </a:rPr>
              <a:t>nomes_lista</a:t>
            </a:r>
            <a:r>
              <a:rPr lang="pt-BR" altLang="pt-BR" sz="2000" b="1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    	</a:t>
            </a:r>
            <a:r>
              <a:rPr lang="pt-BR" altLang="pt-BR" sz="2000" b="1" i="1" dirty="0">
                <a:latin typeface="Arial" panose="020B0604020202020204" pitchFamily="34" charset="0"/>
              </a:rPr>
              <a:t># 3. Usar a função </a:t>
            </a:r>
            <a:r>
              <a:rPr lang="pt-BR" altLang="pt-BR" sz="2000" b="1" i="1" dirty="0" err="1">
                <a:latin typeface="Arial" panose="020B0604020202020204" pitchFamily="34" charset="0"/>
              </a:rPr>
              <a:t>random.choice</a:t>
            </a:r>
            <a:r>
              <a:rPr lang="pt-BR" altLang="pt-BR" sz="2000" b="1" i="1" dirty="0">
                <a:latin typeface="Arial" panose="020B0604020202020204" pitchFamily="34" charset="0"/>
              </a:rPr>
              <a:t>() para escolher um nome aleatoriamente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    </a:t>
            </a:r>
            <a:r>
              <a:rPr lang="pt-BR" altLang="pt-BR" sz="2000" b="1" dirty="0" err="1">
                <a:latin typeface="Arial" panose="020B0604020202020204" pitchFamily="34" charset="0"/>
              </a:rPr>
              <a:t>nome_escolhido</a:t>
            </a:r>
            <a:r>
              <a:rPr lang="pt-BR" altLang="pt-BR" sz="2000" b="1" dirty="0">
                <a:latin typeface="Arial" panose="020B0604020202020204" pitchFamily="34" charset="0"/>
              </a:rPr>
              <a:t> = </a:t>
            </a:r>
            <a:r>
              <a:rPr lang="pt-BR" altLang="pt-BR" sz="2000" b="1" dirty="0" err="1">
                <a:latin typeface="Arial" panose="020B0604020202020204" pitchFamily="34" charset="0"/>
              </a:rPr>
              <a:t>random.choice</a:t>
            </a:r>
            <a:r>
              <a:rPr lang="pt-BR" altLang="pt-BR" sz="2000" b="1" dirty="0">
                <a:latin typeface="Arial" panose="020B0604020202020204" pitchFamily="34" charset="0"/>
              </a:rPr>
              <a:t>(</a:t>
            </a:r>
            <a:r>
              <a:rPr lang="pt-BR" altLang="pt-BR" sz="2000" b="1" dirty="0" err="1">
                <a:latin typeface="Arial" panose="020B0604020202020204" pitchFamily="34" charset="0"/>
              </a:rPr>
              <a:t>nomes_lista</a:t>
            </a:r>
            <a:r>
              <a:rPr lang="pt-BR" altLang="pt-BR" sz="20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    	</a:t>
            </a:r>
            <a:r>
              <a:rPr lang="pt-BR" altLang="pt-BR" sz="2000" b="1" i="1" dirty="0">
                <a:latin typeface="Arial" panose="020B0604020202020204" pitchFamily="34" charset="0"/>
              </a:rPr>
              <a:t># 4. Exibir o resultado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    print("A lista de participantes é:", </a:t>
            </a:r>
            <a:r>
              <a:rPr lang="pt-BR" altLang="pt-BR" sz="2000" b="1" dirty="0" err="1">
                <a:latin typeface="Arial" panose="020B0604020202020204" pitchFamily="34" charset="0"/>
              </a:rPr>
              <a:t>nomes_lista</a:t>
            </a:r>
            <a:r>
              <a:rPr lang="pt-BR" altLang="pt-BR" sz="2000" b="1" dirty="0">
                <a:latin typeface="Arial" panose="020B0604020202020204" pitchFamily="34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    print("---")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    print(</a:t>
            </a:r>
            <a:r>
              <a:rPr lang="pt-BR" altLang="pt-BR" sz="2000" b="1" dirty="0" err="1">
                <a:latin typeface="Arial" panose="020B0604020202020204" pitchFamily="34" charset="0"/>
              </a:rPr>
              <a:t>f"O</a:t>
            </a:r>
            <a:r>
              <a:rPr lang="pt-BR" altLang="pt-BR" sz="2000" b="1" dirty="0">
                <a:latin typeface="Arial" panose="020B0604020202020204" pitchFamily="34" charset="0"/>
              </a:rPr>
              <a:t> nome escolhido aleatoriamente foi: {</a:t>
            </a:r>
            <a:r>
              <a:rPr lang="pt-BR" altLang="pt-BR" sz="2000" b="1" dirty="0" err="1">
                <a:latin typeface="Arial" panose="020B0604020202020204" pitchFamily="34" charset="0"/>
              </a:rPr>
              <a:t>nome_escolhido</a:t>
            </a:r>
            <a:r>
              <a:rPr lang="pt-BR" altLang="pt-BR" sz="2000" b="1" dirty="0">
                <a:latin typeface="Arial" panose="020B0604020202020204" pitchFamily="34" charset="0"/>
              </a:rPr>
              <a:t>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altLang="pt-BR" sz="20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 err="1">
                <a:latin typeface="Arial" panose="020B0604020202020204" pitchFamily="34" charset="0"/>
              </a:rPr>
              <a:t>else</a:t>
            </a:r>
            <a:r>
              <a:rPr lang="pt-BR" altLang="pt-BR" sz="2000" b="1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2000" b="1" dirty="0">
                <a:latin typeface="Arial" panose="020B0604020202020204" pitchFamily="34" charset="0"/>
              </a:rPr>
              <a:t>    print("A lista de nomes está vazia. Por favor, adicione nomes para poder sortear.")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dirty="0">
                <a:latin typeface="Arial" panose="020B0604020202020204" pitchFamily="34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59309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A8C23-D261-566B-A89E-73A9F8B5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Estante com livros">
            <a:extLst>
              <a:ext uri="{FF2B5EF4-FFF2-40B4-BE49-F238E27FC236}">
                <a16:creationId xmlns:a16="http://schemas.microsoft.com/office/drawing/2014/main" id="{FAECA6D0-81A2-9702-2A29-5B5CF71D2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833">
            <a:off x="4053716" y="883300"/>
            <a:ext cx="7715496" cy="55387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20B8DC-2740-DA5A-5625-6551DAE8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4"/>
            <a:ext cx="5545137" cy="1028005"/>
          </a:xfrm>
          <a:solidFill>
            <a:schemeClr val="bg1">
              <a:alpha val="20000"/>
            </a:schemeClr>
          </a:solidFill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Python: Framework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72FD82-95E7-98A0-B914-DF2B880972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4248472"/>
            <a:ext cx="9139892" cy="728880"/>
          </a:xfrm>
          <a:solidFill>
            <a:schemeClr val="bg1">
              <a:alpha val="45000"/>
            </a:schemeClr>
          </a:solidFill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sz="2800" dirty="0">
                <a:solidFill>
                  <a:srgbClr val="FFFF00"/>
                </a:solidFill>
              </a:rPr>
              <a:t>Introdução: O que é um Framework para Linguagem Python?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0467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66CB-E1FF-5E2C-F363-9A5F7F32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16104-431E-F481-7074-0D4D66B6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483924"/>
            <a:ext cx="11850986" cy="1055165"/>
          </a:xfrm>
        </p:spPr>
        <p:txBody>
          <a:bodyPr>
            <a:normAutofit/>
          </a:bodyPr>
          <a:lstStyle/>
          <a:p>
            <a:r>
              <a:rPr lang="pt-BR" sz="3800" dirty="0"/>
              <a:t>Biblioteca – coleção de Ferramentas, Funções e módulos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AF0FE-6176-2A8D-BAC3-19B26340D97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1638677"/>
            <a:ext cx="11090274" cy="4735399"/>
          </a:xfrm>
        </p:spPr>
        <p:txBody>
          <a:bodyPr>
            <a:normAutofit/>
          </a:bodyPr>
          <a:lstStyle/>
          <a:p>
            <a:endParaRPr lang="pt-BR" dirty="0"/>
          </a:p>
          <a:p>
            <a:pPr algn="just"/>
            <a:r>
              <a:rPr lang="pt-BR" sz="2000" dirty="0"/>
              <a:t>	Framework é uma coleção de módulos Python que fornece um conjunto de funcionalidades comuns que podem ser usadas como uma estrutura para a criação de softwares de qualquer tipo.</a:t>
            </a:r>
          </a:p>
          <a:p>
            <a:pPr algn="just"/>
            <a:r>
              <a:rPr lang="pt-BR" sz="2000" dirty="0"/>
              <a:t>	Os frameworks são projetados para simplificar o processo de desenvolvimento, fornecendo uma diretriz geral sobre como devemos criar software e abstraindo algumas das tarefas mais complexas ou repetitivas. Isso permite que você se concentre em escrever uma lógica exclusiva e personalizada para seus aplicativos, em vez de ter que construir tudo do zero.</a:t>
            </a:r>
          </a:p>
          <a:p>
            <a:r>
              <a:rPr lang="pt-BR" dirty="0"/>
              <a:t>	Uma tarefa repetitiva seria o tratamento de solicitações HTTP. Como a maioria dos aplicativos da internet precisa lidar com esse tipo de solicitações, os desenvolvedores usam frameworks existentes que facilitam essa função em vez de escrever tudo do zero ou reutilizar o mesmo código em diferentes projetos.</a:t>
            </a:r>
          </a:p>
        </p:txBody>
      </p:sp>
    </p:spTree>
    <p:extLst>
      <p:ext uri="{BB962C8B-B14F-4D97-AF65-F5344CB8AC3E}">
        <p14:creationId xmlns:p14="http://schemas.microsoft.com/office/powerpoint/2010/main" val="2811447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8A8D-C4DF-1A87-CC4D-AE559488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D7B42-32CB-7302-A1CA-B968802E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483924"/>
            <a:ext cx="11850986" cy="1055165"/>
          </a:xfrm>
        </p:spPr>
        <p:txBody>
          <a:bodyPr>
            <a:normAutofit/>
          </a:bodyPr>
          <a:lstStyle/>
          <a:p>
            <a:r>
              <a:rPr lang="pt-BR" sz="3800" dirty="0"/>
              <a:t>Tipos de Frameworks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B132ED-2FDA-C9F0-D4CB-0DBE1E811F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1638677"/>
            <a:ext cx="11090274" cy="4735399"/>
          </a:xfrm>
        </p:spPr>
        <p:txBody>
          <a:bodyPr>
            <a:normAutofit/>
          </a:bodyPr>
          <a:lstStyle/>
          <a:p>
            <a:endParaRPr lang="pt-BR" dirty="0"/>
          </a:p>
          <a:p>
            <a:pPr algn="just"/>
            <a:r>
              <a:rPr lang="pt-BR" sz="2000" dirty="0"/>
              <a:t>	A linguagem Python tem uma variedade de frameworks disponíveis para diferentes tipos de desenvolvimento.</a:t>
            </a:r>
          </a:p>
          <a:p>
            <a:pPr algn="just"/>
            <a:r>
              <a:rPr lang="pt-BR" sz="2000" dirty="0"/>
              <a:t>		Tipo: Framework Full-</a:t>
            </a:r>
            <a:r>
              <a:rPr lang="pt-BR" sz="2000" dirty="0" err="1"/>
              <a:t>Stak</a:t>
            </a:r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		Tipo: </a:t>
            </a:r>
            <a:r>
              <a:rPr lang="pt-BR" sz="2000" dirty="0" err="1"/>
              <a:t>Microframework</a:t>
            </a:r>
            <a:endParaRPr lang="pt-BR" sz="2000" dirty="0"/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		Tipo: Frameworks Assíncronos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8738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606B2-4345-B8BB-930D-28CB10608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CB9D7-1018-C36A-AA3F-526CBD40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483924"/>
            <a:ext cx="11850986" cy="1055165"/>
          </a:xfrm>
        </p:spPr>
        <p:txBody>
          <a:bodyPr>
            <a:normAutofit/>
          </a:bodyPr>
          <a:lstStyle/>
          <a:p>
            <a:r>
              <a:rPr lang="pt-BR" sz="3800" dirty="0"/>
              <a:t>Tipo: Frameworks </a:t>
            </a:r>
            <a:r>
              <a:rPr lang="pt-BR" sz="3800" dirty="0" err="1"/>
              <a:t>Full-Stack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775046-DBDB-FEAF-21ED-7524F2B24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1638677"/>
            <a:ext cx="11090274" cy="4735399"/>
          </a:xfrm>
        </p:spPr>
        <p:txBody>
          <a:bodyPr>
            <a:normAutofit/>
          </a:bodyPr>
          <a:lstStyle/>
          <a:p>
            <a:endParaRPr lang="pt-BR" dirty="0"/>
          </a:p>
          <a:p>
            <a:pPr algn="just"/>
            <a:r>
              <a:rPr lang="pt-BR" sz="2000" dirty="0"/>
              <a:t>	Framework </a:t>
            </a:r>
            <a:r>
              <a:rPr lang="pt-BR" sz="2000" dirty="0" err="1"/>
              <a:t>Full-Stack</a:t>
            </a:r>
            <a:r>
              <a:rPr lang="pt-BR" sz="2000" dirty="0"/>
              <a:t> é um conjunto de ferramentas que fornece tudo o que um desenvolvedor precisa para criar um aplicativo (software) web completo do início ao fim.</a:t>
            </a:r>
          </a:p>
          <a:p>
            <a:pPr algn="just"/>
            <a:r>
              <a:rPr lang="pt-BR" sz="2000" dirty="0"/>
              <a:t>	Isso inclui uma maneira de criar o </a:t>
            </a:r>
            <a:r>
              <a:rPr lang="pt-BR" sz="2000" dirty="0" err="1"/>
              <a:t>frontend</a:t>
            </a:r>
            <a:r>
              <a:rPr lang="pt-BR" sz="2000" dirty="0"/>
              <a:t> como por exemplo, um sistema de </a:t>
            </a:r>
            <a:r>
              <a:rPr lang="pt-BR" sz="2000" dirty="0" err="1"/>
              <a:t>templates</a:t>
            </a:r>
            <a:r>
              <a:rPr lang="pt-BR" sz="2000" dirty="0"/>
              <a:t> e uma abordagem para exibir informações ao usuário, e o </a:t>
            </a:r>
            <a:r>
              <a:rPr lang="pt-BR" sz="2000" dirty="0" err="1"/>
              <a:t>backend</a:t>
            </a:r>
            <a:r>
              <a:rPr lang="pt-BR" sz="2000" dirty="0"/>
              <a:t> que inclui funcionalidades comuns, como a criação de registros do banco de dados, o tratamento de solicitações HTTP e o controle da segurança do software/aplicativo.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64681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EACFD-DE2D-0319-75D7-FB3328083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08F16-A06C-176D-320C-C1F04B20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483924"/>
            <a:ext cx="11850986" cy="1055165"/>
          </a:xfrm>
        </p:spPr>
        <p:txBody>
          <a:bodyPr>
            <a:normAutofit/>
          </a:bodyPr>
          <a:lstStyle/>
          <a:p>
            <a:r>
              <a:rPr lang="pt-BR" sz="3800" dirty="0"/>
              <a:t>Tipo: </a:t>
            </a:r>
            <a:r>
              <a:rPr lang="pt-BR" sz="3800" dirty="0" err="1"/>
              <a:t>Microframeworks</a:t>
            </a:r>
            <a:endParaRPr lang="pt-BR" sz="38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2F3C6F-5C02-DF36-68EC-7FD0D55DC4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1638677"/>
            <a:ext cx="11090274" cy="4735399"/>
          </a:xfrm>
        </p:spPr>
        <p:txBody>
          <a:bodyPr>
            <a:normAutofit/>
          </a:bodyPr>
          <a:lstStyle/>
          <a:p>
            <a:endParaRPr lang="pt-BR" dirty="0"/>
          </a:p>
          <a:p>
            <a:pPr algn="just"/>
            <a:r>
              <a:rPr lang="pt-BR" sz="2000" dirty="0"/>
              <a:t>	</a:t>
            </a:r>
            <a:r>
              <a:rPr lang="pt-BR" sz="2000" dirty="0" err="1"/>
              <a:t>Microframework</a:t>
            </a:r>
            <a:r>
              <a:rPr lang="pt-BR" sz="2000" dirty="0"/>
              <a:t> é um </a:t>
            </a:r>
            <a:r>
              <a:rPr lang="pt-BR" sz="2000" dirty="0" err="1"/>
              <a:t>framewrok</a:t>
            </a:r>
            <a:r>
              <a:rPr lang="pt-BR" sz="2000" dirty="0"/>
              <a:t> minimalista que fornece apenas os componentes essenciais necessários para criar algum tipo de aplicativo/software.</a:t>
            </a:r>
          </a:p>
          <a:p>
            <a:pPr algn="just"/>
            <a:r>
              <a:rPr lang="pt-BR" sz="2000" dirty="0"/>
              <a:t>	Foram projetados para serem leves e fácil de estender, tornando uma boa opção para projetos pequenos ou para desenvolvedores que desejam ter mais controle sobre seus códigos.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8786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C93F3-5F4A-A67B-E010-99DA4D62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E7E0E-904F-2324-4EA8-974BB572C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02" y="483924"/>
            <a:ext cx="11850986" cy="1055165"/>
          </a:xfrm>
        </p:spPr>
        <p:txBody>
          <a:bodyPr>
            <a:normAutofit/>
          </a:bodyPr>
          <a:lstStyle/>
          <a:p>
            <a:r>
              <a:rPr lang="pt-BR" sz="3800" dirty="0"/>
              <a:t>Tipo: Frameworks Assíncronos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A64D94-3B4E-F430-C246-7A6BC82AA5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4" y="1638677"/>
            <a:ext cx="11090274" cy="4735399"/>
          </a:xfrm>
        </p:spPr>
        <p:txBody>
          <a:bodyPr>
            <a:normAutofit/>
          </a:bodyPr>
          <a:lstStyle/>
          <a:p>
            <a:endParaRPr lang="pt-BR" dirty="0"/>
          </a:p>
          <a:p>
            <a:pPr algn="just"/>
            <a:r>
              <a:rPr lang="pt-BR" sz="2000" dirty="0"/>
              <a:t>	</a:t>
            </a:r>
          </a:p>
          <a:p>
            <a:pPr algn="just"/>
            <a:r>
              <a:rPr lang="pt-BR" sz="2000" dirty="0"/>
              <a:t>	Um </a:t>
            </a:r>
            <a:r>
              <a:rPr lang="pt-BR" sz="2000" dirty="0" err="1"/>
              <a:t>Framewrok</a:t>
            </a:r>
            <a:r>
              <a:rPr lang="pt-BR" sz="2000" dirty="0"/>
              <a:t> Assíncrono é projetado para lidar com a concorrência e paralelismo, permitindo que os desenvolvedores construam aplicativos que possam realizar múltiplas tarefas simultaneamente.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41633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Obrigado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4773168"/>
            <a:ext cx="5179330" cy="1579696"/>
          </a:xfrm>
          <a:noFill/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Wellington S. S. Silva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guitomw@outlook.com</a:t>
            </a:r>
          </a:p>
        </p:txBody>
      </p:sp>
      <p:pic>
        <p:nvPicPr>
          <p:cNvPr id="25" name="Espaço Reservado para Imagem 24" descr="Imagem ampliada de uma rede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43_TF33713516_Win32" id="{381BE384-4E88-40D9-BE21-FE65AFA21B4D}" vid="{52A1BC7B-5E05-4786-AE3A-7C32E2BD0D9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{D4B1B551-CF5F-4749-BE22-BA7347A4FEAF}tf33713516_win32</Template>
  <TotalTime>1373</TotalTime>
  <Words>3942</Words>
  <Application>Microsoft Office PowerPoint</Application>
  <PresentationFormat>Widescreen</PresentationFormat>
  <Paragraphs>483</Paragraphs>
  <Slides>31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Arial</vt:lpstr>
      <vt:lpstr>Calibri</vt:lpstr>
      <vt:lpstr>Gill Sans MT</vt:lpstr>
      <vt:lpstr>Walbaum Display</vt:lpstr>
      <vt:lpstr>3DFloatVTI</vt:lpstr>
      <vt:lpstr>Linguagem de Programação Back-End</vt:lpstr>
      <vt:lpstr>Python: Bibliotecas</vt:lpstr>
      <vt:lpstr>Biblioteca – coleção de Ferramentas, Funções e módulos</vt:lpstr>
      <vt:lpstr>Algumas das Bibliotecas mais utilizadas</vt:lpstr>
      <vt:lpstr>Biblioteca – NumPy (Numerical Python)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Biblioteca – TensorFlow e PyTorch</vt:lpstr>
      <vt:lpstr>Apresentação do PowerPoint</vt:lpstr>
      <vt:lpstr>Apresentação do PowerPoint</vt:lpstr>
      <vt:lpstr>Biblioteca – Requests</vt:lpstr>
      <vt:lpstr>Apresentação do PowerPoint</vt:lpstr>
      <vt:lpstr>Biblioteca – Django e Flask</vt:lpstr>
      <vt:lpstr>Apresentação do PowerPoint</vt:lpstr>
      <vt:lpstr>Apresentação do PowerPoint</vt:lpstr>
      <vt:lpstr>Biblioteca – Random</vt:lpstr>
      <vt:lpstr>Biblioteca – Random</vt:lpstr>
      <vt:lpstr>Apresentação do PowerPoint</vt:lpstr>
      <vt:lpstr>Python: Framework</vt:lpstr>
      <vt:lpstr>Biblioteca – coleção de Ferramentas, Funções e módulos</vt:lpstr>
      <vt:lpstr>Tipos de Frameworks Python</vt:lpstr>
      <vt:lpstr>Tipo: Frameworks Full-Stack</vt:lpstr>
      <vt:lpstr>Tipo: Microframeworks</vt:lpstr>
      <vt:lpstr>Tipo: Frameworks Assíncronos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Wellington Serafim Dos Santos Silva</dc:creator>
  <cp:lastModifiedBy>CFP 507  Escola SENAI - Americana</cp:lastModifiedBy>
  <cp:revision>40</cp:revision>
  <dcterms:created xsi:type="dcterms:W3CDTF">2025-07-31T14:19:03Z</dcterms:created>
  <dcterms:modified xsi:type="dcterms:W3CDTF">2025-10-09T11:59:09Z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