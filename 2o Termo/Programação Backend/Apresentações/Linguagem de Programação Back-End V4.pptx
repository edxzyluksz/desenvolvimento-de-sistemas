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1"/>
  </p:notesMasterIdLst>
  <p:handoutMasterIdLst>
    <p:handoutMasterId r:id="rId32"/>
  </p:handoutMasterIdLst>
  <p:sldIdLst>
    <p:sldId id="278" r:id="rId5"/>
    <p:sldId id="282" r:id="rId6"/>
    <p:sldId id="293" r:id="rId7"/>
    <p:sldId id="271" r:id="rId8"/>
    <p:sldId id="330" r:id="rId9"/>
    <p:sldId id="331" r:id="rId10"/>
    <p:sldId id="294" r:id="rId11"/>
    <p:sldId id="332" r:id="rId12"/>
    <p:sldId id="283" r:id="rId13"/>
    <p:sldId id="284" r:id="rId14"/>
    <p:sldId id="333" r:id="rId15"/>
    <p:sldId id="334" r:id="rId16"/>
    <p:sldId id="285" r:id="rId17"/>
    <p:sldId id="309" r:id="rId18"/>
    <p:sldId id="310" r:id="rId19"/>
    <p:sldId id="311" r:id="rId20"/>
    <p:sldId id="335" r:id="rId21"/>
    <p:sldId id="336" r:id="rId22"/>
    <p:sldId id="337" r:id="rId23"/>
    <p:sldId id="312" r:id="rId24"/>
    <p:sldId id="338" r:id="rId25"/>
    <p:sldId id="340" r:id="rId26"/>
    <p:sldId id="341" r:id="rId27"/>
    <p:sldId id="342" r:id="rId28"/>
    <p:sldId id="339" r:id="rId29"/>
    <p:sldId id="292" r:id="rId3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521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FCF5D6B5-35B7-4285-9A4D-92ED5F34F328}" type="datetime1">
              <a:rPr lang="pt-BR" smtClean="0"/>
              <a:t>23/10/2025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FA70580-B89C-4157-871D-6B9318EE5F5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CFF1DF4-D409-4130-8A44-0FEC7A586139}" type="datetime1">
              <a:rPr lang="pt-BR" smtClean="0"/>
              <a:pPr/>
              <a:t>23/10/2025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7AF00E9-A49D-4007-B3B9-A3783809E50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44A83-330E-0FEC-0391-EA24E86A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8FC09FE-5332-11B8-6940-C85AA75E6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ACB3978-8A83-E68B-6623-BA2DD619D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AB5F0FE-5E38-F0E4-780F-66489644E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5148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631A-C4B4-174F-B328-D5BB5376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71493CE-11F4-31F3-3AF9-357A0FE48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CB1CFA0-A6A3-CE34-0C03-650503CEE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9198850-C321-09F5-49E8-35026D8C1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955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4BE0-A437-09B4-3C75-316E58FD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48F8A97-C292-3DD9-8390-6A1758DC8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3F7FEE0-7392-CC9F-32D0-46F207B59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D5D9667-552D-B7B1-7DC1-0EC48BDF4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6824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8846E-FB61-F891-DF1F-C7073356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DE84D26-416D-9D66-6AC9-2C4CA951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BA78A8E-3E9A-4DDB-FA54-71CC819D7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60CA27D-8115-443E-AEB2-7F3ADE7C8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0063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ABEDD-7FE8-1A67-C17D-FFD6A26AC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FE7660C-5D53-C3EA-DA55-25816EC43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C5F0A0B-A6DD-ADBB-0F5C-FB4B384B8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F88FC4B-0D7D-BE9B-4300-35830078A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0421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92E8C-7876-3129-13A7-A32F3966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EAF9E30-DD39-8940-CAF1-3EE5F3237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B15DF16-210A-D979-3416-F242FC0E2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86968D9-E72C-1E57-B7FE-692F97C82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6838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21D0-0270-3B1E-260F-08BF509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2799EAC-0741-0E2A-0627-46C895E7B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D9434BD-C9D4-EEB8-FB28-4CA2880E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9338CE1-63FB-DB57-04C8-EA26128F5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891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369A-3384-1F68-DCFA-FD5A7A81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702D3EC-BBE2-3676-A8AB-651824706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DE48460-F980-6B1F-01D1-EEDBC4044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C775F49-1637-C3C6-1003-BA40A5112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0441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C6A3-AB93-0C2E-7181-1BAA10E7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5E05A01-239B-3E70-A6EA-AD48F0853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CC53C22-C536-5D4D-859A-5D6E503B7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549210B-B2B7-F753-8A9E-4BC6696C3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6115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FD0E-A91D-B3E2-7ECC-6E10E1B1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60C390A-7866-B60A-AD1E-82EE5FB60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24CA4AC-F83C-2654-7310-6AD833D59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EA045D4-8C88-B3D2-6CF9-E89F30842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5213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DFF0-6C56-A444-62BA-04BC70E4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2FF1848-3DB8-8B87-8731-EA8743D86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2438F3A-44DF-4B46-C9F1-C02690CF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E5A9392-FF4E-5B6B-61E5-A4A1AAC2E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2270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65A2-302F-0B78-07FC-6C2C60FA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73177E8-4F19-A94E-692D-405347D17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160A2EC-9C16-5270-9AB1-67AC501CE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A7B6463-F0BB-8B96-A314-30529ECC6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2809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2895-B359-E120-C1A8-0B3B03260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1B16BA1-30A3-1638-7CA5-D3D214F63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56D692C-0F31-A445-D93F-6A4BEC9D3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0C0832A-C52B-E287-3377-2E20E44C8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5731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4D43-7004-9ABE-B52F-DF413B8A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F1345ED-AB40-9C54-DFA1-B20B6E6B5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7F597C0-2172-21CB-9480-7B60D4332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71FF742-EBA7-8787-6E9A-7B09D7F74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62624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9B8E3-5DB5-0BC1-3E17-37C15919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649BC0A-AF6A-1B8A-34F9-520136A3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51913D1-ADC6-B5D5-FC20-1E9DB6EE6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2155831-9CCE-2E28-A977-D30A27DA4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8440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4854-A3FB-48C5-AB40-0A394D88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6760CE1-7579-5E5D-F12B-40B23F3A4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8F21092-E951-79DC-08D6-CD4996B7E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D90DF22-E65F-F28A-7F28-BCF35A871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5843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 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v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v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v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v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3" name="Forma Liv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v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v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v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pt-BR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v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Forma liv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pt-BR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v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pt-BR" sz="6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88" r:id="rId8"/>
    <p:sldLayoutId id="2147483686" r:id="rId9"/>
    <p:sldLayoutId id="214748368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4302255"/>
          </a:xfrm>
          <a:noFill/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Linguagem de Programação Back-</a:t>
            </a:r>
            <a:r>
              <a:rPr lang="pt-BR" dirty="0" err="1"/>
              <a:t>End</a:t>
            </a:r>
            <a:endParaRPr lang="pt-BR" dirty="0"/>
          </a:p>
        </p:txBody>
      </p:sp>
      <p:pic>
        <p:nvPicPr>
          <p:cNvPr id="8" name="Espaço Reservado para Imagem 13" descr="Tela de fundo digital de pontos de dad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A935D48-0C4A-CDBB-2DC4-A015CCD2232A}"/>
              </a:ext>
            </a:extLst>
          </p:cNvPr>
          <p:cNvSpPr txBox="1"/>
          <p:nvPr/>
        </p:nvSpPr>
        <p:spPr>
          <a:xfrm>
            <a:off x="8750808" y="6185919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Prof. Wellington S. S. Silva</a:t>
            </a: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stante com livros">
            <a:extLst>
              <a:ext uri="{FF2B5EF4-FFF2-40B4-BE49-F238E27FC236}">
                <a16:creationId xmlns:a16="http://schemas.microsoft.com/office/drawing/2014/main" id="{76A63FB3-B8C4-7836-7C5E-BF2F4EEBC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833">
            <a:off x="4053716" y="883300"/>
            <a:ext cx="7715496" cy="55387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39" y="923455"/>
            <a:ext cx="9109995" cy="832918"/>
          </a:xfrm>
          <a:solidFill>
            <a:schemeClr val="bg1">
              <a:alpha val="20000"/>
            </a:schemeClr>
          </a:solidFill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Python: Bibliotecas Gráficas (GUI)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3839" y="4746412"/>
            <a:ext cx="11164322" cy="939164"/>
          </a:xfrm>
          <a:solidFill>
            <a:schemeClr val="bg1">
              <a:alpha val="45000"/>
            </a:schemeClr>
          </a:solidFill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2800" dirty="0">
                <a:solidFill>
                  <a:srgbClr val="FFFF00"/>
                </a:solidFill>
              </a:rPr>
              <a:t>Introdução: Como funciona uma Biblioteca Gráfica em  Linguagem Python?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8B42C-B887-1278-0748-424514C4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Biblioteca Gráficas – O que são e como funcionam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034668-0363-5B8A-87E2-FED7535C3B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58" y="1895376"/>
            <a:ext cx="11090274" cy="4183137"/>
          </a:xfrm>
        </p:spPr>
        <p:txBody>
          <a:bodyPr>
            <a:normAutofit/>
          </a:bodyPr>
          <a:lstStyle/>
          <a:p>
            <a:endParaRPr lang="pt-BR" sz="2000" dirty="0"/>
          </a:p>
          <a:p>
            <a:r>
              <a:rPr lang="pt-BR" sz="2400" dirty="0"/>
              <a:t>	As </a:t>
            </a:r>
            <a:r>
              <a:rPr lang="pt-BR" sz="2400" b="1" dirty="0"/>
              <a:t>Bibliotecas Gráficas (GUI) do Python</a:t>
            </a:r>
            <a:r>
              <a:rPr lang="pt-BR" sz="2400" dirty="0"/>
              <a:t> são coleções de módulos de código que permitem que você crie </a:t>
            </a:r>
            <a:r>
              <a:rPr lang="pt-BR" sz="2400" b="1" dirty="0"/>
              <a:t>Interfaces Gráficas de Usuário</a:t>
            </a:r>
            <a:r>
              <a:rPr lang="pt-BR" sz="2400" dirty="0"/>
              <a:t> (</a:t>
            </a:r>
            <a:r>
              <a:rPr lang="pt-BR" sz="2400" i="1" dirty="0" err="1"/>
              <a:t>Graphical</a:t>
            </a:r>
            <a:r>
              <a:rPr lang="pt-BR" sz="2400" i="1" dirty="0"/>
              <a:t> </a:t>
            </a:r>
            <a:r>
              <a:rPr lang="pt-BR" sz="2400" i="1" dirty="0" err="1"/>
              <a:t>User</a:t>
            </a:r>
            <a:r>
              <a:rPr lang="pt-BR" sz="2400" i="1" dirty="0"/>
              <a:t> Interfaces</a:t>
            </a:r>
            <a:r>
              <a:rPr lang="pt-BR" sz="2400" dirty="0"/>
              <a:t>).</a:t>
            </a:r>
          </a:p>
          <a:p>
            <a:r>
              <a:rPr lang="pt-BR" sz="2400" dirty="0"/>
              <a:t>	Em termos simples, elas são as ferramentas que transformam um programa de console (que interage apenas por texto no terminal) em um </a:t>
            </a:r>
            <a:r>
              <a:rPr lang="pt-BR" sz="2400" b="1" dirty="0"/>
              <a:t>aplicativo de desktop</a:t>
            </a:r>
            <a:r>
              <a:rPr lang="pt-BR" sz="2400" dirty="0"/>
              <a:t> com elementos visuais interativos.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9246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5" descr="Tela de fundo digital de pontos de dad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35" y="79913"/>
            <a:ext cx="12120465" cy="1899042"/>
          </a:xfrm>
          <a:solidFill>
            <a:schemeClr val="bg2">
              <a:alpha val="48000"/>
            </a:schemeClr>
          </a:solidFill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/>
              <a:t>Algumas das Bibliotecas (GUI) utilizadas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371BF66E-6D74-2E87-01C0-12395A8A722D}"/>
              </a:ext>
            </a:extLst>
          </p:cNvPr>
          <p:cNvSpPr txBox="1">
            <a:spLocks/>
          </p:cNvSpPr>
          <p:nvPr/>
        </p:nvSpPr>
        <p:spPr>
          <a:xfrm>
            <a:off x="4815270" y="2425479"/>
            <a:ext cx="2229343" cy="3771878"/>
          </a:xfrm>
          <a:prstGeom prst="rect">
            <a:avLst/>
          </a:prstGeom>
          <a:solidFill>
            <a:schemeClr val="bg2">
              <a:alpha val="60000"/>
            </a:schemeClr>
          </a:solidFill>
        </p:spPr>
        <p:txBody>
          <a:bodyPr vert="horz" wrap="square" lIns="0" tIns="0" rIns="0" bIns="0" rtlCol="0">
            <a:noAutofit/>
          </a:bodyPr>
          <a:lstStyle>
            <a:defPPr>
              <a:defRPr lang="pt-BR"/>
            </a:defPPr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AutoNum type="arabicPeriod"/>
            </a:pP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Tkinter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PyQt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PySide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Streamlit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D64C-A721-A24B-2EE0-2CA76CAD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5" descr="Tela de fundo digital de pontos de dados">
            <a:extLst>
              <a:ext uri="{FF2B5EF4-FFF2-40B4-BE49-F238E27FC236}">
                <a16:creationId xmlns:a16="http://schemas.microsoft.com/office/drawing/2014/main" id="{F272592A-5CC9-FFC7-6C27-179EA8726E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A199288-221E-AF41-6886-A1D32A9E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" y="520436"/>
            <a:ext cx="11750040" cy="945068"/>
          </a:xfrm>
          <a:solidFill>
            <a:schemeClr val="bg2">
              <a:alpha val="48000"/>
            </a:schemeClr>
          </a:solidFill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/>
              <a:t>Propósito das Bibliotecas (GUI)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C49CE684-859E-5B34-5C7D-4EBC12DF1DAA}"/>
              </a:ext>
            </a:extLst>
          </p:cNvPr>
          <p:cNvSpPr txBox="1">
            <a:spLocks/>
          </p:cNvSpPr>
          <p:nvPr/>
        </p:nvSpPr>
        <p:spPr>
          <a:xfrm>
            <a:off x="412272" y="1981345"/>
            <a:ext cx="11367456" cy="3590254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wrap="square" lIns="0" tIns="0" rIns="0" bIns="0" rtlCol="0">
            <a:noAutofit/>
          </a:bodyPr>
          <a:lstStyle>
            <a:defPPr>
              <a:defRPr lang="pt-BR"/>
            </a:defPPr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400" dirty="0"/>
              <a:t>O propósito fundamental de uma biblioteca GUI é fornecer os blocos de construção e a infraestrutura necessários para:</a:t>
            </a:r>
          </a:p>
          <a:p>
            <a:pPr algn="l"/>
            <a:r>
              <a:rPr lang="pt-BR" sz="2400" b="1" dirty="0"/>
              <a:t>Criar Janelas:</a:t>
            </a:r>
            <a:r>
              <a:rPr lang="pt-BR" sz="2400" dirty="0"/>
              <a:t> Estabelecer a principal área visual do seu aplicativo.</a:t>
            </a:r>
          </a:p>
          <a:p>
            <a:pPr algn="l"/>
            <a:r>
              <a:rPr lang="pt-BR" sz="2400" b="1" dirty="0"/>
              <a:t>Widgets:</a:t>
            </a:r>
            <a:r>
              <a:rPr lang="pt-BR" sz="2400" dirty="0"/>
              <a:t> Fornecer componentes de interface prontos para uso, como:</a:t>
            </a:r>
          </a:p>
          <a:p>
            <a:pPr lvl="1"/>
            <a:r>
              <a:rPr lang="pt-BR" sz="1800" b="1" dirty="0"/>
              <a:t>Botões</a:t>
            </a:r>
            <a:r>
              <a:rPr lang="pt-BR" sz="1800" dirty="0"/>
              <a:t> (</a:t>
            </a:r>
            <a:r>
              <a:rPr lang="pt-BR" sz="1800" dirty="0" err="1"/>
              <a:t>Buttons</a:t>
            </a:r>
            <a:r>
              <a:rPr lang="pt-BR" sz="1800" dirty="0"/>
              <a:t>)</a:t>
            </a:r>
          </a:p>
          <a:p>
            <a:pPr lvl="1"/>
            <a:r>
              <a:rPr lang="pt-BR" sz="1800" b="1" dirty="0"/>
              <a:t>Caixas de Texto</a:t>
            </a:r>
            <a:r>
              <a:rPr lang="pt-BR" sz="1800" dirty="0"/>
              <a:t> (</a:t>
            </a:r>
            <a:r>
              <a:rPr lang="pt-BR" sz="1800" dirty="0" err="1"/>
              <a:t>Entry</a:t>
            </a:r>
            <a:r>
              <a:rPr lang="pt-BR" sz="1800" dirty="0"/>
              <a:t> ou </a:t>
            </a:r>
            <a:r>
              <a:rPr lang="pt-BR" sz="1800" dirty="0" err="1"/>
              <a:t>Text</a:t>
            </a:r>
            <a:r>
              <a:rPr lang="pt-BR" sz="1800" dirty="0"/>
              <a:t> Area)</a:t>
            </a:r>
          </a:p>
          <a:p>
            <a:pPr lvl="1"/>
            <a:r>
              <a:rPr lang="pt-BR" sz="1800" b="1" dirty="0"/>
              <a:t>Rótulos</a:t>
            </a:r>
            <a:r>
              <a:rPr lang="pt-BR" sz="1800" dirty="0"/>
              <a:t> (</a:t>
            </a:r>
            <a:r>
              <a:rPr lang="pt-BR" sz="1800" dirty="0" err="1"/>
              <a:t>Labels</a:t>
            </a:r>
            <a:r>
              <a:rPr lang="pt-BR" sz="1800" dirty="0"/>
              <a:t>)</a:t>
            </a:r>
          </a:p>
          <a:p>
            <a:pPr lvl="1"/>
            <a:r>
              <a:rPr lang="pt-BR" sz="1800" b="1" dirty="0"/>
              <a:t>Menus</a:t>
            </a:r>
            <a:r>
              <a:rPr lang="pt-BR" sz="1800" dirty="0"/>
              <a:t> (Menus)</a:t>
            </a:r>
          </a:p>
          <a:p>
            <a:pPr lvl="1"/>
            <a:r>
              <a:rPr lang="pt-BR" sz="1800" b="1" dirty="0"/>
              <a:t>Caixas de Seleção</a:t>
            </a:r>
            <a:r>
              <a:rPr lang="pt-BR" sz="1800" dirty="0"/>
              <a:t> (</a:t>
            </a:r>
            <a:r>
              <a:rPr lang="pt-BR" sz="1800" dirty="0" err="1"/>
              <a:t>Checkboxes</a:t>
            </a:r>
            <a:r>
              <a:rPr lang="pt-BR" sz="1800" dirty="0"/>
              <a:t>) e </a:t>
            </a:r>
            <a:r>
              <a:rPr lang="pt-BR" sz="1800" b="1" dirty="0"/>
              <a:t>Botões de Rádio</a:t>
            </a:r>
            <a:r>
              <a:rPr lang="pt-BR" sz="1800" dirty="0"/>
              <a:t> (Radio </a:t>
            </a:r>
            <a:r>
              <a:rPr lang="pt-BR" sz="1800" dirty="0" err="1"/>
              <a:t>Buttons</a:t>
            </a:r>
            <a:r>
              <a:rPr lang="pt-BR" sz="1800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486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46E8-1F64-A8A8-D43E-7C1280EC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5" descr="Tela de fundo digital de pontos de dados">
            <a:extLst>
              <a:ext uri="{FF2B5EF4-FFF2-40B4-BE49-F238E27FC236}">
                <a16:creationId xmlns:a16="http://schemas.microsoft.com/office/drawing/2014/main" id="{AD06D9A2-BAC1-DC79-85FD-39D0A666D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1A5BEBC-0548-C6E5-4E5E-04010FF03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375" y="584390"/>
            <a:ext cx="11750040" cy="945068"/>
          </a:xfrm>
          <a:solidFill>
            <a:schemeClr val="bg2">
              <a:alpha val="48000"/>
            </a:schemeClr>
          </a:solidFill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/>
              <a:t>Propósito das Bibliotecas (GUI)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4517E20B-D873-10A6-AB6C-6C3314B22C92}"/>
              </a:ext>
            </a:extLst>
          </p:cNvPr>
          <p:cNvSpPr txBox="1">
            <a:spLocks/>
          </p:cNvSpPr>
          <p:nvPr/>
        </p:nvSpPr>
        <p:spPr>
          <a:xfrm>
            <a:off x="555959" y="2279043"/>
            <a:ext cx="11367456" cy="3590254"/>
          </a:xfrm>
          <a:prstGeom prst="rect">
            <a:avLst/>
          </a:prstGeom>
          <a:solidFill>
            <a:schemeClr val="bg2">
              <a:alpha val="60000"/>
            </a:schemeClr>
          </a:solidFill>
        </p:spPr>
        <p:txBody>
          <a:bodyPr vert="horz" wrap="square" lIns="0" tIns="0" rIns="0" bIns="0" rtlCol="0">
            <a:noAutofit/>
          </a:bodyPr>
          <a:lstStyle>
            <a:defPPr>
              <a:defRPr lang="pt-BR"/>
            </a:defPPr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400" b="1" dirty="0"/>
              <a:t>Gerenciamento de Eventos:</a:t>
            </a:r>
            <a:r>
              <a:rPr lang="pt-BR" sz="2400" dirty="0"/>
              <a:t> Lidar com as ações do usuário. A biblioteca monitora eventos (como um clique do mouse, uma tecla pressionada ou o redimensionamento da janela) e executa o código Python apropriado (as suas funções).</a:t>
            </a:r>
          </a:p>
          <a:p>
            <a:pPr algn="l"/>
            <a:r>
              <a:rPr lang="pt-BR" sz="2400" b="1" dirty="0"/>
              <a:t>Layout:</a:t>
            </a:r>
            <a:r>
              <a:rPr lang="pt-BR" sz="2400" dirty="0"/>
              <a:t> Ajudar a organizar e posicionar esses </a:t>
            </a:r>
            <a:r>
              <a:rPr lang="pt-BR" sz="2400" i="1" dirty="0"/>
              <a:t>widgets</a:t>
            </a:r>
            <a:r>
              <a:rPr lang="pt-BR" sz="2400" dirty="0"/>
              <a:t> dentro da janela de forma coerente e responsiva.</a:t>
            </a:r>
          </a:p>
          <a:p>
            <a:pPr algn="l"/>
            <a:r>
              <a:rPr lang="pt-BR" sz="2400" b="1" dirty="0"/>
              <a:t>Aparência:</a:t>
            </a:r>
            <a:r>
              <a:rPr lang="pt-BR" sz="2400" dirty="0"/>
              <a:t> Fazer com que o aplicativo se pareça com um programa nativo do sistema operacional (Windows, </a:t>
            </a:r>
            <a:r>
              <a:rPr lang="pt-BR" sz="2400" dirty="0" err="1"/>
              <a:t>macOS</a:t>
            </a:r>
            <a:r>
              <a:rPr lang="pt-BR" sz="2400" dirty="0"/>
              <a:t>, Linux) ou tenha uma aparência personalizada e moderna.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4287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B73DD-3D80-F73D-19CA-67000C5BF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267" y="374059"/>
            <a:ext cx="10718275" cy="998833"/>
          </a:xfrm>
        </p:spPr>
        <p:txBody>
          <a:bodyPr/>
          <a:lstStyle/>
          <a:p>
            <a:r>
              <a:rPr lang="pt-BR" dirty="0"/>
              <a:t>Biblioteca – </a:t>
            </a:r>
            <a:r>
              <a:rPr lang="pt-BR" dirty="0" err="1"/>
              <a:t>Tkinter</a:t>
            </a:r>
            <a:r>
              <a:rPr lang="pt-BR" dirty="0"/>
              <a:t> (TK Interface)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D7EB617-B718-ABAC-FB9E-312EB45A9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862" y="2020604"/>
            <a:ext cx="1071827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	A biblioteca </a:t>
            </a:r>
            <a:r>
              <a:rPr lang="pt-BR" altLang="pt-BR" sz="2400" dirty="0" err="1">
                <a:latin typeface="Arial" panose="020B0604020202020204" pitchFamily="34" charset="0"/>
              </a:rPr>
              <a:t>Tkinter</a:t>
            </a:r>
            <a:r>
              <a:rPr lang="pt-BR" altLang="pt-BR" sz="2400" dirty="0">
                <a:latin typeface="Arial" panose="020B0604020202020204" pitchFamily="34" charset="0"/>
              </a:rPr>
              <a:t> é a interface padrão do Python para criar Interfaces Gráficas de Usuário (</a:t>
            </a:r>
            <a:r>
              <a:rPr lang="pt-BR" altLang="pt-BR" sz="2400" dirty="0" err="1">
                <a:latin typeface="Arial" panose="020B0604020202020204" pitchFamily="34" charset="0"/>
              </a:rPr>
              <a:t>GUIs</a:t>
            </a:r>
            <a:r>
              <a:rPr lang="pt-BR" altLang="pt-BR" sz="2400" dirty="0">
                <a:latin typeface="Arial" panose="020B0604020202020204" pitchFamily="34" charset="0"/>
              </a:rPr>
              <a:t> - </a:t>
            </a:r>
            <a:r>
              <a:rPr lang="pt-BR" altLang="pt-BR" sz="2400" dirty="0" err="1">
                <a:latin typeface="Arial" panose="020B0604020202020204" pitchFamily="34" charset="0"/>
              </a:rPr>
              <a:t>Graphical</a:t>
            </a:r>
            <a:r>
              <a:rPr lang="pt-BR" altLang="pt-BR" sz="2400" dirty="0">
                <a:latin typeface="Arial" panose="020B0604020202020204" pitchFamily="34" charset="0"/>
              </a:rPr>
              <a:t> </a:t>
            </a:r>
            <a:r>
              <a:rPr lang="pt-BR" altLang="pt-BR" sz="2400" dirty="0" err="1">
                <a:latin typeface="Arial" panose="020B0604020202020204" pitchFamily="34" charset="0"/>
              </a:rPr>
              <a:t>User</a:t>
            </a:r>
            <a:r>
              <a:rPr lang="pt-BR" altLang="pt-BR" sz="2400" dirty="0">
                <a:latin typeface="Arial" panose="020B0604020202020204" pitchFamily="34" charset="0"/>
              </a:rPr>
              <a:t> Interfaces). Em termos simples, ela permite que você crie janelas, botões, caixas de texto e outros elementos visuais para interagir com seus programas Python.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	Biblioteca Padrão do Python: O </a:t>
            </a:r>
            <a:r>
              <a:rPr lang="pt-BR" altLang="pt-BR" sz="2400" dirty="0" err="1">
                <a:latin typeface="Arial" panose="020B0604020202020204" pitchFamily="34" charset="0"/>
              </a:rPr>
              <a:t>Tkinter</a:t>
            </a:r>
            <a:r>
              <a:rPr lang="pt-BR" altLang="pt-BR" sz="2400" dirty="0">
                <a:latin typeface="Arial" panose="020B0604020202020204" pitchFamily="34" charset="0"/>
              </a:rPr>
              <a:t> é um pacote que já vem pré-instalado com a maioria das distribuições Python. Isso é uma grande vantagem, pois você não precisa instalar nada extra – basta usar o </a:t>
            </a:r>
            <a:r>
              <a:rPr lang="pt-BR" altLang="pt-BR" sz="2400" dirty="0" err="1">
                <a:latin typeface="Arial" panose="020B0604020202020204" pitchFamily="34" charset="0"/>
              </a:rPr>
              <a:t>import</a:t>
            </a:r>
            <a:r>
              <a:rPr lang="pt-BR" altLang="pt-BR" sz="2400" dirty="0">
                <a:latin typeface="Arial" panose="020B0604020202020204" pitchFamily="34" charset="0"/>
              </a:rPr>
              <a:t> </a:t>
            </a:r>
            <a:r>
              <a:rPr lang="pt-BR" altLang="pt-BR" sz="2400" dirty="0" err="1">
                <a:latin typeface="Arial" panose="020B0604020202020204" pitchFamily="34" charset="0"/>
              </a:rPr>
              <a:t>tkinter</a:t>
            </a:r>
            <a:r>
              <a:rPr lang="pt-BR" altLang="pt-BR" sz="2400" dirty="0">
                <a:latin typeface="Arial" panose="020B0604020202020204" pitchFamily="34" charset="0"/>
              </a:rPr>
              <a:t> e começar a programar.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505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28725-A332-DBEF-9EBC-A4E9F8E0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ED60F-FC9D-0269-B090-F648692AC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70" y="429216"/>
            <a:ext cx="11076365" cy="998833"/>
          </a:xfrm>
        </p:spPr>
        <p:txBody>
          <a:bodyPr/>
          <a:lstStyle/>
          <a:p>
            <a:r>
              <a:rPr lang="pt-BR" dirty="0"/>
              <a:t>Biblioteca – </a:t>
            </a:r>
            <a:r>
              <a:rPr lang="pt-BR" dirty="0" err="1"/>
              <a:t>Tkinter</a:t>
            </a:r>
            <a:r>
              <a:rPr lang="pt-BR" dirty="0"/>
              <a:t> (TK Interface)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1F99763-5EF5-DA75-14C7-C8B09A765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07" y="1996242"/>
            <a:ext cx="1071827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	Interface </a:t>
            </a:r>
            <a:r>
              <a:rPr lang="pt-BR" altLang="pt-BR" sz="2400" dirty="0" err="1">
                <a:latin typeface="Arial" panose="020B0604020202020204" pitchFamily="34" charset="0"/>
              </a:rPr>
              <a:t>Tcl</a:t>
            </a:r>
            <a:r>
              <a:rPr lang="pt-BR" altLang="pt-BR" sz="2400" dirty="0">
                <a:latin typeface="Arial" panose="020B0604020202020204" pitchFamily="34" charset="0"/>
              </a:rPr>
              <a:t>/</a:t>
            </a:r>
            <a:r>
              <a:rPr lang="pt-BR" altLang="pt-BR" sz="2400" dirty="0" err="1">
                <a:latin typeface="Arial" panose="020B0604020202020204" pitchFamily="34" charset="0"/>
              </a:rPr>
              <a:t>Tk</a:t>
            </a:r>
            <a:r>
              <a:rPr lang="pt-BR" altLang="pt-BR" sz="2400" dirty="0">
                <a:latin typeface="Arial" panose="020B0604020202020204" pitchFamily="34" charset="0"/>
              </a:rPr>
              <a:t>: O nome "</a:t>
            </a:r>
            <a:r>
              <a:rPr lang="pt-BR" altLang="pt-BR" sz="2400" dirty="0" err="1">
                <a:latin typeface="Arial" panose="020B0604020202020204" pitchFamily="34" charset="0"/>
              </a:rPr>
              <a:t>Tkinter</a:t>
            </a:r>
            <a:r>
              <a:rPr lang="pt-BR" altLang="pt-BR" sz="2400" dirty="0">
                <a:latin typeface="Arial" panose="020B0604020202020204" pitchFamily="34" charset="0"/>
              </a:rPr>
              <a:t>" significa "</a:t>
            </a:r>
            <a:r>
              <a:rPr lang="pt-BR" altLang="pt-BR" sz="2400" dirty="0" err="1">
                <a:latin typeface="Arial" panose="020B0604020202020204" pitchFamily="34" charset="0"/>
              </a:rPr>
              <a:t>Tk</a:t>
            </a:r>
            <a:r>
              <a:rPr lang="pt-BR" altLang="pt-BR" sz="2400" dirty="0">
                <a:latin typeface="Arial" panose="020B0604020202020204" pitchFamily="34" charset="0"/>
              </a:rPr>
              <a:t> interface". Ele funciona como uma "ponte" ou um invólucro (</a:t>
            </a:r>
            <a:r>
              <a:rPr lang="pt-BR" altLang="pt-BR" sz="2400" dirty="0" err="1">
                <a:latin typeface="Arial" panose="020B0604020202020204" pitchFamily="34" charset="0"/>
              </a:rPr>
              <a:t>wrapper</a:t>
            </a:r>
            <a:r>
              <a:rPr lang="pt-BR" altLang="pt-BR" sz="2400" dirty="0">
                <a:latin typeface="Arial" panose="020B0604020202020204" pitchFamily="34" charset="0"/>
              </a:rPr>
              <a:t>) entre o código Python e o kit de ferramentas gráfico subjacente chamado </a:t>
            </a:r>
            <a:r>
              <a:rPr lang="pt-BR" altLang="pt-BR" sz="2400" dirty="0" err="1">
                <a:latin typeface="Arial" panose="020B0604020202020204" pitchFamily="34" charset="0"/>
              </a:rPr>
              <a:t>Tcl</a:t>
            </a:r>
            <a:r>
              <a:rPr lang="pt-BR" altLang="pt-BR" sz="2400" dirty="0">
                <a:latin typeface="Arial" panose="020B0604020202020204" pitchFamily="34" charset="0"/>
              </a:rPr>
              <a:t>/</a:t>
            </a:r>
            <a:r>
              <a:rPr lang="pt-BR" altLang="pt-BR" sz="2400" dirty="0" err="1">
                <a:latin typeface="Arial" panose="020B0604020202020204" pitchFamily="34" charset="0"/>
              </a:rPr>
              <a:t>Tk</a:t>
            </a:r>
            <a:r>
              <a:rPr lang="pt-BR" altLang="pt-BR" sz="2400" dirty="0">
                <a:latin typeface="Arial" panose="020B0604020202020204" pitchFamily="34" charset="0"/>
              </a:rPr>
              <a:t>. Você não precisa aprender a linguagem </a:t>
            </a:r>
            <a:r>
              <a:rPr lang="pt-BR" altLang="pt-BR" sz="2400" dirty="0" err="1">
                <a:latin typeface="Arial" panose="020B0604020202020204" pitchFamily="34" charset="0"/>
              </a:rPr>
              <a:t>Tcl</a:t>
            </a:r>
            <a:r>
              <a:rPr lang="pt-BR" altLang="pt-BR" sz="2400" dirty="0">
                <a:latin typeface="Arial" panose="020B0604020202020204" pitchFamily="34" charset="0"/>
              </a:rPr>
              <a:t>/</a:t>
            </a:r>
            <a:r>
              <a:rPr lang="pt-BR" altLang="pt-BR" sz="2400" dirty="0" err="1">
                <a:latin typeface="Arial" panose="020B0604020202020204" pitchFamily="34" charset="0"/>
              </a:rPr>
              <a:t>Tk</a:t>
            </a:r>
            <a:r>
              <a:rPr lang="pt-BR" altLang="pt-BR" sz="2400" dirty="0">
                <a:latin typeface="Arial" panose="020B0604020202020204" pitchFamily="34" charset="0"/>
              </a:rPr>
              <a:t>, pois o Python cuida de toda a comunicação.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	Criação de Aplicações Desktop: O principal uso do </a:t>
            </a:r>
            <a:r>
              <a:rPr lang="pt-BR" altLang="pt-BR" sz="2400" dirty="0" err="1">
                <a:latin typeface="Arial" panose="020B0604020202020204" pitchFamily="34" charset="0"/>
              </a:rPr>
              <a:t>Tkinter</a:t>
            </a:r>
            <a:r>
              <a:rPr lang="pt-BR" altLang="pt-BR" sz="2400" dirty="0">
                <a:latin typeface="Arial" panose="020B0604020202020204" pitchFamily="34" charset="0"/>
              </a:rPr>
              <a:t> é para criar aplicativos de desktop (ou seja, programas que rodam diretamente no seu computador, como um bloco de notas ou uma calculadora), que funcionam nos principais sistemas operacionais (Windows, </a:t>
            </a:r>
            <a:r>
              <a:rPr lang="pt-BR" altLang="pt-BR" sz="2400" dirty="0" err="1">
                <a:latin typeface="Arial" panose="020B0604020202020204" pitchFamily="34" charset="0"/>
              </a:rPr>
              <a:t>macOS</a:t>
            </a:r>
            <a:r>
              <a:rPr lang="pt-BR" altLang="pt-BR" sz="2400" dirty="0">
                <a:latin typeface="Arial" panose="020B0604020202020204" pitchFamily="34" charset="0"/>
              </a:rPr>
              <a:t> e Linux).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9175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AC7A5C0B-DE80-28E8-75BB-5813B6668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89" y="138576"/>
            <a:ext cx="6410037" cy="69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import</a:t>
            </a: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</a:rPr>
              <a:t>tkinter</a:t>
            </a:r>
            <a:r>
              <a:rPr lang="pt-BR" altLang="pt-BR" sz="1400" dirty="0">
                <a:latin typeface="Arial" panose="020B0604020202020204" pitchFamily="34" charset="0"/>
              </a:rPr>
              <a:t> as </a:t>
            </a:r>
            <a:r>
              <a:rPr lang="pt-BR" altLang="pt-BR" sz="1400" dirty="0" err="1">
                <a:latin typeface="Arial" panose="020B0604020202020204" pitchFamily="34" charset="0"/>
              </a:rPr>
              <a:t>tk</a:t>
            </a: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from</a:t>
            </a: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</a:rPr>
              <a:t>tkinter</a:t>
            </a: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</a:rPr>
              <a:t>import</a:t>
            </a: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</a:rPr>
              <a:t>ttk</a:t>
            </a: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--- VARIÁVEL GLOBAL PARA O TEXTO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Deve ser definida antes da função para que a função possa acessá-la e alterá-la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Usamos </a:t>
            </a:r>
            <a:r>
              <a:rPr lang="pt-BR" altLang="pt-BR" sz="1400" dirty="0" err="1">
                <a:latin typeface="Arial" panose="020B0604020202020204" pitchFamily="34" charset="0"/>
              </a:rPr>
              <a:t>tk.StringVar</a:t>
            </a:r>
            <a:r>
              <a:rPr lang="pt-BR" altLang="pt-BR" sz="1400" dirty="0">
                <a:latin typeface="Arial" panose="020B0604020202020204" pitchFamily="34" charset="0"/>
              </a:rPr>
              <a:t> para que o </a:t>
            </a:r>
            <a:r>
              <a:rPr lang="pt-BR" altLang="pt-BR" sz="1400" dirty="0" err="1">
                <a:latin typeface="Arial" panose="020B0604020202020204" pitchFamily="34" charset="0"/>
              </a:rPr>
              <a:t>Tkinter</a:t>
            </a:r>
            <a:r>
              <a:rPr lang="pt-BR" altLang="pt-BR" sz="1400" dirty="0">
                <a:latin typeface="Arial" panose="020B0604020202020204" pitchFamily="34" charset="0"/>
              </a:rPr>
              <a:t> monitore as mudanças nesta variável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texto_dinamico</a:t>
            </a:r>
            <a:r>
              <a:rPr lang="pt-BR" altLang="pt-BR" sz="1400" dirty="0">
                <a:latin typeface="Arial" panose="020B0604020202020204" pitchFamily="34" charset="0"/>
              </a:rPr>
              <a:t> = </a:t>
            </a:r>
            <a:r>
              <a:rPr lang="pt-BR" altLang="pt-BR" sz="1400" dirty="0" err="1">
                <a:latin typeface="Arial" panose="020B0604020202020204" pitchFamily="34" charset="0"/>
              </a:rPr>
              <a:t>None</a:t>
            </a:r>
            <a:r>
              <a:rPr lang="pt-BR" altLang="pt-BR" sz="1400" dirty="0">
                <a:latin typeface="Arial" panose="020B0604020202020204" pitchFamily="34" charset="0"/>
              </a:rPr>
              <a:t>   # Será inicializada abaixo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def</a:t>
            </a: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</a:rPr>
              <a:t>alterar_texto</a:t>
            </a:r>
            <a:r>
              <a:rPr lang="pt-BR" altLang="pt-BR" sz="1400" dirty="0">
                <a:latin typeface="Arial" panose="020B0604020202020204" pitchFamily="34" charset="0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"""Altera o texto do rótulo manipulando a </a:t>
            </a:r>
            <a:r>
              <a:rPr lang="pt-BR" altLang="pt-BR" sz="1400" dirty="0" err="1">
                <a:latin typeface="Arial" panose="020B0604020202020204" pitchFamily="34" charset="0"/>
              </a:rPr>
              <a:t>tk.StringVar</a:t>
            </a:r>
            <a:r>
              <a:rPr lang="pt-BR" altLang="pt-BR" sz="1400" dirty="0">
                <a:latin typeface="Arial" panose="020B0604020202020204" pitchFamily="34" charset="0"/>
              </a:rPr>
              <a:t>."""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# Obtém o valor atual da variável usando .</a:t>
            </a:r>
            <a:r>
              <a:rPr lang="pt-BR" altLang="pt-BR" sz="1400" dirty="0" err="1">
                <a:latin typeface="Arial" panose="020B0604020202020204" pitchFamily="34" charset="0"/>
              </a:rPr>
              <a:t>get</a:t>
            </a:r>
            <a:r>
              <a:rPr lang="pt-BR" altLang="pt-BR" sz="1400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  <a:r>
              <a:rPr lang="pt-BR" altLang="pt-BR" sz="1400" dirty="0" err="1">
                <a:latin typeface="Arial" panose="020B0604020202020204" pitchFamily="34" charset="0"/>
              </a:rPr>
              <a:t>texto_atual</a:t>
            </a:r>
            <a:r>
              <a:rPr lang="pt-BR" altLang="pt-BR" sz="1400" dirty="0">
                <a:latin typeface="Arial" panose="020B0604020202020204" pitchFamily="34" charset="0"/>
              </a:rPr>
              <a:t> = </a:t>
            </a:r>
            <a:r>
              <a:rPr lang="pt-BR" altLang="pt-BR" sz="1400" dirty="0" err="1">
                <a:latin typeface="Arial" panose="020B0604020202020204" pitchFamily="34" charset="0"/>
              </a:rPr>
              <a:t>texto_dinamico.get</a:t>
            </a:r>
            <a:r>
              <a:rPr lang="pt-BR" altLang="pt-BR" sz="1400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  <a:r>
              <a:rPr lang="pt-BR" altLang="pt-BR" sz="1400" dirty="0" err="1">
                <a:latin typeface="Arial" panose="020B0604020202020204" pitchFamily="34" charset="0"/>
              </a:rPr>
              <a:t>if</a:t>
            </a:r>
            <a:r>
              <a:rPr lang="pt-BR" altLang="pt-BR" sz="1400" dirty="0">
                <a:latin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</a:rPr>
              <a:t>texto_atual</a:t>
            </a:r>
            <a:r>
              <a:rPr lang="pt-BR" altLang="pt-BR" sz="1400" dirty="0">
                <a:latin typeface="Arial" panose="020B0604020202020204" pitchFamily="34" charset="0"/>
              </a:rPr>
              <a:t> == "Clique no botão abaixo!":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    # Altera o valor da variável usando .set()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    </a:t>
            </a:r>
            <a:r>
              <a:rPr lang="pt-BR" altLang="pt-BR" sz="1400" dirty="0" err="1">
                <a:latin typeface="Arial" panose="020B0604020202020204" pitchFamily="34" charset="0"/>
              </a:rPr>
              <a:t>texto_dinamico.set</a:t>
            </a:r>
            <a:r>
              <a:rPr lang="pt-BR" altLang="pt-BR" sz="1400" dirty="0">
                <a:latin typeface="Arial" panose="020B0604020202020204" pitchFamily="34" charset="0"/>
              </a:rPr>
              <a:t>("O texto mudou! Bem-vindo ao </a:t>
            </a:r>
            <a:r>
              <a:rPr lang="pt-BR" altLang="pt-BR" sz="1400" dirty="0" err="1">
                <a:latin typeface="Arial" panose="020B0604020202020204" pitchFamily="34" charset="0"/>
              </a:rPr>
              <a:t>Tkinter</a:t>
            </a:r>
            <a:r>
              <a:rPr lang="pt-BR" altLang="pt-BR" sz="1400" dirty="0">
                <a:latin typeface="Arial" panose="020B0604020202020204" pitchFamily="34" charset="0"/>
              </a:rPr>
              <a:t>!")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  <a:r>
              <a:rPr lang="pt-BR" altLang="pt-BR" sz="1400" dirty="0" err="1">
                <a:latin typeface="Arial" panose="020B0604020202020204" pitchFamily="34" charset="0"/>
              </a:rPr>
              <a:t>else</a:t>
            </a:r>
            <a:r>
              <a:rPr lang="pt-BR" altLang="pt-BR" sz="1400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    # Altera o valor de volta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    </a:t>
            </a:r>
            <a:r>
              <a:rPr lang="pt-BR" altLang="pt-BR" sz="1400" dirty="0" err="1">
                <a:latin typeface="Arial" panose="020B0604020202020204" pitchFamily="34" charset="0"/>
              </a:rPr>
              <a:t>texto_dinamico.set</a:t>
            </a:r>
            <a:r>
              <a:rPr lang="pt-BR" altLang="pt-BR" sz="1400" dirty="0">
                <a:latin typeface="Arial" panose="020B0604020202020204" pitchFamily="34" charset="0"/>
              </a:rPr>
              <a:t>("Clique no botão abaixo!")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--- 1. CONFIGURAÇÃO DA JANELA PRINCIPAL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janela = </a:t>
            </a:r>
            <a:r>
              <a:rPr lang="pt-BR" altLang="pt-BR" sz="1400" dirty="0" err="1">
                <a:latin typeface="Arial" panose="020B0604020202020204" pitchFamily="34" charset="0"/>
              </a:rPr>
              <a:t>tk.Tk</a:t>
            </a:r>
            <a:r>
              <a:rPr lang="pt-BR" altLang="pt-BR" sz="1400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janela.title</a:t>
            </a:r>
            <a:r>
              <a:rPr lang="pt-BR" altLang="pt-BR" sz="1400" dirty="0">
                <a:latin typeface="Arial" panose="020B0604020202020204" pitchFamily="34" charset="0"/>
              </a:rPr>
              <a:t>("Exemplo </a:t>
            </a:r>
            <a:r>
              <a:rPr lang="pt-BR" altLang="pt-BR" sz="1400" dirty="0" err="1">
                <a:latin typeface="Arial" panose="020B0604020202020204" pitchFamily="34" charset="0"/>
              </a:rPr>
              <a:t>Tkinter</a:t>
            </a:r>
            <a:r>
              <a:rPr lang="pt-BR" altLang="pt-BR" sz="1400" dirty="0">
                <a:latin typeface="Arial" panose="020B0604020202020204" pitchFamily="34" charset="0"/>
              </a:rPr>
              <a:t> Top Sucesso!!!")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janela.geometry</a:t>
            </a:r>
            <a:r>
              <a:rPr lang="pt-BR" altLang="pt-BR" sz="1400" dirty="0">
                <a:latin typeface="Arial" panose="020B0604020202020204" pitchFamily="34" charset="0"/>
              </a:rPr>
              <a:t>("400x150")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Inicializa a variável </a:t>
            </a:r>
            <a:r>
              <a:rPr lang="pt-BR" altLang="pt-BR" sz="1400" dirty="0" err="1">
                <a:latin typeface="Arial" panose="020B0604020202020204" pitchFamily="34" charset="0"/>
              </a:rPr>
              <a:t>tk.StringVar</a:t>
            </a:r>
            <a:r>
              <a:rPr lang="pt-BR" altLang="pt-BR" sz="1400" dirty="0">
                <a:latin typeface="Arial" panose="020B0604020202020204" pitchFamily="34" charset="0"/>
              </a:rPr>
              <a:t>, que será manipulada pela função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texto_dinamico</a:t>
            </a:r>
            <a:r>
              <a:rPr lang="pt-BR" altLang="pt-BR" sz="1400" dirty="0">
                <a:latin typeface="Arial" panose="020B0604020202020204" pitchFamily="34" charset="0"/>
              </a:rPr>
              <a:t> = </a:t>
            </a:r>
            <a:r>
              <a:rPr lang="pt-BR" altLang="pt-BR" sz="1400" dirty="0" err="1">
                <a:latin typeface="Arial" panose="020B0604020202020204" pitchFamily="34" charset="0"/>
              </a:rPr>
              <a:t>tk.StringVar</a:t>
            </a:r>
            <a:r>
              <a:rPr lang="pt-BR" altLang="pt-BR" sz="1400" dirty="0">
                <a:latin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</a:rPr>
              <a:t>value</a:t>
            </a:r>
            <a:r>
              <a:rPr lang="pt-BR" altLang="pt-BR" sz="1400" dirty="0">
                <a:latin typeface="Arial" panose="020B0604020202020204" pitchFamily="34" charset="0"/>
              </a:rPr>
              <a:t>="Clique no botão abaixo!")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8D21CA02-87F1-729C-6414-71B10BAA7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11" y="503577"/>
            <a:ext cx="652860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--- 2. CRIAÇÃO DOS WIDGETS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frame_principal</a:t>
            </a:r>
            <a:r>
              <a:rPr lang="pt-BR" altLang="pt-BR" sz="1400" dirty="0">
                <a:latin typeface="Arial" panose="020B0604020202020204" pitchFamily="34" charset="0"/>
              </a:rPr>
              <a:t> = </a:t>
            </a:r>
            <a:r>
              <a:rPr lang="pt-BR" altLang="pt-BR" sz="1400" dirty="0" err="1">
                <a:latin typeface="Arial" panose="020B0604020202020204" pitchFamily="34" charset="0"/>
              </a:rPr>
              <a:t>ttk.Frame</a:t>
            </a:r>
            <a:r>
              <a:rPr lang="pt-BR" altLang="pt-BR" sz="1400" dirty="0">
                <a:latin typeface="Arial" panose="020B0604020202020204" pitchFamily="34" charset="0"/>
              </a:rPr>
              <a:t>(janela, </a:t>
            </a:r>
            <a:r>
              <a:rPr lang="pt-BR" altLang="pt-BR" sz="1400" dirty="0" err="1">
                <a:latin typeface="Arial" panose="020B0604020202020204" pitchFamily="34" charset="0"/>
              </a:rPr>
              <a:t>padding</a:t>
            </a:r>
            <a:r>
              <a:rPr lang="pt-BR" altLang="pt-BR" sz="1400" dirty="0">
                <a:latin typeface="Arial" panose="020B0604020202020204" pitchFamily="34" charset="0"/>
              </a:rPr>
              <a:t>="10")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frame_principal.grid</a:t>
            </a:r>
            <a:r>
              <a:rPr lang="pt-BR" altLang="pt-BR" sz="1400" dirty="0">
                <a:latin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</a:rPr>
              <a:t>row</a:t>
            </a:r>
            <a:r>
              <a:rPr lang="pt-BR" altLang="pt-BR" sz="1400" dirty="0">
                <a:latin typeface="Arial" panose="020B0604020202020204" pitchFamily="34" charset="0"/>
              </a:rPr>
              <a:t>=0, </a:t>
            </a:r>
            <a:r>
              <a:rPr lang="pt-BR" altLang="pt-BR" sz="1400" dirty="0" err="1">
                <a:latin typeface="Arial" panose="020B0604020202020204" pitchFamily="34" charset="0"/>
              </a:rPr>
              <a:t>column</a:t>
            </a:r>
            <a:r>
              <a:rPr lang="pt-BR" altLang="pt-BR" sz="1400" dirty="0">
                <a:latin typeface="Arial" panose="020B0604020202020204" pitchFamily="34" charset="0"/>
              </a:rPr>
              <a:t>=0, </a:t>
            </a:r>
            <a:r>
              <a:rPr lang="pt-BR" altLang="pt-BR" sz="1400" dirty="0" err="1">
                <a:latin typeface="Arial" panose="020B0604020202020204" pitchFamily="34" charset="0"/>
              </a:rPr>
              <a:t>sticky</a:t>
            </a:r>
            <a:r>
              <a:rPr lang="pt-BR" altLang="pt-BR" sz="1400" dirty="0">
                <a:latin typeface="Arial" panose="020B0604020202020204" pitchFamily="34" charset="0"/>
              </a:rPr>
              <a:t>="</a:t>
            </a:r>
            <a:r>
              <a:rPr lang="pt-BR" altLang="pt-BR" sz="1400" dirty="0" err="1">
                <a:latin typeface="Arial" panose="020B0604020202020204" pitchFamily="34" charset="0"/>
              </a:rPr>
              <a:t>nsew</a:t>
            </a:r>
            <a:r>
              <a:rPr lang="pt-BR" altLang="pt-BR" sz="1400" dirty="0">
                <a:latin typeface="Arial" panose="020B0604020202020204" pitchFamily="34" charset="0"/>
              </a:rPr>
              <a:t>")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Cria o Rótulo (</a:t>
            </a:r>
            <a:r>
              <a:rPr lang="pt-BR" altLang="pt-BR" sz="1400" dirty="0" err="1">
                <a:latin typeface="Arial" panose="020B0604020202020204" pitchFamily="34" charset="0"/>
              </a:rPr>
              <a:t>Label</a:t>
            </a:r>
            <a:r>
              <a:rPr lang="pt-BR" altLang="pt-BR" sz="1400" dirty="0">
                <a:latin typeface="Arial" panose="020B0604020202020204" pitchFamily="34" charset="0"/>
              </a:rPr>
              <a:t>) e o VINCULA à variável </a:t>
            </a:r>
            <a:r>
              <a:rPr lang="pt-BR" altLang="pt-BR" sz="1400" dirty="0" err="1">
                <a:latin typeface="Arial" panose="020B0604020202020204" pitchFamily="34" charset="0"/>
              </a:rPr>
              <a:t>texto_dinamico</a:t>
            </a: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Usamos </a:t>
            </a:r>
            <a:r>
              <a:rPr lang="pt-BR" altLang="pt-BR" sz="1400" dirty="0" err="1">
                <a:latin typeface="Arial" panose="020B0604020202020204" pitchFamily="34" charset="0"/>
              </a:rPr>
              <a:t>textvariable</a:t>
            </a:r>
            <a:r>
              <a:rPr lang="pt-BR" altLang="pt-BR" sz="1400" dirty="0">
                <a:latin typeface="Arial" panose="020B0604020202020204" pitchFamily="34" charset="0"/>
              </a:rPr>
              <a:t>=</a:t>
            </a:r>
            <a:r>
              <a:rPr lang="pt-BR" altLang="pt-BR" sz="1400" dirty="0" err="1">
                <a:latin typeface="Arial" panose="020B0604020202020204" pitchFamily="34" charset="0"/>
              </a:rPr>
              <a:t>texto_dinamico</a:t>
            </a: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label_mensagem</a:t>
            </a:r>
            <a:r>
              <a:rPr lang="pt-BR" altLang="pt-BR" sz="1400" dirty="0">
                <a:latin typeface="Arial" panose="020B0604020202020204" pitchFamily="34" charset="0"/>
              </a:rPr>
              <a:t> = </a:t>
            </a:r>
            <a:r>
              <a:rPr lang="pt-BR" altLang="pt-BR" sz="1400" dirty="0" err="1">
                <a:latin typeface="Arial" panose="020B0604020202020204" pitchFamily="34" charset="0"/>
              </a:rPr>
              <a:t>ttk.Label</a:t>
            </a:r>
            <a:r>
              <a:rPr lang="pt-BR" altLang="pt-BR" sz="1400" dirty="0">
                <a:latin typeface="Arial" panose="020B0604020202020204" pitchFamily="34" charset="0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  <a:r>
              <a:rPr lang="pt-BR" altLang="pt-BR" sz="1400" dirty="0" err="1">
                <a:latin typeface="Arial" panose="020B0604020202020204" pitchFamily="34" charset="0"/>
              </a:rPr>
              <a:t>frame_principal</a:t>
            </a:r>
            <a:r>
              <a:rPr lang="pt-BR" altLang="pt-BR" sz="1400" dirty="0">
                <a:latin typeface="Arial" panose="020B0604020202020204" pitchFamily="34" charset="0"/>
              </a:rPr>
              <a:t>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  <a:r>
              <a:rPr lang="pt-BR" altLang="pt-BR" sz="1400" dirty="0" err="1">
                <a:latin typeface="Arial" panose="020B0604020202020204" pitchFamily="34" charset="0"/>
              </a:rPr>
              <a:t>textvariable</a:t>
            </a:r>
            <a:r>
              <a:rPr lang="pt-BR" altLang="pt-BR" sz="1400" dirty="0">
                <a:latin typeface="Arial" panose="020B0604020202020204" pitchFamily="34" charset="0"/>
              </a:rPr>
              <a:t>=</a:t>
            </a:r>
            <a:r>
              <a:rPr lang="pt-BR" altLang="pt-BR" sz="1400" dirty="0" err="1">
                <a:latin typeface="Arial" panose="020B0604020202020204" pitchFamily="34" charset="0"/>
              </a:rPr>
              <a:t>texto_dinamico</a:t>
            </a:r>
            <a:r>
              <a:rPr lang="pt-BR" altLang="pt-BR" sz="1400" dirty="0">
                <a:latin typeface="Arial" panose="020B0604020202020204" pitchFamily="34" charset="0"/>
              </a:rPr>
              <a:t>, # Agora o </a:t>
            </a:r>
            <a:r>
              <a:rPr lang="pt-BR" altLang="pt-BR" sz="1400" dirty="0" err="1">
                <a:latin typeface="Arial" panose="020B0604020202020204" pitchFamily="34" charset="0"/>
              </a:rPr>
              <a:t>Label</a:t>
            </a:r>
            <a:r>
              <a:rPr lang="pt-BR" altLang="pt-BR" sz="1400" dirty="0">
                <a:latin typeface="Arial" panose="020B0604020202020204" pitchFamily="34" charset="0"/>
              </a:rPr>
              <a:t> lê o valor desta variável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    </a:t>
            </a:r>
            <a:r>
              <a:rPr lang="pt-BR" altLang="pt-BR" sz="1400" dirty="0" err="1">
                <a:latin typeface="Arial" panose="020B0604020202020204" pitchFamily="34" charset="0"/>
              </a:rPr>
              <a:t>font</a:t>
            </a:r>
            <a:r>
              <a:rPr lang="pt-BR" altLang="pt-BR" sz="1400" dirty="0">
                <a:latin typeface="Arial" panose="020B0604020202020204" pitchFamily="34" charset="0"/>
              </a:rPr>
              <a:t>=("Arial", 14)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label_mensagem.grid</a:t>
            </a:r>
            <a:r>
              <a:rPr lang="pt-BR" altLang="pt-BR" sz="1400" dirty="0">
                <a:latin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</a:rPr>
              <a:t>row</a:t>
            </a:r>
            <a:r>
              <a:rPr lang="pt-BR" altLang="pt-BR" sz="1400" dirty="0">
                <a:latin typeface="Arial" panose="020B0604020202020204" pitchFamily="34" charset="0"/>
              </a:rPr>
              <a:t>=0, </a:t>
            </a:r>
            <a:r>
              <a:rPr lang="pt-BR" altLang="pt-BR" sz="1400" dirty="0" err="1">
                <a:latin typeface="Arial" panose="020B0604020202020204" pitchFamily="34" charset="0"/>
              </a:rPr>
              <a:t>column</a:t>
            </a:r>
            <a:r>
              <a:rPr lang="pt-BR" altLang="pt-BR" sz="1400" dirty="0">
                <a:latin typeface="Arial" panose="020B0604020202020204" pitchFamily="34" charset="0"/>
              </a:rPr>
              <a:t>=0, </a:t>
            </a:r>
            <a:r>
              <a:rPr lang="pt-BR" altLang="pt-BR" sz="1400" dirty="0" err="1">
                <a:latin typeface="Arial" panose="020B0604020202020204" pitchFamily="34" charset="0"/>
              </a:rPr>
              <a:t>pady</a:t>
            </a:r>
            <a:r>
              <a:rPr lang="pt-BR" altLang="pt-BR" sz="1400" dirty="0">
                <a:latin typeface="Arial" panose="020B0604020202020204" pitchFamily="34" charset="0"/>
              </a:rPr>
              <a:t>=20, </a:t>
            </a:r>
            <a:r>
              <a:rPr lang="pt-BR" altLang="pt-BR" sz="1400" dirty="0" err="1">
                <a:latin typeface="Arial" panose="020B0604020202020204" pitchFamily="34" charset="0"/>
              </a:rPr>
              <a:t>sticky</a:t>
            </a:r>
            <a:r>
              <a:rPr lang="pt-BR" altLang="pt-BR" sz="1400" dirty="0">
                <a:latin typeface="Arial" panose="020B0604020202020204" pitchFamily="34" charset="0"/>
              </a:rPr>
              <a:t>="n")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Cria o Botão (Button)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botao_acao</a:t>
            </a:r>
            <a:r>
              <a:rPr lang="pt-BR" altLang="pt-BR" sz="1400" dirty="0">
                <a:latin typeface="Arial" panose="020B0604020202020204" pitchFamily="34" charset="0"/>
              </a:rPr>
              <a:t> = </a:t>
            </a:r>
            <a:r>
              <a:rPr lang="pt-BR" altLang="pt-BR" sz="1400" dirty="0" err="1">
                <a:latin typeface="Arial" panose="020B0604020202020204" pitchFamily="34" charset="0"/>
              </a:rPr>
              <a:t>ttk.Button</a:t>
            </a:r>
            <a:r>
              <a:rPr lang="pt-BR" altLang="pt-BR" sz="1400" dirty="0">
                <a:latin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</a:rPr>
              <a:t>frame_principal</a:t>
            </a:r>
            <a:r>
              <a:rPr lang="pt-BR" altLang="pt-BR" sz="1400" dirty="0">
                <a:latin typeface="Arial" panose="020B0604020202020204" pitchFamily="34" charset="0"/>
              </a:rPr>
              <a:t>, </a:t>
            </a:r>
            <a:r>
              <a:rPr lang="pt-BR" altLang="pt-BR" sz="1400" dirty="0" err="1">
                <a:latin typeface="Arial" panose="020B0604020202020204" pitchFamily="34" charset="0"/>
              </a:rPr>
              <a:t>text</a:t>
            </a:r>
            <a:r>
              <a:rPr lang="pt-BR" altLang="pt-BR" sz="1400" dirty="0">
                <a:latin typeface="Arial" panose="020B0604020202020204" pitchFamily="34" charset="0"/>
              </a:rPr>
              <a:t>="Alterar Mensagem", </a:t>
            </a:r>
            <a:r>
              <a:rPr lang="pt-BR" altLang="pt-BR" sz="1400" dirty="0" err="1">
                <a:latin typeface="Arial" panose="020B0604020202020204" pitchFamily="34" charset="0"/>
              </a:rPr>
              <a:t>command</a:t>
            </a:r>
            <a:r>
              <a:rPr lang="pt-BR" altLang="pt-BR" sz="1400" dirty="0">
                <a:latin typeface="Arial" panose="020B0604020202020204" pitchFamily="34" charset="0"/>
              </a:rPr>
              <a:t>=</a:t>
            </a:r>
            <a:r>
              <a:rPr lang="pt-BR" altLang="pt-BR" sz="1400" dirty="0" err="1">
                <a:latin typeface="Arial" panose="020B0604020202020204" pitchFamily="34" charset="0"/>
              </a:rPr>
              <a:t>alterar_texto</a:t>
            </a:r>
            <a:r>
              <a:rPr lang="pt-BR" altLang="pt-BR" sz="14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botao_acao.grid</a:t>
            </a:r>
            <a:r>
              <a:rPr lang="pt-BR" altLang="pt-BR" sz="1400" dirty="0">
                <a:latin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</a:rPr>
              <a:t>row</a:t>
            </a:r>
            <a:r>
              <a:rPr lang="pt-BR" altLang="pt-BR" sz="1400" dirty="0">
                <a:latin typeface="Arial" panose="020B0604020202020204" pitchFamily="34" charset="0"/>
              </a:rPr>
              <a:t>=1, </a:t>
            </a:r>
            <a:r>
              <a:rPr lang="pt-BR" altLang="pt-BR" sz="1400" dirty="0" err="1">
                <a:latin typeface="Arial" panose="020B0604020202020204" pitchFamily="34" charset="0"/>
              </a:rPr>
              <a:t>column</a:t>
            </a:r>
            <a:r>
              <a:rPr lang="pt-BR" altLang="pt-BR" sz="1400" dirty="0">
                <a:latin typeface="Arial" panose="020B0604020202020204" pitchFamily="34" charset="0"/>
              </a:rPr>
              <a:t>=0, </a:t>
            </a:r>
            <a:r>
              <a:rPr lang="pt-BR" altLang="pt-BR" sz="1400" dirty="0" err="1">
                <a:latin typeface="Arial" panose="020B0604020202020204" pitchFamily="34" charset="0"/>
              </a:rPr>
              <a:t>pady</a:t>
            </a:r>
            <a:r>
              <a:rPr lang="pt-BR" altLang="pt-BR" sz="1400" dirty="0">
                <a:latin typeface="Arial" panose="020B0604020202020204" pitchFamily="34" charset="0"/>
              </a:rPr>
              <a:t>=10)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latin typeface="Arial" panose="020B0604020202020204" pitchFamily="34" charset="0"/>
              </a:rPr>
              <a:t># --- 3. CONFIGURAÇÃO DE LAYOUT E LOOP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janela.columnconfigure</a:t>
            </a:r>
            <a:r>
              <a:rPr lang="pt-BR" altLang="pt-BR" sz="1400" dirty="0">
                <a:latin typeface="Arial" panose="020B0604020202020204" pitchFamily="34" charset="0"/>
              </a:rPr>
              <a:t>(0, </a:t>
            </a:r>
            <a:r>
              <a:rPr lang="pt-BR" altLang="pt-BR" sz="1400" dirty="0" err="1">
                <a:latin typeface="Arial" panose="020B0604020202020204" pitchFamily="34" charset="0"/>
              </a:rPr>
              <a:t>weight</a:t>
            </a:r>
            <a:r>
              <a:rPr lang="pt-BR" altLang="pt-BR" sz="1400" dirty="0">
                <a:latin typeface="Arial" panose="020B0604020202020204" pitchFamily="34" charset="0"/>
              </a:rPr>
              <a:t>=1)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janela.rowconfigure</a:t>
            </a:r>
            <a:r>
              <a:rPr lang="pt-BR" altLang="pt-BR" sz="1400" dirty="0">
                <a:latin typeface="Arial" panose="020B0604020202020204" pitchFamily="34" charset="0"/>
              </a:rPr>
              <a:t>(0, </a:t>
            </a:r>
            <a:r>
              <a:rPr lang="pt-BR" altLang="pt-BR" sz="1400" dirty="0" err="1">
                <a:latin typeface="Arial" panose="020B0604020202020204" pitchFamily="34" charset="0"/>
              </a:rPr>
              <a:t>weight</a:t>
            </a:r>
            <a:r>
              <a:rPr lang="pt-BR" altLang="pt-BR" sz="1400" dirty="0">
                <a:latin typeface="Arial" panose="020B0604020202020204" pitchFamily="34" charset="0"/>
              </a:rPr>
              <a:t>=1)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frame_principal.columnconfigure</a:t>
            </a:r>
            <a:r>
              <a:rPr lang="pt-BR" altLang="pt-BR" sz="1400" dirty="0">
                <a:latin typeface="Arial" panose="020B0604020202020204" pitchFamily="34" charset="0"/>
              </a:rPr>
              <a:t>(0, </a:t>
            </a:r>
            <a:r>
              <a:rPr lang="pt-BR" altLang="pt-BR" sz="1400" dirty="0" err="1">
                <a:latin typeface="Arial" panose="020B0604020202020204" pitchFamily="34" charset="0"/>
              </a:rPr>
              <a:t>weight</a:t>
            </a:r>
            <a:r>
              <a:rPr lang="pt-BR" altLang="pt-BR" sz="1400" dirty="0">
                <a:latin typeface="Arial" panose="020B0604020202020204" pitchFamily="34" charset="0"/>
              </a:rPr>
              <a:t>=1)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 err="1">
                <a:latin typeface="Arial" panose="020B0604020202020204" pitchFamily="34" charset="0"/>
              </a:rPr>
              <a:t>janela.mainloop</a:t>
            </a:r>
            <a:r>
              <a:rPr lang="pt-BR" altLang="pt-BR" sz="1400" dirty="0">
                <a:latin typeface="Arial" panose="020B0604020202020204" pitchFamily="34" charset="0"/>
              </a:rPr>
              <a:t>()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71EDABB-6778-48AB-352C-6699AC42DEEF}"/>
              </a:ext>
            </a:extLst>
          </p:cNvPr>
          <p:cNvSpPr txBox="1">
            <a:spLocks/>
          </p:cNvSpPr>
          <p:nvPr/>
        </p:nvSpPr>
        <p:spPr>
          <a:xfrm>
            <a:off x="566982" y="131935"/>
            <a:ext cx="8577020" cy="92101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PyQt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FDA7EC7-A361-9517-FD62-D9D74D55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90" y="1720841"/>
            <a:ext cx="116274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400" dirty="0"/>
              <a:t>A biblioteca </a:t>
            </a:r>
            <a:r>
              <a:rPr lang="pt-BR" sz="2400" b="1" dirty="0" err="1"/>
              <a:t>PyQt</a:t>
            </a:r>
            <a:r>
              <a:rPr lang="pt-BR" sz="2400" dirty="0"/>
              <a:t> é uma das bibliotecas GUI mais populares e poderosas para Python. Ela não é apenas uma biblioteca; é um </a:t>
            </a:r>
            <a:r>
              <a:rPr lang="pt-BR" sz="2400" i="1" dirty="0" err="1"/>
              <a:t>binding</a:t>
            </a:r>
            <a:r>
              <a:rPr lang="pt-BR" sz="2400" dirty="0"/>
              <a:t> (uma "ponte") para um </a:t>
            </a:r>
            <a:r>
              <a:rPr lang="pt-BR" sz="2400" i="1" dirty="0"/>
              <a:t>framework</a:t>
            </a:r>
            <a:r>
              <a:rPr lang="pt-BR" sz="2400" dirty="0"/>
              <a:t> de desenvolvimento muito maior e mais robusto, chamado </a:t>
            </a:r>
            <a:r>
              <a:rPr lang="pt-BR" sz="2400" b="1" dirty="0"/>
              <a:t>Qt</a:t>
            </a:r>
            <a:r>
              <a:rPr lang="pt-BR" sz="2400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Qt é um </a:t>
            </a:r>
            <a:r>
              <a:rPr lang="pt-BR" sz="2400" i="1" dirty="0"/>
              <a:t>framework</a:t>
            </a:r>
            <a:r>
              <a:rPr lang="pt-BR" sz="2400" dirty="0"/>
              <a:t> originalmente escrito em C++ e amplamente utilizado em todo o mundo para desenvolver aplicativos de nível profissional e multiplataforma. O </a:t>
            </a:r>
            <a:r>
              <a:rPr lang="pt-BR" sz="2400" dirty="0" err="1"/>
              <a:t>PyQt</a:t>
            </a:r>
            <a:r>
              <a:rPr lang="pt-BR" sz="2400" dirty="0"/>
              <a:t> permite que desenvolvedores Python acessem todas as funcionalidades ricas do Qt, escrevendo código </a:t>
            </a:r>
            <a:r>
              <a:rPr lang="pt-BR" sz="2400" b="1" dirty="0"/>
              <a:t>apenas em Python</a:t>
            </a:r>
            <a:r>
              <a:rPr lang="pt-BR" sz="2400" dirty="0"/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FDDB-ECC5-57E3-0A47-712F6E99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3C626F6-D88D-5383-DC2B-91BBE00F934A}"/>
              </a:ext>
            </a:extLst>
          </p:cNvPr>
          <p:cNvSpPr txBox="1">
            <a:spLocks/>
          </p:cNvSpPr>
          <p:nvPr/>
        </p:nvSpPr>
        <p:spPr>
          <a:xfrm>
            <a:off x="548508" y="76517"/>
            <a:ext cx="8577020" cy="92101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PyQt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8DABF2C-226B-9D5A-CDF8-5BE3449B8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82" y="905467"/>
            <a:ext cx="11627436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400" b="1" dirty="0"/>
              <a:t>O que torna o </a:t>
            </a:r>
            <a:r>
              <a:rPr lang="pt-BR" sz="2400" b="1" dirty="0" err="1"/>
              <a:t>PyQt</a:t>
            </a:r>
            <a:r>
              <a:rPr lang="pt-BR" sz="2400" b="1" dirty="0"/>
              <a:t> especial?</a:t>
            </a:r>
          </a:p>
          <a:p>
            <a:pPr algn="just"/>
            <a:endParaRPr lang="pt-BR" sz="2400" b="1" dirty="0"/>
          </a:p>
          <a:p>
            <a:pPr marL="457200" indent="-457200" algn="just">
              <a:buAutoNum type="arabicPeriod"/>
            </a:pPr>
            <a:r>
              <a:rPr lang="pt-BR" sz="2400" b="1" dirty="0"/>
              <a:t>Baseado no Framework Qt (Poder e Profissionalismo)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b="1" dirty="0"/>
              <a:t>Rico em Recursos:</a:t>
            </a:r>
            <a:r>
              <a:rPr lang="pt-BR" sz="2400" dirty="0"/>
              <a:t> Diferente de soluções mais simples como o </a:t>
            </a:r>
            <a:r>
              <a:rPr lang="pt-BR" sz="2400" dirty="0" err="1"/>
              <a:t>Tkinter</a:t>
            </a:r>
            <a:r>
              <a:rPr lang="pt-BR" sz="2400" dirty="0"/>
              <a:t>, o </a:t>
            </a:r>
            <a:r>
              <a:rPr lang="pt-BR" sz="2400" dirty="0" err="1"/>
              <a:t>PyQt</a:t>
            </a:r>
            <a:r>
              <a:rPr lang="pt-BR" sz="2400" dirty="0"/>
              <a:t> oferece milhares de classes e módulos que vão além dos </a:t>
            </a:r>
            <a:r>
              <a:rPr lang="pt-BR" sz="2400" i="1" dirty="0"/>
              <a:t>widgets</a:t>
            </a:r>
            <a:r>
              <a:rPr lang="pt-BR" sz="2400" dirty="0"/>
              <a:t> básicos. Ele tem ferramentas para trabalhar com:</a:t>
            </a:r>
          </a:p>
          <a:p>
            <a:pPr lvl="1" algn="just"/>
            <a:r>
              <a:rPr lang="pt-BR" sz="2400" dirty="0"/>
              <a:t>Gráficos e visualização de dados 2D e 3D.</a:t>
            </a:r>
          </a:p>
          <a:p>
            <a:pPr lvl="1" algn="just"/>
            <a:r>
              <a:rPr lang="pt-BR" sz="2400" dirty="0"/>
              <a:t>Integração com bancos de dados (SQL).</a:t>
            </a:r>
          </a:p>
          <a:p>
            <a:pPr lvl="1" algn="just"/>
            <a:r>
              <a:rPr lang="pt-BR" sz="2400" dirty="0"/>
              <a:t>Multimídia (áudio e vídeo).</a:t>
            </a:r>
          </a:p>
          <a:p>
            <a:pPr lvl="1" algn="just"/>
            <a:r>
              <a:rPr lang="pt-BR" sz="2400" dirty="0"/>
              <a:t>Rede e conectividade.</a:t>
            </a:r>
          </a:p>
          <a:p>
            <a:pPr lvl="1" algn="just"/>
            <a:r>
              <a:rPr lang="pt-BR" sz="2400" dirty="0"/>
              <a:t>Internacionalização e suporte a múltiplos idiomas.</a:t>
            </a:r>
          </a:p>
          <a:p>
            <a:pPr algn="just"/>
            <a:r>
              <a:rPr lang="pt-BR" sz="2400" b="1" dirty="0"/>
              <a:t>Aplicações Profissionais:</a:t>
            </a:r>
            <a:r>
              <a:rPr lang="pt-BR" sz="2400" dirty="0"/>
              <a:t> </a:t>
            </a:r>
            <a:r>
              <a:rPr lang="pt-BR" sz="2400" dirty="0" err="1"/>
              <a:t>PyQt</a:t>
            </a:r>
            <a:r>
              <a:rPr lang="pt-BR" sz="2400" dirty="0"/>
              <a:t> é a escolha para construir grandes e complexos aplicativos de desktop. Aplicações conhecidas como a IDE </a:t>
            </a:r>
            <a:r>
              <a:rPr lang="pt-BR" sz="2400" b="1" dirty="0" err="1"/>
              <a:t>Spyder</a:t>
            </a:r>
            <a:r>
              <a:rPr lang="pt-BR" sz="2400" dirty="0"/>
              <a:t> (muito usada em Ciência de Dados) e o </a:t>
            </a:r>
            <a:r>
              <a:rPr lang="pt-BR" sz="2400" i="1" dirty="0"/>
              <a:t>software</a:t>
            </a:r>
            <a:r>
              <a:rPr lang="pt-BR" sz="2400" dirty="0"/>
              <a:t> de modelagem 3D </a:t>
            </a:r>
            <a:r>
              <a:rPr lang="pt-BR" sz="2400" b="1" dirty="0"/>
              <a:t>Autodesk Maya</a:t>
            </a:r>
            <a:r>
              <a:rPr lang="pt-BR" sz="2400" dirty="0"/>
              <a:t> (que usa o Qt) dependem dessa tecnologia.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34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AFD6-29E8-0B87-E29A-35167D2C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4C18543-3979-171B-FF05-F5307DB4DD3C}"/>
              </a:ext>
            </a:extLst>
          </p:cNvPr>
          <p:cNvSpPr txBox="1">
            <a:spLocks/>
          </p:cNvSpPr>
          <p:nvPr/>
        </p:nvSpPr>
        <p:spPr>
          <a:xfrm>
            <a:off x="465382" y="94989"/>
            <a:ext cx="5630618" cy="92101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PyQt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E489820-B4D9-6302-9CD5-145A165CE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1" y="813101"/>
            <a:ext cx="12007272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400" b="1" dirty="0"/>
              <a:t>2. Multiplataforma Completa</a:t>
            </a:r>
          </a:p>
          <a:p>
            <a:pPr algn="just"/>
            <a:r>
              <a:rPr lang="pt-BR" sz="2400" dirty="0"/>
              <a:t>	O Qt é inerentemente multiplataforma. Isso significa que um aplicativo desenvolvido com </a:t>
            </a:r>
            <a:r>
              <a:rPr lang="pt-BR" sz="2400" dirty="0" err="1"/>
              <a:t>PyQt</a:t>
            </a:r>
            <a:r>
              <a:rPr lang="pt-BR" sz="2400" dirty="0"/>
              <a:t> pode ser compilado e executado em </a:t>
            </a:r>
            <a:r>
              <a:rPr lang="pt-BR" sz="2400" b="1" dirty="0"/>
              <a:t>Windows, </a:t>
            </a:r>
            <a:r>
              <a:rPr lang="pt-BR" sz="2400" b="1" dirty="0" err="1"/>
              <a:t>macOS</a:t>
            </a:r>
            <a:r>
              <a:rPr lang="pt-BR" sz="2400" b="1" dirty="0"/>
              <a:t>, Linux</a:t>
            </a:r>
            <a:r>
              <a:rPr lang="pt-BR" sz="2400" dirty="0"/>
              <a:t> e até mesmo em algumas plataformas móveis, mantendo uma aparência </a:t>
            </a:r>
            <a:r>
              <a:rPr lang="pt-BR" sz="2400" b="1" dirty="0"/>
              <a:t>nativa</a:t>
            </a:r>
            <a:r>
              <a:rPr lang="pt-BR" sz="2400" dirty="0"/>
              <a:t> (ou quase nativa) em cada sistema.</a:t>
            </a:r>
          </a:p>
          <a:p>
            <a:pPr algn="just"/>
            <a:r>
              <a:rPr lang="pt-BR" sz="2400" b="1" dirty="0"/>
              <a:t>3. O Sistema de Sinais e Slots</a:t>
            </a:r>
          </a:p>
          <a:p>
            <a:pPr algn="just"/>
            <a:r>
              <a:rPr lang="pt-BR" sz="2400" dirty="0"/>
              <a:t>	O </a:t>
            </a:r>
            <a:r>
              <a:rPr lang="pt-BR" sz="2400" dirty="0" err="1"/>
              <a:t>PyQt</a:t>
            </a:r>
            <a:r>
              <a:rPr lang="pt-BR" sz="2400" dirty="0"/>
              <a:t> usa um mecanismo de comunicação chamado </a:t>
            </a:r>
            <a:r>
              <a:rPr lang="pt-BR" sz="2400" b="1" dirty="0"/>
              <a:t>Sinais e Slots</a:t>
            </a:r>
            <a:r>
              <a:rPr lang="pt-BR" sz="2400" dirty="0"/>
              <a:t>, que é o coração de como ele lida com a interatividade.</a:t>
            </a:r>
          </a:p>
          <a:p>
            <a:pPr algn="just"/>
            <a:r>
              <a:rPr lang="pt-BR" sz="2400" b="1" dirty="0"/>
              <a:t>Sinais:</a:t>
            </a:r>
            <a:r>
              <a:rPr lang="pt-BR" sz="2400" dirty="0"/>
              <a:t> São eventos que um </a:t>
            </a:r>
            <a:r>
              <a:rPr lang="pt-BR" sz="2400" i="1" dirty="0"/>
              <a:t>widget</a:t>
            </a:r>
            <a:r>
              <a:rPr lang="pt-BR" sz="2400" dirty="0"/>
              <a:t> emite. Por exemplo, quando um botão é clicado, ele emite um </a:t>
            </a:r>
            <a:r>
              <a:rPr lang="pt-BR" sz="2400" b="1" dirty="0"/>
              <a:t>sinal</a:t>
            </a:r>
            <a:r>
              <a:rPr lang="pt-BR" sz="2400" dirty="0"/>
              <a:t> chamado </a:t>
            </a:r>
            <a:r>
              <a:rPr lang="pt-BR" sz="2000" dirty="0" err="1"/>
              <a:t>clicked</a:t>
            </a:r>
            <a:r>
              <a:rPr lang="pt-BR" sz="2000" dirty="0"/>
              <a:t>()</a:t>
            </a:r>
            <a:r>
              <a:rPr lang="pt-BR" sz="2400" dirty="0"/>
              <a:t>.</a:t>
            </a:r>
          </a:p>
          <a:p>
            <a:pPr algn="just"/>
            <a:r>
              <a:rPr lang="pt-BR" sz="2400" b="1" dirty="0"/>
              <a:t>Slots:</a:t>
            </a:r>
            <a:r>
              <a:rPr lang="pt-BR" sz="2400" dirty="0"/>
              <a:t> São as funções (ou métodos) que são executadas em resposta a um sinal.</a:t>
            </a:r>
          </a:p>
          <a:p>
            <a:pPr algn="just"/>
            <a:r>
              <a:rPr lang="pt-BR" sz="2400" b="1" dirty="0"/>
              <a:t>4. Qt Designer (Desenho Visual)</a:t>
            </a:r>
          </a:p>
          <a:p>
            <a:pPr algn="just"/>
            <a:r>
              <a:rPr lang="pt-BR" sz="2400" dirty="0"/>
              <a:t>	O </a:t>
            </a:r>
            <a:r>
              <a:rPr lang="pt-BR" sz="2400" dirty="0" err="1"/>
              <a:t>PyQt</a:t>
            </a:r>
            <a:r>
              <a:rPr lang="pt-BR" sz="2400" dirty="0"/>
              <a:t> vem com uma ferramenta chamada </a:t>
            </a:r>
            <a:r>
              <a:rPr lang="pt-BR" sz="2400" b="1" dirty="0"/>
              <a:t>Qt Designer</a:t>
            </a:r>
            <a:r>
              <a:rPr lang="pt-BR" sz="2400" dirty="0"/>
              <a:t>, que permite criar a interface gráfica de forma visual (arrastando e soltando </a:t>
            </a:r>
            <a:r>
              <a:rPr lang="pt-BR" sz="2400" i="1" dirty="0"/>
              <a:t>widgets</a:t>
            </a:r>
            <a:r>
              <a:rPr lang="pt-BR" sz="2400" dirty="0"/>
              <a:t>), sem precisar escrever código Python para cada elemento. Você projeta a interface no Designer e depois carrega ou converte esse arquivo (</a:t>
            </a:r>
            <a:r>
              <a:rPr lang="pt-BR" sz="1600" dirty="0"/>
              <a:t>.ui</a:t>
            </a:r>
            <a:r>
              <a:rPr lang="pt-BR" sz="2400" dirty="0"/>
              <a:t>) para o seu código Python, acelerando drasticamente o desenvolvimento.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E3E783-2699-1068-D518-BA759BE31F68}"/>
              </a:ext>
            </a:extLst>
          </p:cNvPr>
          <p:cNvSpPr txBox="1">
            <a:spLocks/>
          </p:cNvSpPr>
          <p:nvPr/>
        </p:nvSpPr>
        <p:spPr>
          <a:xfrm>
            <a:off x="6459781" y="511772"/>
            <a:ext cx="5630618" cy="60265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 err="1">
                <a:solidFill>
                  <a:srgbClr val="FFFF00"/>
                </a:solidFill>
              </a:rPr>
              <a:t>pip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install</a:t>
            </a:r>
            <a:r>
              <a:rPr lang="pt-BR" sz="3600" dirty="0">
                <a:solidFill>
                  <a:srgbClr val="FFFF00"/>
                </a:solidFill>
              </a:rPr>
              <a:t> PyQt6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524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94CF2723-2613-3346-F0D4-38888F4D8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55" y="212256"/>
            <a:ext cx="69826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sys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from</a:t>
            </a:r>
            <a:r>
              <a:rPr lang="pt-BR" altLang="pt-BR" sz="1200" b="1" dirty="0">
                <a:latin typeface="Arial" panose="020B0604020202020204" pitchFamily="34" charset="0"/>
              </a:rPr>
              <a:t> PyQt6.QtWidgets </a:t>
            </a: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QApplication</a:t>
            </a:r>
            <a:r>
              <a:rPr lang="pt-BR" altLang="pt-BR" sz="1200" b="1" dirty="0">
                <a:latin typeface="Arial" panose="020B0604020202020204" pitchFamily="34" charset="0"/>
              </a:rPr>
              <a:t>, </a:t>
            </a:r>
            <a:r>
              <a:rPr lang="pt-BR" altLang="pt-BR" sz="12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200" b="1" dirty="0">
                <a:latin typeface="Arial" panose="020B0604020202020204" pitchFamily="34" charset="0"/>
              </a:rPr>
              <a:t>, </a:t>
            </a:r>
            <a:r>
              <a:rPr lang="pt-BR" altLang="pt-BR" sz="1200" b="1" dirty="0" err="1">
                <a:latin typeface="Arial" panose="020B0604020202020204" pitchFamily="34" charset="0"/>
              </a:rPr>
              <a:t>QLabel</a:t>
            </a:r>
            <a:r>
              <a:rPr lang="pt-BR" altLang="pt-BR" sz="1200" b="1" dirty="0">
                <a:latin typeface="Arial" panose="020B0604020202020204" pitchFamily="34" charset="0"/>
              </a:rPr>
              <a:t>, </a:t>
            </a:r>
            <a:r>
              <a:rPr lang="pt-BR" altLang="pt-BR" sz="1200" b="1" dirty="0" err="1">
                <a:latin typeface="Arial" panose="020B0604020202020204" pitchFamily="34" charset="0"/>
              </a:rPr>
              <a:t>QPushButton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from</a:t>
            </a:r>
            <a:r>
              <a:rPr lang="pt-BR" altLang="pt-BR" sz="1200" b="1" dirty="0">
                <a:latin typeface="Arial" panose="020B0604020202020204" pitchFamily="34" charset="0"/>
              </a:rPr>
              <a:t> PyQt6.QtGui </a:t>
            </a: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QFont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from</a:t>
            </a:r>
            <a:r>
              <a:rPr lang="pt-BR" altLang="pt-BR" sz="1200" b="1" dirty="0">
                <a:latin typeface="Arial" panose="020B0604020202020204" pitchFamily="34" charset="0"/>
              </a:rPr>
              <a:t> PyQt6.QtCore </a:t>
            </a: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Qt # Necessário para o alinhamento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# 1. Definir a classe da Janela Principal (Herda de </a:t>
            </a:r>
            <a:r>
              <a:rPr lang="pt-BR" altLang="pt-BR" sz="12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2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class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MinhaJanela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200" b="1" dirty="0">
                <a:latin typeface="Arial" panose="020B0604020202020204" pitchFamily="34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def</a:t>
            </a:r>
            <a:r>
              <a:rPr lang="pt-BR" altLang="pt-BR" sz="1200" b="1" dirty="0">
                <a:latin typeface="Arial" panose="020B0604020202020204" pitchFamily="34" charset="0"/>
              </a:rPr>
              <a:t> __</a:t>
            </a:r>
            <a:r>
              <a:rPr lang="pt-BR" altLang="pt-BR" sz="1200" b="1" dirty="0" err="1">
                <a:latin typeface="Arial" panose="020B0604020202020204" pitchFamily="34" charset="0"/>
              </a:rPr>
              <a:t>init</a:t>
            </a:r>
            <a:r>
              <a:rPr lang="pt-BR" altLang="pt-BR" sz="1200" b="1" dirty="0">
                <a:latin typeface="Arial" panose="020B0604020202020204" pitchFamily="34" charset="0"/>
              </a:rPr>
              <a:t>__(self):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super().__</a:t>
            </a:r>
            <a:r>
              <a:rPr lang="pt-BR" altLang="pt-BR" sz="1200" b="1" dirty="0" err="1">
                <a:latin typeface="Arial" panose="020B0604020202020204" pitchFamily="34" charset="0"/>
              </a:rPr>
              <a:t>init</a:t>
            </a:r>
            <a:r>
              <a:rPr lang="pt-BR" altLang="pt-BR" sz="1200" b="1" dirty="0">
                <a:latin typeface="Arial" panose="020B0604020202020204" pitchFamily="34" charset="0"/>
              </a:rPr>
              <a:t>__()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self.setWindowTitle</a:t>
            </a:r>
            <a:r>
              <a:rPr lang="pt-BR" altLang="pt-BR" sz="1200" b="1" dirty="0">
                <a:latin typeface="Arial" panose="020B0604020202020204" pitchFamily="34" charset="0"/>
              </a:rPr>
              <a:t>('Exemplo </a:t>
            </a:r>
            <a:r>
              <a:rPr lang="pt-BR" altLang="pt-BR" sz="1200" b="1" dirty="0" err="1">
                <a:latin typeface="Arial" panose="020B0604020202020204" pitchFamily="34" charset="0"/>
              </a:rPr>
              <a:t>PyQt</a:t>
            </a:r>
            <a:r>
              <a:rPr lang="pt-BR" altLang="pt-BR" sz="1200" b="1" dirty="0">
                <a:latin typeface="Arial" panose="020B0604020202020204" pitchFamily="34" charset="0"/>
              </a:rPr>
              <a:t> com Botão Fechar')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self.setGeometry</a:t>
            </a:r>
            <a:r>
              <a:rPr lang="pt-BR" altLang="pt-BR" sz="1200" b="1" dirty="0">
                <a:latin typeface="Arial" panose="020B0604020202020204" pitchFamily="34" charset="0"/>
              </a:rPr>
              <a:t>(100, 100, 450, 250) # Aumentamos um pouco o tamanho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self.iniciar_componentes</a:t>
            </a:r>
            <a:r>
              <a:rPr lang="pt-BR" altLang="pt-BR" sz="12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def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iniciar_componentes</a:t>
            </a:r>
            <a:r>
              <a:rPr lang="pt-BR" altLang="pt-BR" sz="1200" b="1" dirty="0">
                <a:latin typeface="Arial" panose="020B0604020202020204" pitchFamily="34" charset="0"/>
              </a:rPr>
              <a:t>(self):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--- RÓTULO (LABEL)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label</a:t>
            </a:r>
            <a:r>
              <a:rPr lang="pt-BR" altLang="pt-BR" sz="1200" b="1" dirty="0">
                <a:latin typeface="Arial" panose="020B0604020202020204" pitchFamily="34" charset="0"/>
              </a:rPr>
              <a:t> = </a:t>
            </a:r>
            <a:r>
              <a:rPr lang="pt-BR" altLang="pt-BR" sz="1200" b="1" dirty="0" err="1">
                <a:latin typeface="Arial" panose="020B0604020202020204" pitchFamily="34" charset="0"/>
              </a:rPr>
              <a:t>QLabel</a:t>
            </a:r>
            <a:r>
              <a:rPr lang="pt-BR" altLang="pt-BR" sz="1200" b="1" dirty="0">
                <a:latin typeface="Arial" panose="020B0604020202020204" pitchFamily="34" charset="0"/>
              </a:rPr>
              <a:t>("Olá, </a:t>
            </a:r>
            <a:r>
              <a:rPr lang="pt-BR" altLang="pt-BR" sz="1200" b="1" dirty="0" err="1">
                <a:latin typeface="Arial" panose="020B0604020202020204" pitchFamily="34" charset="0"/>
              </a:rPr>
              <a:t>PyQt</a:t>
            </a:r>
            <a:r>
              <a:rPr lang="pt-BR" altLang="pt-BR" sz="1200" b="1" dirty="0">
                <a:latin typeface="Arial" panose="020B0604020202020204" pitchFamily="34" charset="0"/>
              </a:rPr>
              <a:t>!", self)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label.setFont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QFont</a:t>
            </a:r>
            <a:r>
              <a:rPr lang="pt-BR" altLang="pt-BR" sz="1200" b="1" dirty="0">
                <a:latin typeface="Arial" panose="020B0604020202020204" pitchFamily="34" charset="0"/>
              </a:rPr>
              <a:t>('Arial', 24))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Centralizando o rótulo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label.setAlignment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Qt.AlignmentFlag.AlignCenter</a:t>
            </a:r>
            <a:r>
              <a:rPr lang="pt-BR" altLang="pt-BR" sz="1200" b="1" dirty="0">
                <a:latin typeface="Arial" panose="020B0604020202020204" pitchFamily="34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Posiciona o rótulo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label.setGeometry</a:t>
            </a:r>
            <a:r>
              <a:rPr lang="pt-BR" altLang="pt-BR" sz="1200" b="1" dirty="0">
                <a:latin typeface="Arial" panose="020B0604020202020204" pitchFamily="34" charset="0"/>
              </a:rPr>
              <a:t>(50, 50, 350, 50)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--- BOTÃO FECHAR (</a:t>
            </a:r>
            <a:r>
              <a:rPr lang="pt-BR" altLang="pt-BR" sz="1200" b="1" dirty="0" err="1">
                <a:latin typeface="Arial" panose="020B0604020202020204" pitchFamily="34" charset="0"/>
              </a:rPr>
              <a:t>QPushButton</a:t>
            </a:r>
            <a:r>
              <a:rPr lang="pt-BR" altLang="pt-BR" sz="1200" b="1" dirty="0">
                <a:latin typeface="Arial" panose="020B0604020202020204" pitchFamily="34" charset="0"/>
              </a:rPr>
              <a:t>)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botao_fechar</a:t>
            </a:r>
            <a:r>
              <a:rPr lang="pt-BR" altLang="pt-BR" sz="1200" b="1" dirty="0">
                <a:latin typeface="Arial" panose="020B0604020202020204" pitchFamily="34" charset="0"/>
              </a:rPr>
              <a:t> = </a:t>
            </a:r>
            <a:r>
              <a:rPr lang="pt-BR" altLang="pt-BR" sz="1200" b="1" dirty="0" err="1">
                <a:latin typeface="Arial" panose="020B0604020202020204" pitchFamily="34" charset="0"/>
              </a:rPr>
              <a:t>QPushButton</a:t>
            </a:r>
            <a:r>
              <a:rPr lang="pt-BR" altLang="pt-BR" sz="1200" b="1" dirty="0">
                <a:latin typeface="Arial" panose="020B0604020202020204" pitchFamily="34" charset="0"/>
              </a:rPr>
              <a:t>('Fechar', self)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botao_fechar.setFont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QFont</a:t>
            </a:r>
            <a:r>
              <a:rPr lang="pt-BR" altLang="pt-BR" sz="1200" b="1" dirty="0">
                <a:latin typeface="Arial" panose="020B0604020202020204" pitchFamily="34" charset="0"/>
              </a:rPr>
              <a:t>('Arial', 12))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Posiciona o botão (x, y, largura, altura)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botao_fechar.setGeometry</a:t>
            </a:r>
            <a:r>
              <a:rPr lang="pt-BR" altLang="pt-BR" sz="1200" b="1" dirty="0">
                <a:latin typeface="Arial" panose="020B0604020202020204" pitchFamily="34" charset="0"/>
              </a:rPr>
              <a:t>(150, 150, 150, 40)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CONEXÃO: Conecta o sinal '</a:t>
            </a:r>
            <a:r>
              <a:rPr lang="pt-BR" altLang="pt-BR" sz="1200" b="1" dirty="0" err="1">
                <a:latin typeface="Arial" panose="020B0604020202020204" pitchFamily="34" charset="0"/>
              </a:rPr>
              <a:t>clicked</a:t>
            </a:r>
            <a:r>
              <a:rPr lang="pt-BR" altLang="pt-BR" sz="1200" b="1" dirty="0">
                <a:latin typeface="Arial" panose="020B0604020202020204" pitchFamily="34" charset="0"/>
              </a:rPr>
              <a:t>' do botão ao método 'close' da janela.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# O método </a:t>
            </a:r>
            <a:r>
              <a:rPr lang="pt-BR" altLang="pt-BR" sz="1200" b="1" dirty="0" err="1">
                <a:latin typeface="Arial" panose="020B0604020202020204" pitchFamily="34" charset="0"/>
              </a:rPr>
              <a:t>self.close</a:t>
            </a:r>
            <a:r>
              <a:rPr lang="pt-BR" altLang="pt-BR" sz="1200" b="1" dirty="0">
                <a:latin typeface="Arial" panose="020B0604020202020204" pitchFamily="34" charset="0"/>
              </a:rPr>
              <a:t>() é um método padrão de </a:t>
            </a:r>
            <a:r>
              <a:rPr lang="pt-BR" altLang="pt-BR" sz="12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200" b="1" dirty="0">
                <a:latin typeface="Arial" panose="020B0604020202020204" pitchFamily="34" charset="0"/>
              </a:rPr>
              <a:t> que fecha a janela.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</a:t>
            </a:r>
            <a:r>
              <a:rPr lang="pt-BR" altLang="pt-BR" sz="1200" b="1" dirty="0" err="1">
                <a:latin typeface="Arial" panose="020B0604020202020204" pitchFamily="34" charset="0"/>
              </a:rPr>
              <a:t>botao_fechar.clicked.connect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self.close</a:t>
            </a:r>
            <a:r>
              <a:rPr lang="pt-BR" altLang="pt-BR" sz="12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8EBF8316-5363-C4D0-6874-4374993E0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089" y="2569182"/>
            <a:ext cx="6326912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# --- 2. EXECUTAR A APLICAÇÃO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if</a:t>
            </a:r>
            <a:r>
              <a:rPr lang="pt-BR" altLang="pt-BR" sz="1200" b="1" dirty="0">
                <a:latin typeface="Arial" panose="020B0604020202020204" pitchFamily="34" charset="0"/>
              </a:rPr>
              <a:t> __</a:t>
            </a:r>
            <a:r>
              <a:rPr lang="pt-BR" altLang="pt-BR" sz="1200" b="1" dirty="0" err="1">
                <a:latin typeface="Arial" panose="020B0604020202020204" pitchFamily="34" charset="0"/>
              </a:rPr>
              <a:t>name</a:t>
            </a:r>
            <a:r>
              <a:rPr lang="pt-BR" altLang="pt-BR" sz="1200" b="1" dirty="0">
                <a:latin typeface="Arial" panose="020B0604020202020204" pitchFamily="34" charset="0"/>
              </a:rPr>
              <a:t>__ == '__</a:t>
            </a:r>
            <a:r>
              <a:rPr lang="pt-BR" altLang="pt-BR" sz="1200" b="1" dirty="0" err="1">
                <a:latin typeface="Arial" panose="020B0604020202020204" pitchFamily="34" charset="0"/>
              </a:rPr>
              <a:t>main</a:t>
            </a:r>
            <a:r>
              <a:rPr lang="pt-BR" altLang="pt-BR" sz="1200" b="1" dirty="0">
                <a:latin typeface="Arial" panose="020B0604020202020204" pitchFamily="34" charset="0"/>
              </a:rPr>
              <a:t>__':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# Garante que o aplicativo seja executado corretamente em diferentes ambientes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app = </a:t>
            </a:r>
            <a:r>
              <a:rPr lang="pt-BR" altLang="pt-BR" sz="1200" b="1" dirty="0" err="1">
                <a:latin typeface="Arial" panose="020B0604020202020204" pitchFamily="34" charset="0"/>
              </a:rPr>
              <a:t>QApplication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sys.argv</a:t>
            </a:r>
            <a:r>
              <a:rPr lang="pt-BR" altLang="pt-BR" sz="12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# Cria e exibe a janela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janela_principal</a:t>
            </a:r>
            <a:r>
              <a:rPr lang="pt-BR" altLang="pt-BR" sz="1200" b="1" dirty="0">
                <a:latin typeface="Arial" panose="020B0604020202020204" pitchFamily="34" charset="0"/>
              </a:rPr>
              <a:t> = </a:t>
            </a:r>
            <a:r>
              <a:rPr lang="pt-BR" altLang="pt-BR" sz="1200" b="1" dirty="0" err="1">
                <a:latin typeface="Arial" panose="020B0604020202020204" pitchFamily="34" charset="0"/>
              </a:rPr>
              <a:t>MinhaJanela</a:t>
            </a:r>
            <a:r>
              <a:rPr lang="pt-BR" altLang="pt-BR" sz="12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janela_principal.show</a:t>
            </a:r>
            <a:r>
              <a:rPr lang="pt-BR" altLang="pt-BR" sz="12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# Inicia o loop de eventos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sys.exit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app.exec</a:t>
            </a:r>
            <a:r>
              <a:rPr lang="pt-BR" altLang="pt-BR" sz="1200" b="1" dirty="0">
                <a:latin typeface="Arial" panose="020B0604020202020204" pitchFamily="34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9813-75C8-D02A-04EF-C4AA399F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F7578A0-3C0E-A764-29BE-0763AE321820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</a:t>
            </a:r>
            <a:r>
              <a:rPr lang="pt-BR" sz="4400" dirty="0"/>
              <a:t> </a:t>
            </a:r>
            <a:r>
              <a:rPr lang="pt-BR" sz="5400" dirty="0"/>
              <a:t>– </a:t>
            </a:r>
            <a:r>
              <a:rPr lang="pt-BR" sz="5400" dirty="0" err="1"/>
              <a:t>PySide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A8C4583-5F39-D170-EFFD-7747D3493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11" y="1078631"/>
            <a:ext cx="11627436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/>
              <a:t>	A biblioteca </a:t>
            </a:r>
            <a:r>
              <a:rPr lang="pt-BR" b="1" dirty="0" err="1"/>
              <a:t>PySide</a:t>
            </a:r>
            <a:r>
              <a:rPr lang="pt-BR" dirty="0"/>
              <a:t> é, em essência, a </a:t>
            </a:r>
            <a:r>
              <a:rPr lang="pt-BR" b="1" dirty="0"/>
              <a:t>alternativa oficial e licenciada de forma mais permissiva ao </a:t>
            </a:r>
            <a:r>
              <a:rPr lang="pt-BR" b="1" dirty="0" err="1"/>
              <a:t>PyQt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Assim como o </a:t>
            </a:r>
            <a:r>
              <a:rPr lang="pt-BR" dirty="0" err="1"/>
              <a:t>PyQt</a:t>
            </a:r>
            <a:r>
              <a:rPr lang="pt-BR" dirty="0"/>
              <a:t>, o </a:t>
            </a:r>
            <a:r>
              <a:rPr lang="pt-BR" dirty="0" err="1"/>
              <a:t>PySide</a:t>
            </a:r>
            <a:r>
              <a:rPr lang="pt-BR" dirty="0"/>
              <a:t> é um </a:t>
            </a:r>
            <a:r>
              <a:rPr lang="pt-BR" i="1" dirty="0" err="1"/>
              <a:t>binding</a:t>
            </a:r>
            <a:r>
              <a:rPr lang="pt-BR" dirty="0"/>
              <a:t> que permite que a linguagem Python acesse e utilize o poderoso </a:t>
            </a:r>
            <a:r>
              <a:rPr lang="pt-BR" i="1" dirty="0"/>
              <a:t>framework</a:t>
            </a:r>
            <a:r>
              <a:rPr lang="pt-BR" dirty="0"/>
              <a:t> de desenvolvimento de aplicações </a:t>
            </a:r>
            <a:r>
              <a:rPr lang="pt-BR" b="1" dirty="0"/>
              <a:t>Qt</a:t>
            </a:r>
            <a:r>
              <a:rPr lang="pt-BR" dirty="0"/>
              <a:t> (originalmente escrito em C++).</a:t>
            </a:r>
          </a:p>
          <a:p>
            <a:pPr algn="just"/>
            <a:endParaRPr lang="pt-BR" dirty="0"/>
          </a:p>
          <a:p>
            <a:r>
              <a:rPr lang="pt-BR" b="1" dirty="0"/>
              <a:t>O que é o </a:t>
            </a:r>
            <a:r>
              <a:rPr lang="pt-BR" b="1" dirty="0" err="1"/>
              <a:t>PySide</a:t>
            </a:r>
            <a:r>
              <a:rPr lang="pt-BR" b="1" dirty="0"/>
              <a:t>?</a:t>
            </a:r>
          </a:p>
          <a:p>
            <a:endParaRPr lang="pt-BR" b="1" dirty="0"/>
          </a:p>
          <a:p>
            <a:r>
              <a:rPr lang="pt-BR" b="1" dirty="0"/>
              <a:t>	</a:t>
            </a:r>
            <a:r>
              <a:rPr lang="pt-BR" b="1" dirty="0" err="1"/>
              <a:t>Binding</a:t>
            </a:r>
            <a:r>
              <a:rPr lang="pt-BR" b="1" dirty="0"/>
              <a:t> Oficial do Qt:</a:t>
            </a:r>
            <a:r>
              <a:rPr lang="pt-BR" dirty="0"/>
              <a:t> O </a:t>
            </a:r>
            <a:r>
              <a:rPr lang="pt-BR" dirty="0" err="1"/>
              <a:t>PySide</a:t>
            </a:r>
            <a:r>
              <a:rPr lang="pt-BR" dirty="0"/>
              <a:t> é o </a:t>
            </a:r>
            <a:r>
              <a:rPr lang="pt-BR" i="1" dirty="0" err="1"/>
              <a:t>binding</a:t>
            </a:r>
            <a:r>
              <a:rPr lang="pt-BR" dirty="0"/>
              <a:t> Python mantido e desenvolvido pela </a:t>
            </a:r>
            <a:r>
              <a:rPr lang="pt-BR" b="1" dirty="0"/>
              <a:t>The Qt </a:t>
            </a:r>
            <a:r>
              <a:rPr lang="pt-BR" b="1" dirty="0" err="1"/>
              <a:t>Company</a:t>
            </a:r>
            <a:r>
              <a:rPr lang="pt-BR" dirty="0"/>
              <a:t> (a empresa por trás do </a:t>
            </a:r>
            <a:r>
              <a:rPr lang="pt-BR" i="1" dirty="0"/>
              <a:t>framework</a:t>
            </a:r>
            <a:r>
              <a:rPr lang="pt-BR" dirty="0"/>
              <a:t> Qt). Desde que foi adotado oficialmente, é a escolha recomendada pela própria Qt para o desenvolvimento Python.</a:t>
            </a:r>
          </a:p>
          <a:p>
            <a:r>
              <a:rPr lang="pt-BR" b="1" dirty="0"/>
              <a:t>	Acesso Total ao Qt:</a:t>
            </a:r>
            <a:r>
              <a:rPr lang="pt-BR" dirty="0"/>
              <a:t> Ele fornece o mesmo nível de funcionalidade avançada que o </a:t>
            </a:r>
            <a:r>
              <a:rPr lang="pt-BR" dirty="0" err="1"/>
              <a:t>PyQt</a:t>
            </a:r>
            <a:r>
              <a:rPr lang="pt-BR" dirty="0"/>
              <a:t>. Isso inclui a capacidade de criar interfaces gráficas complexas, usar o sistema de </a:t>
            </a:r>
            <a:r>
              <a:rPr lang="pt-BR" b="1" dirty="0"/>
              <a:t>Sinais e Slots</a:t>
            </a:r>
            <a:r>
              <a:rPr lang="pt-BR" dirty="0"/>
              <a:t>, trabalhar com gráficos, multimídia, redes, e usar a ferramenta visual </a:t>
            </a:r>
            <a:r>
              <a:rPr lang="pt-BR" b="1" dirty="0"/>
              <a:t>Qt Designer</a:t>
            </a:r>
            <a:r>
              <a:rPr lang="pt-BR" dirty="0"/>
              <a:t>.</a:t>
            </a:r>
          </a:p>
          <a:p>
            <a:r>
              <a:rPr lang="pt-BR" b="1" dirty="0"/>
              <a:t>Versões:</a:t>
            </a:r>
          </a:p>
          <a:p>
            <a:endParaRPr lang="pt-BR" dirty="0"/>
          </a:p>
          <a:p>
            <a:pPr lvl="1"/>
            <a:r>
              <a:rPr lang="pt-BR" b="1" dirty="0"/>
              <a:t>PySide2:</a:t>
            </a:r>
            <a:r>
              <a:rPr lang="pt-BR" dirty="0"/>
              <a:t> Utiliza o Qt na versão 5.</a:t>
            </a:r>
          </a:p>
          <a:p>
            <a:pPr lvl="1"/>
            <a:r>
              <a:rPr lang="pt-BR" b="1" dirty="0"/>
              <a:t>PySide6:</a:t>
            </a:r>
            <a:r>
              <a:rPr lang="pt-BR" dirty="0"/>
              <a:t> Utiliza o Qt na versão 6 (a mais recente).</a:t>
            </a:r>
          </a:p>
          <a:p>
            <a:pPr lvl="1"/>
            <a:endParaRPr lang="pt-BR" dirty="0"/>
          </a:p>
          <a:p>
            <a:r>
              <a:rPr lang="pt-BR" b="1" dirty="0"/>
              <a:t>A Diferença Chave: Licenciamento</a:t>
            </a:r>
          </a:p>
          <a:p>
            <a:r>
              <a:rPr lang="pt-BR" dirty="0"/>
              <a:t>A principal razão histórica e prática para a existência do </a:t>
            </a:r>
            <a:r>
              <a:rPr lang="pt-BR" dirty="0" err="1"/>
              <a:t>PySide</a:t>
            </a:r>
            <a:r>
              <a:rPr lang="pt-BR" dirty="0"/>
              <a:t> é a sua licença, que resolve um problema de uso comercial que existia com o </a:t>
            </a:r>
            <a:r>
              <a:rPr lang="pt-BR" dirty="0" err="1"/>
              <a:t>PyQt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0D0DC3-AC7B-BEE5-F51F-9CF0988F1861}"/>
              </a:ext>
            </a:extLst>
          </p:cNvPr>
          <p:cNvSpPr txBox="1">
            <a:spLocks/>
          </p:cNvSpPr>
          <p:nvPr/>
        </p:nvSpPr>
        <p:spPr>
          <a:xfrm>
            <a:off x="6379071" y="327045"/>
            <a:ext cx="5630618" cy="60265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 err="1">
                <a:solidFill>
                  <a:srgbClr val="FFFF00"/>
                </a:solidFill>
              </a:rPr>
              <a:t>pip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install</a:t>
            </a:r>
            <a:r>
              <a:rPr lang="pt-BR" sz="3600" dirty="0">
                <a:solidFill>
                  <a:srgbClr val="FFFF00"/>
                </a:solidFill>
              </a:rPr>
              <a:t> PySide6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96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F95E-E576-A5E9-CD1B-52E5EA6B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600A14CA-D6FD-0FF2-D9CD-86273881181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D54F649-1F40-C3D1-EDB3-46B99B1E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75" y="302359"/>
            <a:ext cx="6982644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sys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A única diferença significativa é que importamos do PySide6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from</a:t>
            </a:r>
            <a:r>
              <a:rPr lang="pt-BR" altLang="pt-BR" sz="1400" b="1" dirty="0">
                <a:latin typeface="Arial" panose="020B0604020202020204" pitchFamily="34" charset="0"/>
              </a:rPr>
              <a:t> PySide6.QtWidgets </a:t>
            </a: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QApplication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QLabel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QPushButton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from</a:t>
            </a:r>
            <a:r>
              <a:rPr lang="pt-BR" altLang="pt-BR" sz="1400" b="1" dirty="0">
                <a:latin typeface="Arial" panose="020B0604020202020204" pitchFamily="34" charset="0"/>
              </a:rPr>
              <a:t> PySide6.QtGui </a:t>
            </a: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QFont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from</a:t>
            </a:r>
            <a:r>
              <a:rPr lang="pt-BR" altLang="pt-BR" sz="1400" b="1" dirty="0">
                <a:latin typeface="Arial" panose="020B0604020202020204" pitchFamily="34" charset="0"/>
              </a:rPr>
              <a:t> PySide6.QtCore </a:t>
            </a: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Qt # Necessário para o alinhamento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1. Definir a classe da Janela Principal (Herda de </a:t>
            </a:r>
            <a:r>
              <a:rPr lang="pt-BR" altLang="pt-BR" sz="14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class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MinhaJanela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QWidget</a:t>
            </a:r>
            <a:r>
              <a:rPr lang="pt-BR" altLang="pt-BR" sz="1400" b="1" dirty="0">
                <a:latin typeface="Arial" panose="020B0604020202020204" pitchFamily="34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def</a:t>
            </a:r>
            <a:r>
              <a:rPr lang="pt-BR" altLang="pt-BR" sz="1400" b="1" dirty="0">
                <a:latin typeface="Arial" panose="020B0604020202020204" pitchFamily="34" charset="0"/>
              </a:rPr>
              <a:t> __</a:t>
            </a:r>
            <a:r>
              <a:rPr lang="pt-BR" altLang="pt-BR" sz="1400" b="1" dirty="0" err="1">
                <a:latin typeface="Arial" panose="020B0604020202020204" pitchFamily="34" charset="0"/>
              </a:rPr>
              <a:t>init</a:t>
            </a:r>
            <a:r>
              <a:rPr lang="pt-BR" altLang="pt-BR" sz="1400" b="1" dirty="0">
                <a:latin typeface="Arial" panose="020B0604020202020204" pitchFamily="34" charset="0"/>
              </a:rPr>
              <a:t>__(self):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super().__</a:t>
            </a:r>
            <a:r>
              <a:rPr lang="pt-BR" altLang="pt-BR" sz="1400" b="1" dirty="0" err="1">
                <a:latin typeface="Arial" panose="020B0604020202020204" pitchFamily="34" charset="0"/>
              </a:rPr>
              <a:t>init</a:t>
            </a:r>
            <a:r>
              <a:rPr lang="pt-BR" altLang="pt-BR" sz="1400" b="1" dirty="0">
                <a:latin typeface="Arial" panose="020B0604020202020204" pitchFamily="34" charset="0"/>
              </a:rPr>
              <a:t>__()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self.setWindowTitle</a:t>
            </a:r>
            <a:r>
              <a:rPr lang="pt-BR" altLang="pt-BR" sz="1400" b="1" dirty="0">
                <a:latin typeface="Arial" panose="020B0604020202020204" pitchFamily="34" charset="0"/>
              </a:rPr>
              <a:t>('Exemplo </a:t>
            </a:r>
            <a:r>
              <a:rPr lang="pt-BR" altLang="pt-BR" sz="1400" b="1" dirty="0" err="1">
                <a:latin typeface="Arial" panose="020B0604020202020204" pitchFamily="34" charset="0"/>
              </a:rPr>
              <a:t>PySide</a:t>
            </a:r>
            <a:r>
              <a:rPr lang="pt-BR" altLang="pt-BR" sz="1400" b="1" dirty="0">
                <a:latin typeface="Arial" panose="020B0604020202020204" pitchFamily="34" charset="0"/>
              </a:rPr>
              <a:t> Simples')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self.setGeometry</a:t>
            </a:r>
            <a:r>
              <a:rPr lang="pt-BR" altLang="pt-BR" sz="1400" b="1" dirty="0">
                <a:latin typeface="Arial" panose="020B0604020202020204" pitchFamily="34" charset="0"/>
              </a:rPr>
              <a:t>(100, 100, 450, 250)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self.iniciar_componentes</a:t>
            </a:r>
            <a:r>
              <a:rPr lang="pt-BR" altLang="pt-BR" sz="14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def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iniciar_componentes</a:t>
            </a:r>
            <a:r>
              <a:rPr lang="pt-BR" altLang="pt-BR" sz="1400" b="1" dirty="0">
                <a:latin typeface="Arial" panose="020B0604020202020204" pitchFamily="34" charset="0"/>
              </a:rPr>
              <a:t>(self):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--- RÓTULO (</a:t>
            </a:r>
            <a:r>
              <a:rPr lang="pt-BR" altLang="pt-BR" sz="1400" b="1" dirty="0" err="1">
                <a:latin typeface="Arial" panose="020B0604020202020204" pitchFamily="34" charset="0"/>
              </a:rPr>
              <a:t>QLabel</a:t>
            </a:r>
            <a:r>
              <a:rPr lang="pt-BR" altLang="pt-BR" sz="1400" b="1" dirty="0">
                <a:latin typeface="Arial" panose="020B0604020202020204" pitchFamily="34" charset="0"/>
              </a:rPr>
              <a:t>)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label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QLabel</a:t>
            </a:r>
            <a:r>
              <a:rPr lang="pt-BR" altLang="pt-BR" sz="1400" b="1" dirty="0">
                <a:latin typeface="Arial" panose="020B0604020202020204" pitchFamily="34" charset="0"/>
              </a:rPr>
              <a:t>("Olá, </a:t>
            </a:r>
            <a:r>
              <a:rPr lang="pt-BR" altLang="pt-BR" sz="1400" b="1" dirty="0" err="1">
                <a:latin typeface="Arial" panose="020B0604020202020204" pitchFamily="34" charset="0"/>
              </a:rPr>
              <a:t>PySide</a:t>
            </a:r>
            <a:r>
              <a:rPr lang="pt-BR" altLang="pt-BR" sz="1400" b="1" dirty="0">
                <a:latin typeface="Arial" panose="020B0604020202020204" pitchFamily="34" charset="0"/>
              </a:rPr>
              <a:t>!", self)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label.setFont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QFont</a:t>
            </a:r>
            <a:r>
              <a:rPr lang="pt-BR" altLang="pt-BR" sz="1400" b="1" dirty="0">
                <a:latin typeface="Arial" panose="020B0604020202020204" pitchFamily="34" charset="0"/>
              </a:rPr>
              <a:t>('Arial', 24))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Centralizando o rótulo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label.setAlignment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Qt.AlignmentFlag.AlignCenter</a:t>
            </a:r>
            <a:r>
              <a:rPr lang="pt-BR" altLang="pt-BR" sz="1400" b="1" dirty="0">
                <a:latin typeface="Arial" panose="020B0604020202020204" pitchFamily="34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label.setGeometry</a:t>
            </a:r>
            <a:r>
              <a:rPr lang="pt-BR" altLang="pt-BR" sz="1400" b="1" dirty="0">
                <a:latin typeface="Arial" panose="020B0604020202020204" pitchFamily="34" charset="0"/>
              </a:rPr>
              <a:t>(50, 50, 350, 50)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--- BOTÃO FECHAR (</a:t>
            </a:r>
            <a:r>
              <a:rPr lang="pt-BR" altLang="pt-BR" sz="1400" b="1" dirty="0" err="1">
                <a:latin typeface="Arial" panose="020B0604020202020204" pitchFamily="34" charset="0"/>
              </a:rPr>
              <a:t>QPushButton</a:t>
            </a:r>
            <a:r>
              <a:rPr lang="pt-BR" altLang="pt-BR" sz="1400" b="1" dirty="0">
                <a:latin typeface="Arial" panose="020B0604020202020204" pitchFamily="34" charset="0"/>
              </a:rPr>
              <a:t>)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botao_fechar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QPushButton</a:t>
            </a:r>
            <a:r>
              <a:rPr lang="pt-BR" altLang="pt-BR" sz="1400" b="1" dirty="0">
                <a:latin typeface="Arial" panose="020B0604020202020204" pitchFamily="34" charset="0"/>
              </a:rPr>
              <a:t>('Fechar', self)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botao_fechar.setFont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QFont</a:t>
            </a:r>
            <a:r>
              <a:rPr lang="pt-BR" altLang="pt-BR" sz="1400" b="1" dirty="0">
                <a:latin typeface="Arial" panose="020B0604020202020204" pitchFamily="34" charset="0"/>
              </a:rPr>
              <a:t>('Arial', 12))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44FB380C-0AEC-4C03-23BA-B51977617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8609" y="1844217"/>
            <a:ext cx="698264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Posiciona o botão (x, y, largura, altura)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botao_fechar.setGeometry</a:t>
            </a:r>
            <a:r>
              <a:rPr lang="pt-BR" altLang="pt-BR" sz="1400" b="1" dirty="0">
                <a:latin typeface="Arial" panose="020B0604020202020204" pitchFamily="34" charset="0"/>
              </a:rPr>
              <a:t>(150, 150, 150, 40)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CONEXÃO: Conecta o sinal '</a:t>
            </a:r>
            <a:r>
              <a:rPr lang="pt-BR" altLang="pt-BR" sz="1400" b="1" dirty="0" err="1">
                <a:latin typeface="Arial" panose="020B0604020202020204" pitchFamily="34" charset="0"/>
              </a:rPr>
              <a:t>clicked</a:t>
            </a:r>
            <a:r>
              <a:rPr lang="pt-BR" altLang="pt-BR" sz="1400" b="1" dirty="0">
                <a:latin typeface="Arial" panose="020B0604020202020204" pitchFamily="34" charset="0"/>
              </a:rPr>
              <a:t>' do botão ao método 'close' da janela.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A sintaxe de Sinais e Slots é idêntica à do </a:t>
            </a:r>
            <a:r>
              <a:rPr lang="pt-BR" altLang="pt-BR" sz="1400" b="1" dirty="0" err="1">
                <a:latin typeface="Arial" panose="020B0604020202020204" pitchFamily="34" charset="0"/>
              </a:rPr>
              <a:t>PyQt</a:t>
            </a:r>
            <a:r>
              <a:rPr lang="pt-BR" altLang="pt-BR" sz="1400" b="1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botao_fechar.clicked.connect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self.close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--- 2. EXECUTAR A APLICAÇÃO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if</a:t>
            </a:r>
            <a:r>
              <a:rPr lang="pt-BR" altLang="pt-BR" sz="1400" b="1" dirty="0">
                <a:latin typeface="Arial" panose="020B0604020202020204" pitchFamily="34" charset="0"/>
              </a:rPr>
              <a:t> __</a:t>
            </a:r>
            <a:r>
              <a:rPr lang="pt-BR" altLang="pt-BR" sz="1400" b="1" dirty="0" err="1">
                <a:latin typeface="Arial" panose="020B0604020202020204" pitchFamily="34" charset="0"/>
              </a:rPr>
              <a:t>name</a:t>
            </a:r>
            <a:r>
              <a:rPr lang="pt-BR" altLang="pt-BR" sz="1400" b="1" dirty="0">
                <a:latin typeface="Arial" panose="020B0604020202020204" pitchFamily="34" charset="0"/>
              </a:rPr>
              <a:t>__ == '__</a:t>
            </a:r>
            <a:r>
              <a:rPr lang="pt-BR" altLang="pt-BR" sz="1400" b="1" dirty="0" err="1">
                <a:latin typeface="Arial" panose="020B0604020202020204" pitchFamily="34" charset="0"/>
              </a:rPr>
              <a:t>main</a:t>
            </a:r>
            <a:r>
              <a:rPr lang="pt-BR" altLang="pt-BR" sz="1400" b="1" dirty="0">
                <a:latin typeface="Arial" panose="020B0604020202020204" pitchFamily="34" charset="0"/>
              </a:rPr>
              <a:t>__':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Cria a instância da </a:t>
            </a:r>
            <a:r>
              <a:rPr lang="pt-BR" altLang="pt-BR" sz="1400" b="1" dirty="0" err="1">
                <a:latin typeface="Arial" panose="020B0604020202020204" pitchFamily="34" charset="0"/>
              </a:rPr>
              <a:t>QApplication</a:t>
            </a:r>
            <a:r>
              <a:rPr lang="pt-BR" altLang="pt-BR" sz="1400" b="1" dirty="0">
                <a:latin typeface="Arial" panose="020B0604020202020204" pitchFamily="34" charset="0"/>
              </a:rPr>
              <a:t> (obrigatória)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app = </a:t>
            </a:r>
            <a:r>
              <a:rPr lang="pt-BR" altLang="pt-BR" sz="1400" b="1" dirty="0" err="1">
                <a:latin typeface="Arial" panose="020B0604020202020204" pitchFamily="34" charset="0"/>
              </a:rPr>
              <a:t>QApplication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sys.argv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Cria e exibe a janela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janela_principal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MinhaJanela</a:t>
            </a:r>
            <a:r>
              <a:rPr lang="pt-BR" altLang="pt-BR" sz="14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janela_principal.show</a:t>
            </a:r>
            <a:r>
              <a:rPr lang="pt-BR" altLang="pt-BR" sz="14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Inicia o loop de eventos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sys.exit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app.exec</a:t>
            </a:r>
            <a:r>
              <a:rPr lang="pt-BR" altLang="pt-BR" sz="1400" b="1" dirty="0">
                <a:latin typeface="Arial" panose="020B0604020202020204" pitchFamily="34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3185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5B5F-F3BD-BAFE-0AC2-D1D022122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554432E-6737-9E82-9739-81375AD2FBA5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Streamlit</a:t>
            </a:r>
            <a:endParaRPr lang="pt-BR" sz="5400" dirty="0"/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B04383D-DC4C-1EF7-9BBE-4CF393DA7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11" y="1203932"/>
            <a:ext cx="1162743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/>
              <a:t>	A biblioteca </a:t>
            </a:r>
            <a:r>
              <a:rPr lang="pt-BR" b="1" dirty="0" err="1"/>
              <a:t>Streamlit</a:t>
            </a:r>
            <a:r>
              <a:rPr lang="pt-BR" dirty="0"/>
              <a:t> é uma ferramenta revolucionária e extremamente popular no ecossistema Python, especialmente entre </a:t>
            </a:r>
            <a:r>
              <a:rPr lang="pt-BR" b="1" dirty="0"/>
              <a:t>cientistas de dados, analistas e engenheiros de Machine Learning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Sua principal missão é: </a:t>
            </a:r>
            <a:r>
              <a:rPr lang="pt-BR" b="1" dirty="0"/>
              <a:t>Permitir que desenvolvedores Python criem e compartilhem aplicativos web interativos (dashboards, ferramentas de análise ou interfaces para modelos de ML) usando apenas código Python simples, sem a necessidade de HTML, CSS ou </a:t>
            </a:r>
            <a:r>
              <a:rPr lang="pt-BR" b="1" dirty="0" err="1"/>
              <a:t>JavaScript</a:t>
            </a:r>
            <a:r>
              <a:rPr lang="pt-BR" b="1" dirty="0"/>
              <a:t>.</a:t>
            </a:r>
          </a:p>
          <a:p>
            <a:pPr algn="just"/>
            <a:endParaRPr lang="pt-BR" b="1" dirty="0"/>
          </a:p>
          <a:p>
            <a:r>
              <a:rPr lang="pt-BR" b="1" dirty="0"/>
              <a:t>O que torna o </a:t>
            </a:r>
            <a:r>
              <a:rPr lang="pt-BR" b="1" dirty="0" err="1"/>
              <a:t>Streamlit</a:t>
            </a:r>
            <a:r>
              <a:rPr lang="pt-BR" b="1" dirty="0"/>
              <a:t> único?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O </a:t>
            </a:r>
            <a:r>
              <a:rPr lang="pt-BR" dirty="0" err="1"/>
              <a:t>Streamlit</a:t>
            </a:r>
            <a:r>
              <a:rPr lang="pt-BR" dirty="0"/>
              <a:t> é diferente das bibliotecas GUI de desktop (</a:t>
            </a:r>
            <a:r>
              <a:rPr lang="pt-BR" dirty="0" err="1"/>
              <a:t>Tkinter</a:t>
            </a:r>
            <a:r>
              <a:rPr lang="pt-BR" dirty="0"/>
              <a:t>, </a:t>
            </a:r>
            <a:r>
              <a:rPr lang="pt-BR" dirty="0" err="1"/>
              <a:t>PyQt</a:t>
            </a:r>
            <a:r>
              <a:rPr lang="pt-BR" dirty="0"/>
              <a:t>) e de </a:t>
            </a:r>
            <a:r>
              <a:rPr lang="pt-BR" i="1" dirty="0"/>
              <a:t>frameworks</a:t>
            </a:r>
            <a:r>
              <a:rPr lang="pt-BR" dirty="0"/>
              <a:t> web tradicionais (</a:t>
            </a:r>
            <a:r>
              <a:rPr lang="pt-BR" dirty="0" err="1"/>
              <a:t>Flask</a:t>
            </a:r>
            <a:r>
              <a:rPr lang="pt-BR" dirty="0"/>
              <a:t>, Django) por sua </a:t>
            </a:r>
            <a:r>
              <a:rPr lang="pt-BR" b="1" dirty="0"/>
              <a:t>simplicidade orientada a dados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b="1" dirty="0"/>
              <a:t>1. Transformação de Script</a:t>
            </a:r>
          </a:p>
          <a:p>
            <a:r>
              <a:rPr lang="pt-BR" dirty="0"/>
              <a:t>	Você não precisa de uma estrutura de classes ou de um </a:t>
            </a:r>
            <a:r>
              <a:rPr lang="pt-BR" i="1" dirty="0"/>
              <a:t>framework</a:t>
            </a:r>
            <a:r>
              <a:rPr lang="pt-BR" dirty="0"/>
              <a:t> MVC (Modelo-Visão-Controlador). Você simplesmente escreve um script Python </a:t>
            </a:r>
            <a:r>
              <a:rPr lang="pt-BR" b="1" dirty="0"/>
              <a:t>linear</a:t>
            </a:r>
            <a:r>
              <a:rPr lang="pt-BR" dirty="0"/>
              <a:t> de cima para baixo.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Streamlit</a:t>
            </a:r>
            <a:r>
              <a:rPr lang="pt-BR" dirty="0"/>
              <a:t> interpreta este script e o transforma em uma </a:t>
            </a:r>
            <a:r>
              <a:rPr lang="pt-BR" b="1" dirty="0"/>
              <a:t>página web interativa</a:t>
            </a:r>
            <a:r>
              <a:rPr lang="pt-BR" dirty="0"/>
              <a:t> automaticamente.</a:t>
            </a:r>
          </a:p>
          <a:p>
            <a:pPr algn="just"/>
            <a:endParaRPr lang="pt-BR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58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08CC0-CD57-2006-962A-BE9AB2C7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EB49A6B-6C93-F88B-D63F-9145397FBFCC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Streamlit</a:t>
            </a:r>
            <a:endParaRPr lang="pt-BR" sz="5400" dirty="0"/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A914C1F-6400-86DB-1B86-61CD340D1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11" y="926935"/>
            <a:ext cx="1162743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b="1" dirty="0"/>
              <a:t>2. Interatividade Padrão</a:t>
            </a:r>
          </a:p>
          <a:p>
            <a:pPr algn="just"/>
            <a:r>
              <a:rPr lang="pt-BR" dirty="0"/>
              <a:t>	Adicionar um </a:t>
            </a:r>
            <a:r>
              <a:rPr lang="pt-BR" i="1" dirty="0"/>
              <a:t>widget</a:t>
            </a:r>
            <a:r>
              <a:rPr lang="pt-BR" dirty="0"/>
              <a:t> interativo (como um controle deslizante, botão ou caixa de seleção) é feito com uma única linha de código, como </a:t>
            </a:r>
            <a:r>
              <a:rPr lang="pt-BR" dirty="0" err="1"/>
              <a:t>st.slider</a:t>
            </a:r>
            <a:r>
              <a:rPr lang="pt-BR" dirty="0"/>
              <a:t>().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Quando um usuário interage com um </a:t>
            </a:r>
            <a:r>
              <a:rPr lang="pt-BR" i="1" dirty="0"/>
              <a:t>widget</a:t>
            </a:r>
            <a:r>
              <a:rPr lang="pt-BR" dirty="0"/>
              <a:t>, o </a:t>
            </a:r>
            <a:r>
              <a:rPr lang="pt-BR" dirty="0" err="1"/>
              <a:t>Streamlit</a:t>
            </a:r>
            <a:r>
              <a:rPr lang="pt-BR" dirty="0"/>
              <a:t> </a:t>
            </a:r>
            <a:r>
              <a:rPr lang="pt-BR" b="1" dirty="0"/>
              <a:t>reexecuta automaticamente</a:t>
            </a:r>
            <a:r>
              <a:rPr lang="pt-BR" dirty="0"/>
              <a:t> todo o seu script, com o novo valor do </a:t>
            </a:r>
            <a:r>
              <a:rPr lang="pt-BR" i="1" dirty="0"/>
              <a:t>widget</a:t>
            </a:r>
            <a:r>
              <a:rPr lang="pt-BR" dirty="0"/>
              <a:t>. Isso faz com que a reatividade e a atualização de dados sejam incrivelmente fáceis de implementar.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3. Foco em Dados</a:t>
            </a:r>
          </a:p>
          <a:p>
            <a:pPr algn="just"/>
            <a:r>
              <a:rPr lang="pt-BR" dirty="0"/>
              <a:t>	Possui funções integradas e otimizadas para exibir resultados de análise de dados. Você pode mostrar: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Tabelas do Pandas (</a:t>
            </a:r>
            <a:r>
              <a:rPr lang="pt-BR" dirty="0" err="1"/>
              <a:t>st.dataframe</a:t>
            </a:r>
            <a:r>
              <a:rPr lang="pt-BR" dirty="0"/>
              <a:t>()).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Gráficos do </a:t>
            </a:r>
            <a:r>
              <a:rPr lang="pt-BR" dirty="0" err="1"/>
              <a:t>Matplotlib</a:t>
            </a:r>
            <a:r>
              <a:rPr lang="pt-BR" dirty="0"/>
              <a:t>, </a:t>
            </a:r>
            <a:r>
              <a:rPr lang="pt-BR" dirty="0" err="1"/>
              <a:t>Seaborn</a:t>
            </a:r>
            <a:r>
              <a:rPr lang="pt-BR" dirty="0"/>
              <a:t> ou </a:t>
            </a:r>
            <a:r>
              <a:rPr lang="pt-BR" dirty="0" err="1"/>
              <a:t>Plotly</a:t>
            </a:r>
            <a:r>
              <a:rPr lang="pt-BR" dirty="0"/>
              <a:t> (</a:t>
            </a:r>
            <a:r>
              <a:rPr lang="pt-BR" dirty="0" err="1"/>
              <a:t>st.pyplot</a:t>
            </a:r>
            <a:r>
              <a:rPr lang="pt-BR" dirty="0"/>
              <a:t>(), </a:t>
            </a:r>
            <a:r>
              <a:rPr lang="pt-BR" dirty="0" err="1"/>
              <a:t>st.plotly_chart</a:t>
            </a:r>
            <a:r>
              <a:rPr lang="pt-BR" dirty="0"/>
              <a:t>()).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Imagens, vídeos e mapas.</a:t>
            </a:r>
          </a:p>
          <a:p>
            <a:pPr lvl="1" algn="just"/>
            <a:endParaRPr lang="pt-BR" dirty="0"/>
          </a:p>
          <a:p>
            <a:pPr algn="just"/>
            <a:r>
              <a:rPr lang="pt-BR" dirty="0"/>
              <a:t>	Ele inclui um sistema de </a:t>
            </a:r>
            <a:r>
              <a:rPr lang="pt-BR" b="1" dirty="0"/>
              <a:t>cache</a:t>
            </a:r>
            <a:r>
              <a:rPr lang="pt-BR" dirty="0"/>
              <a:t> inteligente (@st.cache_data) que memoriza os resultados de funções de computação pesada, como carregamento de dados ou treinamento de modelos de Machine Learning, garantindo que o aplicativo seja rápido.</a:t>
            </a:r>
          </a:p>
          <a:p>
            <a:pPr algn="just"/>
            <a:endParaRPr lang="pt-BR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00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B39F7-75AE-62D3-C5B8-BF3EB401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22B7013-0AB9-7D6C-0B03-93614320A6A1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Streamlit</a:t>
            </a:r>
            <a:endParaRPr lang="pt-BR" sz="5400" dirty="0"/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EFEF205-F49E-AAFA-5F0E-97BAA9852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44" y="1163750"/>
            <a:ext cx="11627436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200" b="1" dirty="0"/>
              <a:t>Principais Casos de Uso</a:t>
            </a:r>
          </a:p>
          <a:p>
            <a:pPr algn="just"/>
            <a:endParaRPr lang="pt-BR" sz="2200" b="1" dirty="0"/>
          </a:p>
          <a:p>
            <a:pPr algn="just"/>
            <a:r>
              <a:rPr lang="pt-BR" sz="2200" dirty="0"/>
              <a:t>O </a:t>
            </a:r>
            <a:r>
              <a:rPr lang="pt-BR" sz="2200" dirty="0" err="1"/>
              <a:t>Streamlit</a:t>
            </a:r>
            <a:r>
              <a:rPr lang="pt-BR" sz="2200" dirty="0"/>
              <a:t> é a escolha ideal para: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Prototipagem Rápida:</a:t>
            </a:r>
            <a:r>
              <a:rPr lang="pt-BR" sz="2200" dirty="0"/>
              <a:t> Transformar uma análise de dados ou um modelo de ML que está em um </a:t>
            </a:r>
            <a:r>
              <a:rPr lang="pt-BR" sz="2200" dirty="0" err="1"/>
              <a:t>Jupyter</a:t>
            </a:r>
            <a:r>
              <a:rPr lang="pt-BR" sz="2200" dirty="0"/>
              <a:t> Notebook em um aplicativo compartilhável em minutos.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Dashboards Internos:</a:t>
            </a:r>
            <a:r>
              <a:rPr lang="pt-BR" sz="2200" dirty="0"/>
              <a:t> Criar ferramentas de visualização de dados e </a:t>
            </a:r>
            <a:r>
              <a:rPr lang="pt-BR" sz="2200" i="1" dirty="0"/>
              <a:t>dashboards</a:t>
            </a:r>
            <a:r>
              <a:rPr lang="pt-BR" sz="2200" dirty="0"/>
              <a:t> para equipes internas.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Interfaces de Modelo de ML:</a:t>
            </a:r>
            <a:r>
              <a:rPr lang="pt-BR" sz="2200" dirty="0"/>
              <a:t> Construir interfaces simples para que usuários não técnicos possam inserir dados e ver a previsão de um modelo de Machine Learning em tempo real.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	Em resumo, o </a:t>
            </a:r>
            <a:r>
              <a:rPr lang="pt-BR" sz="2200" b="1" dirty="0" err="1"/>
              <a:t>Streamlit</a:t>
            </a:r>
            <a:r>
              <a:rPr lang="pt-BR" sz="2200" dirty="0"/>
              <a:t> é o "botão fácil" do Python para criar aplicações web interativas voltadas para dados, permitindo que o foco permaneça na lógica de dados, e não na complexidade do desenvolvimento web.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497E42-877E-0B32-7E58-D0305B46DF57}"/>
              </a:ext>
            </a:extLst>
          </p:cNvPr>
          <p:cNvSpPr txBox="1">
            <a:spLocks/>
          </p:cNvSpPr>
          <p:nvPr/>
        </p:nvSpPr>
        <p:spPr>
          <a:xfrm>
            <a:off x="7604911" y="475886"/>
            <a:ext cx="4479288" cy="60265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 err="1">
                <a:solidFill>
                  <a:srgbClr val="FFFF00"/>
                </a:solidFill>
              </a:rPr>
              <a:t>pip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install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streamlit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46ABC81-24C5-41DD-9EB8-4D913B5DD4E6}"/>
              </a:ext>
            </a:extLst>
          </p:cNvPr>
          <p:cNvSpPr txBox="1">
            <a:spLocks/>
          </p:cNvSpPr>
          <p:nvPr/>
        </p:nvSpPr>
        <p:spPr>
          <a:xfrm>
            <a:off x="6108539" y="1189814"/>
            <a:ext cx="5630618" cy="96853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62500" lnSpcReduction="20000"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>
                <a:solidFill>
                  <a:srgbClr val="FFFF00"/>
                </a:solidFill>
              </a:rPr>
              <a:t>Após digitar o Código, </a:t>
            </a:r>
            <a:r>
              <a:rPr lang="pt-BR" sz="3600" b="1" dirty="0">
                <a:solidFill>
                  <a:srgbClr val="FFFF00"/>
                </a:solidFill>
              </a:rPr>
              <a:t>abra o terminal </a:t>
            </a:r>
            <a:r>
              <a:rPr lang="pt-BR" sz="3600" dirty="0">
                <a:solidFill>
                  <a:srgbClr val="FFFF00"/>
                </a:solidFill>
              </a:rPr>
              <a:t>e execute conforme o exemplo abaixo.</a:t>
            </a:r>
          </a:p>
          <a:p>
            <a:pPr algn="ctr"/>
            <a:endParaRPr lang="pt-BR" sz="3600" dirty="0">
              <a:solidFill>
                <a:srgbClr val="FFFF00"/>
              </a:solidFill>
            </a:endParaRPr>
          </a:p>
          <a:p>
            <a:pPr algn="ctr"/>
            <a:r>
              <a:rPr lang="en-US" sz="2800" b="1" dirty="0" err="1">
                <a:solidFill>
                  <a:srgbClr val="92D050"/>
                </a:solidFill>
              </a:rPr>
              <a:t>streamlit</a:t>
            </a:r>
            <a:r>
              <a:rPr lang="en-US" sz="2800" b="1" dirty="0">
                <a:solidFill>
                  <a:srgbClr val="92D050"/>
                </a:solidFill>
              </a:rPr>
              <a:t> run app_streamlit.py</a:t>
            </a:r>
            <a:endParaRPr lang="pt-BR" sz="28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222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F343-906C-5DE7-DA0A-9523FDDD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6649E08-F89D-45FD-B3C4-C9E82D693270}"/>
              </a:ext>
            </a:extLst>
          </p:cNvPr>
          <p:cNvSpPr txBox="1">
            <a:spLocks/>
          </p:cNvSpPr>
          <p:nvPr/>
        </p:nvSpPr>
        <p:spPr>
          <a:xfrm>
            <a:off x="155868" y="136073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Streamlit</a:t>
            </a:r>
            <a:endParaRPr lang="pt-BR" sz="5400" dirty="0"/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0D6A65B-1EC6-A99D-22E4-7613C1AB5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68" y="1043757"/>
            <a:ext cx="11289708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400" b="1" dirty="0"/>
              <a:t>O que vai acontecer ao executar o Programa da próxima página.</a:t>
            </a:r>
          </a:p>
          <a:p>
            <a:pPr algn="just"/>
            <a:endParaRPr lang="pt-BR" sz="2400" b="1" dirty="0"/>
          </a:p>
          <a:p>
            <a:r>
              <a:rPr lang="pt-BR" sz="2000" dirty="0"/>
              <a:t>O </a:t>
            </a:r>
            <a:r>
              <a:rPr lang="pt-BR" sz="2000" dirty="0" err="1"/>
              <a:t>Streamlit</a:t>
            </a:r>
            <a:r>
              <a:rPr lang="pt-BR" sz="2000" dirty="0"/>
              <a:t> abrirá automaticamente uma nova guia no seu navegador (geralmente em http://localhost:8501/) exibindo o seu aplicativo.</a:t>
            </a:r>
          </a:p>
          <a:p>
            <a:endParaRPr lang="pt-BR" sz="2000" dirty="0"/>
          </a:p>
          <a:p>
            <a:r>
              <a:rPr lang="pt-BR" sz="2000" b="1" dirty="0"/>
              <a:t>A Mágica do </a:t>
            </a:r>
            <a:r>
              <a:rPr lang="pt-BR" sz="2000" b="1" dirty="0" err="1"/>
              <a:t>Streamlit</a:t>
            </a:r>
            <a:endParaRPr lang="pt-BR" sz="2000" b="1" dirty="0"/>
          </a:p>
          <a:p>
            <a:endParaRPr lang="pt-BR" sz="2000" b="1" dirty="0"/>
          </a:p>
          <a:p>
            <a:r>
              <a:rPr lang="pt-BR" sz="2000" b="1" dirty="0"/>
              <a:t>Aparência Web:</a:t>
            </a:r>
            <a:r>
              <a:rPr lang="pt-BR" sz="2000" dirty="0"/>
              <a:t> O script Python foi transformado em uma página web com estilos modernos.</a:t>
            </a:r>
          </a:p>
          <a:p>
            <a:endParaRPr lang="pt-BR" sz="2000" dirty="0"/>
          </a:p>
          <a:p>
            <a:r>
              <a:rPr lang="pt-BR" sz="2000" b="1" dirty="0"/>
              <a:t>Reatividade:</a:t>
            </a:r>
            <a:endParaRPr lang="pt-BR" sz="2000" dirty="0"/>
          </a:p>
          <a:p>
            <a:pPr lvl="1"/>
            <a:r>
              <a:rPr lang="pt-BR" sz="2000" b="1" dirty="0" err="1"/>
              <a:t>Slider</a:t>
            </a:r>
            <a:r>
              <a:rPr lang="pt-BR" sz="2000" b="1" dirty="0"/>
              <a:t>:</a:t>
            </a:r>
            <a:r>
              <a:rPr lang="pt-BR" sz="2000" dirty="0"/>
              <a:t> Mova o controle deslizante (</a:t>
            </a:r>
            <a:r>
              <a:rPr lang="pt-BR" sz="2000" dirty="0" err="1"/>
              <a:t>st.slider</a:t>
            </a:r>
            <a:r>
              <a:rPr lang="pt-BR" sz="2000" dirty="0"/>
              <a:t>).  Você verá o texto </a:t>
            </a:r>
            <a:r>
              <a:rPr lang="pt-BR" sz="2000" b="1" dirty="0"/>
              <a:t>Sua idade </a:t>
            </a:r>
            <a:r>
              <a:rPr lang="pt-BR" sz="2000" dirty="0"/>
              <a:t>selecionada é: </a:t>
            </a:r>
            <a:r>
              <a:rPr lang="pt-BR" sz="2000" b="1" dirty="0"/>
              <a:t>X anos </a:t>
            </a:r>
            <a:r>
              <a:rPr lang="pt-BR" sz="2000" dirty="0"/>
              <a:t>atualizar instantaneamente sem que você precise programar nenhum </a:t>
            </a:r>
            <a:r>
              <a:rPr lang="pt-BR" sz="2000" i="1" dirty="0" err="1"/>
              <a:t>callback</a:t>
            </a:r>
            <a:r>
              <a:rPr lang="pt-BR" sz="2000" dirty="0"/>
              <a:t> ou loop. O </a:t>
            </a:r>
            <a:r>
              <a:rPr lang="pt-BR" sz="2000" dirty="0" err="1"/>
              <a:t>Streamlit</a:t>
            </a:r>
            <a:r>
              <a:rPr lang="pt-BR" sz="2000" dirty="0"/>
              <a:t> reexecuta todo o script em segundo plano com o novo valor.</a:t>
            </a:r>
          </a:p>
          <a:p>
            <a:pPr lvl="1"/>
            <a:r>
              <a:rPr lang="pt-BR" sz="2000" b="1" dirty="0"/>
              <a:t>Botão:</a:t>
            </a:r>
            <a:r>
              <a:rPr lang="pt-BR" sz="2000" dirty="0"/>
              <a:t> O código de saudação só é executado quando o botão é clicado, ativado a mensagem de sucesso (</a:t>
            </a:r>
            <a:r>
              <a:rPr lang="pt-BR" sz="2000" dirty="0" err="1"/>
              <a:t>st.success</a:t>
            </a:r>
            <a:r>
              <a:rPr lang="pt-BR" sz="2000" dirty="0"/>
              <a:t>).</a:t>
            </a:r>
          </a:p>
          <a:p>
            <a:pPr lvl="1"/>
            <a:endParaRPr lang="pt-BR" sz="2000" dirty="0"/>
          </a:p>
          <a:p>
            <a:r>
              <a:rPr lang="pt-BR" sz="2000" b="1" dirty="0"/>
              <a:t>Funções de Exibição:</a:t>
            </a:r>
            <a:r>
              <a:rPr lang="pt-BR" sz="2000" dirty="0"/>
              <a:t> </a:t>
            </a:r>
            <a:r>
              <a:rPr lang="pt-BR" sz="2000" b="1" dirty="0" err="1"/>
              <a:t>st.title</a:t>
            </a:r>
            <a:r>
              <a:rPr lang="pt-BR" sz="2000" b="1" dirty="0"/>
              <a:t>, </a:t>
            </a:r>
            <a:r>
              <a:rPr lang="pt-BR" sz="2000" b="1" dirty="0" err="1"/>
              <a:t>st.write</a:t>
            </a:r>
            <a:r>
              <a:rPr lang="pt-BR" sz="2000" b="1" dirty="0"/>
              <a:t>, </a:t>
            </a:r>
            <a:r>
              <a:rPr lang="pt-BR" sz="2000" b="1" dirty="0" err="1"/>
              <a:t>st.text_input</a:t>
            </a:r>
            <a:r>
              <a:rPr lang="pt-BR" sz="2000" b="1" dirty="0"/>
              <a:t>, </a:t>
            </a:r>
            <a:r>
              <a:rPr lang="pt-BR" sz="2000" b="1" dirty="0" err="1"/>
              <a:t>st.button</a:t>
            </a:r>
            <a:r>
              <a:rPr lang="pt-BR" sz="2000" b="1" dirty="0"/>
              <a:t>, </a:t>
            </a:r>
            <a:r>
              <a:rPr lang="pt-BR" sz="2000" b="1" dirty="0" err="1"/>
              <a:t>st.success</a:t>
            </a:r>
            <a:r>
              <a:rPr lang="pt-BR" sz="2000" b="1" dirty="0"/>
              <a:t>, </a:t>
            </a:r>
            <a:r>
              <a:rPr lang="pt-BR" sz="2000" b="1" dirty="0" err="1"/>
              <a:t>st.warning</a:t>
            </a:r>
            <a:r>
              <a:rPr lang="pt-BR" sz="2000" b="1" dirty="0"/>
              <a:t> </a:t>
            </a:r>
            <a:r>
              <a:rPr lang="pt-BR" sz="2000" dirty="0"/>
              <a:t>e </a:t>
            </a:r>
            <a:r>
              <a:rPr lang="pt-BR" sz="2000" b="1" i="1" dirty="0"/>
              <a:t>st.info </a:t>
            </a:r>
            <a:r>
              <a:rPr lang="pt-BR" sz="2000" dirty="0"/>
              <a:t>são comandos simples do </a:t>
            </a:r>
            <a:r>
              <a:rPr lang="pt-BR" sz="2000" b="1" dirty="0" err="1"/>
              <a:t>Streamlit</a:t>
            </a:r>
            <a:r>
              <a:rPr lang="pt-BR" sz="2000" dirty="0"/>
              <a:t> que cuidam de todo o </a:t>
            </a:r>
            <a:r>
              <a:rPr lang="pt-BR" sz="2000" i="1" dirty="0" err="1"/>
              <a:t>frontend</a:t>
            </a:r>
            <a:r>
              <a:rPr lang="pt-BR" sz="2000" dirty="0"/>
              <a:t> para você.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596B56-DF43-8524-7A46-69964C4CA0B2}"/>
              </a:ext>
            </a:extLst>
          </p:cNvPr>
          <p:cNvSpPr txBox="1">
            <a:spLocks/>
          </p:cNvSpPr>
          <p:nvPr/>
        </p:nvSpPr>
        <p:spPr>
          <a:xfrm>
            <a:off x="7245688" y="2439890"/>
            <a:ext cx="4479288" cy="60265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 err="1">
                <a:solidFill>
                  <a:srgbClr val="FFFF00"/>
                </a:solidFill>
              </a:rPr>
              <a:t>pip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install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streamlit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E5E14EE-2271-DD5D-A636-00DE544BF0BF}"/>
              </a:ext>
            </a:extLst>
          </p:cNvPr>
          <p:cNvSpPr txBox="1">
            <a:spLocks/>
          </p:cNvSpPr>
          <p:nvPr/>
        </p:nvSpPr>
        <p:spPr>
          <a:xfrm>
            <a:off x="6561382" y="75222"/>
            <a:ext cx="5630618" cy="96853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62500" lnSpcReduction="20000"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>
                <a:solidFill>
                  <a:srgbClr val="FFFF00"/>
                </a:solidFill>
              </a:rPr>
              <a:t>Após digitar o Código, </a:t>
            </a:r>
            <a:r>
              <a:rPr lang="pt-BR" sz="3600" b="1" dirty="0">
                <a:solidFill>
                  <a:srgbClr val="FFFF00"/>
                </a:solidFill>
              </a:rPr>
              <a:t>abra o terminal </a:t>
            </a:r>
            <a:r>
              <a:rPr lang="pt-BR" sz="3600" dirty="0">
                <a:solidFill>
                  <a:srgbClr val="FFFF00"/>
                </a:solidFill>
              </a:rPr>
              <a:t>e execute conforme o exemplo abaixo.</a:t>
            </a:r>
          </a:p>
          <a:p>
            <a:pPr algn="ctr"/>
            <a:endParaRPr lang="pt-BR" sz="3600" dirty="0">
              <a:solidFill>
                <a:srgbClr val="FFFF00"/>
              </a:solidFill>
            </a:endParaRPr>
          </a:p>
          <a:p>
            <a:pPr algn="ctr"/>
            <a:r>
              <a:rPr lang="en-US" sz="2800" b="1" dirty="0" err="1">
                <a:solidFill>
                  <a:srgbClr val="92D050"/>
                </a:solidFill>
              </a:rPr>
              <a:t>streamlit</a:t>
            </a:r>
            <a:r>
              <a:rPr lang="en-US" sz="2800" b="1" dirty="0">
                <a:solidFill>
                  <a:srgbClr val="92D050"/>
                </a:solidFill>
              </a:rPr>
              <a:t> run app_streamlit.py</a:t>
            </a:r>
            <a:endParaRPr lang="pt-BR" sz="28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163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6207-9A1F-E151-AE37-C93C5AFD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96ED712E-F223-418A-5923-F636D83DF1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2F16A73-4CB9-21D8-32CB-F95A22E76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01" y="-199347"/>
            <a:ext cx="10718275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import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streamlit</a:t>
            </a:r>
            <a:r>
              <a:rPr lang="pt-BR" altLang="pt-BR" sz="1600" b="1" dirty="0">
                <a:latin typeface="Arial" panose="020B0604020202020204" pitchFamily="34" charset="0"/>
              </a:rPr>
              <a:t> as </a:t>
            </a:r>
            <a:r>
              <a:rPr lang="pt-BR" altLang="pt-BR" sz="1600" b="1" dirty="0" err="1">
                <a:latin typeface="Arial" panose="020B0604020202020204" pitchFamily="34" charset="0"/>
              </a:rPr>
              <a:t>st</a:t>
            </a: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--- 1. Exibição de Título e Texto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st.title</a:t>
            </a:r>
            <a:r>
              <a:rPr lang="pt-BR" altLang="pt-BR" sz="1600" b="1" dirty="0">
                <a:latin typeface="Arial" panose="020B0604020202020204" pitchFamily="34" charset="0"/>
              </a:rPr>
              <a:t>('Meu Primeiro App </a:t>
            </a:r>
            <a:r>
              <a:rPr lang="pt-BR" altLang="pt-BR" sz="1600" b="1" dirty="0" err="1">
                <a:latin typeface="Arial" panose="020B0604020202020204" pitchFamily="34" charset="0"/>
              </a:rPr>
              <a:t>Streamlit</a:t>
            </a:r>
            <a:r>
              <a:rPr lang="pt-BR" altLang="pt-BR" sz="1600" b="1" dirty="0">
                <a:latin typeface="Arial" panose="020B0604020202020204" pitchFamily="34" charset="0"/>
              </a:rPr>
              <a:t>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st.write</a:t>
            </a:r>
            <a:r>
              <a:rPr lang="pt-BR" altLang="pt-BR" sz="1600" b="1" dirty="0">
                <a:latin typeface="Arial" panose="020B0604020202020204" pitchFamily="34" charset="0"/>
              </a:rPr>
              <a:t>('Olá! Digite seu nome e clique em "Saudar" para ver a mágica.')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--- 2. Criação de Widgets Interativos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</a:t>
            </a:r>
            <a:r>
              <a:rPr lang="pt-BR" altLang="pt-BR" sz="1600" b="1" dirty="0" err="1">
                <a:latin typeface="Arial" panose="020B0604020202020204" pitchFamily="34" charset="0"/>
              </a:rPr>
              <a:t>st.text_input</a:t>
            </a:r>
            <a:r>
              <a:rPr lang="pt-BR" altLang="pt-BR" sz="1600" b="1" dirty="0">
                <a:latin typeface="Arial" panose="020B0604020202020204" pitchFamily="34" charset="0"/>
              </a:rPr>
              <a:t> cria uma caixa de texto e armazena o valor digitado na variável 'nome'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nome = </a:t>
            </a:r>
            <a:r>
              <a:rPr lang="pt-BR" altLang="pt-BR" sz="1600" b="1" dirty="0" err="1">
                <a:latin typeface="Arial" panose="020B0604020202020204" pitchFamily="34" charset="0"/>
              </a:rPr>
              <a:t>st.text_input</a:t>
            </a:r>
            <a:r>
              <a:rPr lang="pt-BR" altLang="pt-BR" sz="1600" b="1" dirty="0">
                <a:latin typeface="Arial" panose="020B0604020202020204" pitchFamily="34" charset="0"/>
              </a:rPr>
              <a:t>('Qual é o seu nome?', 'Visitante')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</a:t>
            </a:r>
            <a:r>
              <a:rPr lang="pt-BR" altLang="pt-BR" sz="1600" b="1" dirty="0" err="1">
                <a:latin typeface="Arial" panose="020B0604020202020204" pitchFamily="34" charset="0"/>
              </a:rPr>
              <a:t>st.button</a:t>
            </a:r>
            <a:r>
              <a:rPr lang="pt-BR" altLang="pt-BR" sz="1600" b="1" dirty="0">
                <a:latin typeface="Arial" panose="020B0604020202020204" pitchFamily="34" charset="0"/>
              </a:rPr>
              <a:t> cria um botão. Ele retorna </a:t>
            </a:r>
            <a:r>
              <a:rPr lang="pt-BR" altLang="pt-BR" sz="1600" b="1" dirty="0" err="1">
                <a:latin typeface="Arial" panose="020B0604020202020204" pitchFamily="34" charset="0"/>
              </a:rPr>
              <a:t>True</a:t>
            </a:r>
            <a:r>
              <a:rPr lang="pt-BR" altLang="pt-BR" sz="1600" b="1" dirty="0">
                <a:latin typeface="Arial" panose="020B0604020202020204" pitchFamily="34" charset="0"/>
              </a:rPr>
              <a:t> se foi clicado, False caso contrário.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if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st.button</a:t>
            </a:r>
            <a:r>
              <a:rPr lang="pt-BR" altLang="pt-BR" sz="1600" b="1" dirty="0">
                <a:latin typeface="Arial" panose="020B0604020202020204" pitchFamily="34" charset="0"/>
              </a:rPr>
              <a:t>('Saudar'):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# O código dentro deste '</a:t>
            </a:r>
            <a:r>
              <a:rPr lang="pt-BR" altLang="pt-BR" sz="1600" b="1" dirty="0" err="1">
                <a:latin typeface="Arial" panose="020B0604020202020204" pitchFamily="34" charset="0"/>
              </a:rPr>
              <a:t>if</a:t>
            </a:r>
            <a:r>
              <a:rPr lang="pt-BR" altLang="pt-BR" sz="1600" b="1" dirty="0">
                <a:latin typeface="Arial" panose="020B0604020202020204" pitchFamily="34" charset="0"/>
              </a:rPr>
              <a:t>' será executado APENAS quando o botão for clicado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</a:t>
            </a:r>
            <a:r>
              <a:rPr lang="pt-BR" altLang="pt-BR" sz="1600" b="1" dirty="0" err="1">
                <a:latin typeface="Arial" panose="020B0604020202020204" pitchFamily="34" charset="0"/>
              </a:rPr>
              <a:t>if</a:t>
            </a:r>
            <a:r>
              <a:rPr lang="pt-BR" altLang="pt-BR" sz="1600" b="1" dirty="0">
                <a:latin typeface="Arial" panose="020B0604020202020204" pitchFamily="34" charset="0"/>
              </a:rPr>
              <a:t> nome </a:t>
            </a:r>
            <a:r>
              <a:rPr lang="pt-BR" altLang="pt-BR" sz="1600" b="1" dirty="0" err="1">
                <a:latin typeface="Arial" panose="020B0604020202020204" pitchFamily="34" charset="0"/>
              </a:rPr>
              <a:t>and</a:t>
            </a:r>
            <a:r>
              <a:rPr lang="pt-BR" altLang="pt-BR" sz="1600" b="1" dirty="0">
                <a:latin typeface="Arial" panose="020B0604020202020204" pitchFamily="34" charset="0"/>
              </a:rPr>
              <a:t> nome != 'Visitante':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    </a:t>
            </a:r>
            <a:r>
              <a:rPr lang="pt-BR" altLang="pt-BR" sz="1600" b="1" dirty="0" err="1">
                <a:latin typeface="Arial" panose="020B0604020202020204" pitchFamily="34" charset="0"/>
              </a:rPr>
              <a:t>st.success</a:t>
            </a:r>
            <a:r>
              <a:rPr lang="pt-BR" altLang="pt-BR" sz="1600" b="1" dirty="0">
                <a:latin typeface="Arial" panose="020B0604020202020204" pitchFamily="34" charset="0"/>
              </a:rPr>
              <a:t>(</a:t>
            </a:r>
            <a:r>
              <a:rPr lang="pt-BR" altLang="pt-BR" sz="1600" b="1" dirty="0" err="1">
                <a:latin typeface="Arial" panose="020B0604020202020204" pitchFamily="34" charset="0"/>
              </a:rPr>
              <a:t>f'Olá</a:t>
            </a:r>
            <a:r>
              <a:rPr lang="pt-BR" altLang="pt-BR" sz="1600" b="1" dirty="0">
                <a:latin typeface="Arial" panose="020B0604020202020204" pitchFamily="34" charset="0"/>
              </a:rPr>
              <a:t>, {nome}! Seja muito bem-vindo(a) ao </a:t>
            </a:r>
            <a:r>
              <a:rPr lang="pt-BR" altLang="pt-BR" sz="1600" b="1" dirty="0" err="1">
                <a:latin typeface="Arial" panose="020B0604020202020204" pitchFamily="34" charset="0"/>
              </a:rPr>
              <a:t>Streamlit</a:t>
            </a:r>
            <a:r>
              <a:rPr lang="pt-BR" altLang="pt-BR" sz="1600" b="1" dirty="0">
                <a:latin typeface="Arial" panose="020B0604020202020204" pitchFamily="34" charset="0"/>
              </a:rPr>
              <a:t>.')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</a:t>
            </a:r>
            <a:r>
              <a:rPr lang="pt-BR" altLang="pt-BR" sz="1600" b="1" dirty="0" err="1">
                <a:latin typeface="Arial" panose="020B0604020202020204" pitchFamily="34" charset="0"/>
              </a:rPr>
              <a:t>else</a:t>
            </a:r>
            <a:r>
              <a:rPr lang="pt-BR" altLang="pt-BR" sz="1600" b="1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    </a:t>
            </a:r>
            <a:r>
              <a:rPr lang="pt-BR" altLang="pt-BR" sz="1600" b="1" dirty="0" err="1">
                <a:latin typeface="Arial" panose="020B0604020202020204" pitchFamily="34" charset="0"/>
              </a:rPr>
              <a:t>st.warning</a:t>
            </a:r>
            <a:r>
              <a:rPr lang="pt-BR" altLang="pt-BR" sz="1600" b="1" dirty="0">
                <a:latin typeface="Arial" panose="020B0604020202020204" pitchFamily="34" charset="0"/>
              </a:rPr>
              <a:t>('Por favor, digite um nome válido.')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--- 3. Demonstração de um </a:t>
            </a:r>
            <a:r>
              <a:rPr lang="pt-BR" altLang="pt-BR" sz="1600" b="1" dirty="0" err="1">
                <a:latin typeface="Arial" panose="020B0604020202020204" pitchFamily="34" charset="0"/>
              </a:rPr>
              <a:t>Slider</a:t>
            </a:r>
            <a:r>
              <a:rPr lang="pt-BR" altLang="pt-BR" sz="1600" b="1" dirty="0">
                <a:latin typeface="Arial" panose="020B0604020202020204" pitchFamily="34" charset="0"/>
              </a:rPr>
              <a:t>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Adicionando outro widget para mostrar a reatividade automática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st.subheader</a:t>
            </a:r>
            <a:r>
              <a:rPr lang="pt-BR" altLang="pt-BR" sz="1600" b="1" dirty="0">
                <a:latin typeface="Arial" panose="020B0604020202020204" pitchFamily="34" charset="0"/>
              </a:rPr>
              <a:t>('\</a:t>
            </a:r>
            <a:r>
              <a:rPr lang="pt-BR" altLang="pt-BR" sz="1600" b="1" dirty="0" err="1">
                <a:latin typeface="Arial" panose="020B0604020202020204" pitchFamily="34" charset="0"/>
              </a:rPr>
              <a:t>nDemonstração</a:t>
            </a:r>
            <a:r>
              <a:rPr lang="pt-BR" altLang="pt-BR" sz="1600" b="1" dirty="0">
                <a:latin typeface="Arial" panose="020B0604020202020204" pitchFamily="34" charset="0"/>
              </a:rPr>
              <a:t> de Reatividade:')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idade = </a:t>
            </a:r>
            <a:r>
              <a:rPr lang="pt-BR" altLang="pt-BR" sz="1600" b="1" dirty="0" err="1">
                <a:latin typeface="Arial" panose="020B0604020202020204" pitchFamily="34" charset="0"/>
              </a:rPr>
              <a:t>st.slider</a:t>
            </a:r>
            <a:r>
              <a:rPr lang="pt-BR" altLang="pt-BR" sz="1600" b="1" dirty="0">
                <a:latin typeface="Arial" panose="020B0604020202020204" pitchFamily="34" charset="0"/>
              </a:rPr>
              <a:t>('Selecione sua idade:', 0, 100, 25)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# Este texto é atualizado automaticamente sempre que você move o </a:t>
            </a:r>
            <a:r>
              <a:rPr lang="pt-BR" altLang="pt-BR" sz="1600" b="1" dirty="0" err="1">
                <a:latin typeface="Arial" panose="020B0604020202020204" pitchFamily="34" charset="0"/>
              </a:rPr>
              <a:t>slider</a:t>
            </a:r>
            <a:r>
              <a:rPr lang="pt-BR" altLang="pt-BR" sz="1600" b="1" dirty="0">
                <a:latin typeface="Arial" panose="020B0604020202020204" pitchFamily="34" charset="0"/>
              </a:rPr>
              <a:t>!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st.info(</a:t>
            </a:r>
            <a:r>
              <a:rPr lang="pt-BR" altLang="pt-BR" sz="1600" b="1" dirty="0" err="1">
                <a:latin typeface="Arial" panose="020B0604020202020204" pitchFamily="34" charset="0"/>
              </a:rPr>
              <a:t>f'Sua</a:t>
            </a:r>
            <a:r>
              <a:rPr lang="pt-BR" altLang="pt-BR" sz="1600" b="1" dirty="0">
                <a:latin typeface="Arial" panose="020B0604020202020204" pitchFamily="34" charset="0"/>
              </a:rPr>
              <a:t> idade selecionada é: {idade} anos.')</a:t>
            </a:r>
          </a:p>
        </p:txBody>
      </p:sp>
    </p:spTree>
    <p:extLst>
      <p:ext uri="{BB962C8B-B14F-4D97-AF65-F5344CB8AC3E}">
        <p14:creationId xmlns:p14="http://schemas.microsoft.com/office/powerpoint/2010/main" val="1594669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3167-B743-69C4-A3FB-31E80C2F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74E019D-EF4D-34B2-76C7-0A30B75704D7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/>
              <a:t>Dash</a:t>
            </a:r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331F675-41D6-38A2-16B8-7E02AC550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82" y="992128"/>
            <a:ext cx="11627436" cy="603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	A biblioteca </a:t>
            </a:r>
            <a:r>
              <a:rPr lang="pt-BR" sz="2000" b="1" u="sng" dirty="0"/>
              <a:t>Dash</a:t>
            </a:r>
            <a:r>
              <a:rPr lang="pt-BR" sz="2000" dirty="0"/>
              <a:t>, desenvolvida pela </a:t>
            </a:r>
            <a:r>
              <a:rPr lang="pt-BR" sz="2000" b="1" dirty="0" err="1"/>
              <a:t>Plotly</a:t>
            </a:r>
            <a:r>
              <a:rPr lang="pt-BR" sz="2000" dirty="0"/>
              <a:t>, é um </a:t>
            </a:r>
            <a:r>
              <a:rPr lang="pt-BR" sz="2000" i="1" dirty="0"/>
              <a:t>framework</a:t>
            </a:r>
            <a:r>
              <a:rPr lang="pt-BR" sz="2000" dirty="0"/>
              <a:t> de código aberto para a criação de </a:t>
            </a:r>
            <a:r>
              <a:rPr lang="pt-BR" sz="2000" b="1" dirty="0"/>
              <a:t>aplicações analíticas web</a:t>
            </a:r>
            <a:r>
              <a:rPr lang="pt-BR" sz="2000" dirty="0"/>
              <a:t> e </a:t>
            </a:r>
            <a:r>
              <a:rPr lang="pt-BR" sz="2000" i="1" dirty="0"/>
              <a:t>dashboards</a:t>
            </a:r>
            <a:r>
              <a:rPr lang="pt-BR" sz="2000" dirty="0"/>
              <a:t> interativos.</a:t>
            </a:r>
          </a:p>
          <a:p>
            <a:r>
              <a:rPr lang="pt-BR" sz="2000" dirty="0"/>
              <a:t>	Assim como o </a:t>
            </a:r>
            <a:r>
              <a:rPr lang="pt-BR" sz="2000" dirty="0" err="1"/>
              <a:t>Streamlit</a:t>
            </a:r>
            <a:r>
              <a:rPr lang="pt-BR" sz="2000" dirty="0"/>
              <a:t>, o principal objetivo do Dash é permitir que cientistas de dados, engenheiros e analistas criem </a:t>
            </a:r>
            <a:r>
              <a:rPr lang="pt-BR" sz="2000" b="1" i="1" u="sng" dirty="0"/>
              <a:t>softwares</a:t>
            </a:r>
            <a:r>
              <a:rPr lang="pt-BR" sz="2000" dirty="0"/>
              <a:t> sofisticados baseados em dados </a:t>
            </a:r>
            <a:r>
              <a:rPr lang="pt-BR" sz="2000" b="1" dirty="0"/>
              <a:t>usando apenas Python</a:t>
            </a:r>
            <a:r>
              <a:rPr lang="pt-BR" sz="2000" dirty="0"/>
              <a:t>, evitando a necessidade de escrever código HTML, CSS ou </a:t>
            </a:r>
            <a:r>
              <a:rPr lang="pt-BR" sz="2000" dirty="0" err="1"/>
              <a:t>JavaScript</a:t>
            </a:r>
            <a:r>
              <a:rPr lang="pt-BR" sz="2000" dirty="0"/>
              <a:t>.</a:t>
            </a:r>
          </a:p>
          <a:p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000" b="1" dirty="0"/>
              <a:t>		</a:t>
            </a:r>
            <a:r>
              <a:rPr lang="pt-BR" sz="2400" b="1" u="sng" dirty="0"/>
              <a:t>O que compõe o Dash?</a:t>
            </a:r>
          </a:p>
          <a:p>
            <a:endParaRPr lang="pt-BR" sz="2400" b="1" u="sng" dirty="0"/>
          </a:p>
          <a:p>
            <a:r>
              <a:rPr lang="pt-BR" sz="2000" dirty="0"/>
              <a:t>O Dash é mais do que uma biblioteca; é um </a:t>
            </a:r>
            <a:r>
              <a:rPr lang="pt-BR" sz="2000" i="1" dirty="0"/>
              <a:t>framework</a:t>
            </a:r>
            <a:r>
              <a:rPr lang="pt-BR" sz="2000" dirty="0"/>
              <a:t> construído sobre três pilares essenciais:</a:t>
            </a:r>
          </a:p>
          <a:p>
            <a:endParaRPr lang="pt-BR" sz="2000" dirty="0"/>
          </a:p>
          <a:p>
            <a:r>
              <a:rPr lang="pt-BR" sz="2000" b="1" dirty="0"/>
              <a:t>1 - </a:t>
            </a:r>
            <a:r>
              <a:rPr lang="pt-BR" sz="2000" b="1" dirty="0" err="1"/>
              <a:t>Flask</a:t>
            </a:r>
            <a:r>
              <a:rPr lang="pt-BR" sz="2000" b="1" dirty="0"/>
              <a:t>:</a:t>
            </a:r>
            <a:r>
              <a:rPr lang="pt-BR" sz="2000" dirty="0"/>
              <a:t> Usado como o </a:t>
            </a:r>
            <a:r>
              <a:rPr lang="pt-BR" sz="2000" i="1" dirty="0" err="1"/>
              <a:t>backend</a:t>
            </a:r>
            <a:r>
              <a:rPr lang="pt-BR" sz="2000" dirty="0"/>
              <a:t> (servidor web) que lida com as requisições e executa o aplicativo.</a:t>
            </a:r>
          </a:p>
          <a:p>
            <a:endParaRPr lang="pt-BR" sz="2000" dirty="0"/>
          </a:p>
          <a:p>
            <a:r>
              <a:rPr lang="pt-BR" sz="2000" b="1" dirty="0"/>
              <a:t>2 - Plotly.js:</a:t>
            </a:r>
            <a:r>
              <a:rPr lang="pt-BR" sz="2000" dirty="0"/>
              <a:t> Usado no </a:t>
            </a:r>
            <a:r>
              <a:rPr lang="pt-BR" sz="2000" i="1" dirty="0" err="1"/>
              <a:t>frontend</a:t>
            </a:r>
            <a:r>
              <a:rPr lang="pt-BR" sz="2000" dirty="0"/>
              <a:t> para renderizar gráficos de altíssima qualidade e interativos.</a:t>
            </a:r>
          </a:p>
          <a:p>
            <a:endParaRPr lang="pt-BR" sz="2000" dirty="0"/>
          </a:p>
          <a:p>
            <a:r>
              <a:rPr lang="pt-BR" sz="2000" b="1" dirty="0"/>
              <a:t>3 - React.js:</a:t>
            </a:r>
            <a:r>
              <a:rPr lang="pt-BR" sz="2000" dirty="0"/>
              <a:t> Usado no </a:t>
            </a:r>
            <a:r>
              <a:rPr lang="pt-BR" sz="2000" i="1" dirty="0" err="1"/>
              <a:t>frontend</a:t>
            </a:r>
            <a:r>
              <a:rPr lang="pt-BR" sz="2000" dirty="0"/>
              <a:t> para gerenciar a interface de usuário e a reatividade.</a:t>
            </a:r>
          </a:p>
          <a:p>
            <a:endParaRPr lang="pt-BR" sz="2000" dirty="0"/>
          </a:p>
          <a:p>
            <a:r>
              <a:rPr lang="pt-BR" sz="2000" b="1" dirty="0"/>
              <a:t>O papel do Dash:</a:t>
            </a:r>
            <a:r>
              <a:rPr lang="pt-BR" sz="2000" dirty="0"/>
              <a:t> O Dash atua como a </a:t>
            </a:r>
            <a:r>
              <a:rPr lang="pt-BR" sz="2000" b="1" dirty="0"/>
              <a:t>"ponte" </a:t>
            </a:r>
            <a:r>
              <a:rPr lang="pt-BR" sz="2000" dirty="0"/>
              <a:t>que permite que você use Python para controlar todos esses componentes de </a:t>
            </a:r>
            <a:r>
              <a:rPr lang="pt-BR" sz="2000" i="1" dirty="0" err="1"/>
              <a:t>backend</a:t>
            </a:r>
            <a:r>
              <a:rPr lang="pt-BR" sz="2000" dirty="0"/>
              <a:t> (</a:t>
            </a:r>
            <a:r>
              <a:rPr lang="pt-BR" sz="2000" dirty="0" err="1"/>
              <a:t>Flask</a:t>
            </a:r>
            <a:r>
              <a:rPr lang="pt-BR" sz="2000" dirty="0"/>
              <a:t>) e </a:t>
            </a:r>
            <a:r>
              <a:rPr lang="pt-BR" sz="2000" i="1" dirty="0" err="1"/>
              <a:t>frontend</a:t>
            </a:r>
            <a:r>
              <a:rPr lang="pt-BR" sz="2000" dirty="0"/>
              <a:t> (</a:t>
            </a:r>
            <a:r>
              <a:rPr lang="pt-BR" sz="2000" dirty="0" err="1"/>
              <a:t>Plotly</a:t>
            </a:r>
            <a:r>
              <a:rPr lang="pt-BR" sz="2000" dirty="0"/>
              <a:t>/</a:t>
            </a:r>
            <a:r>
              <a:rPr lang="pt-BR" sz="2000" dirty="0" err="1"/>
              <a:t>React</a:t>
            </a:r>
            <a:r>
              <a:rPr lang="pt-BR" sz="2000" dirty="0"/>
              <a:t>).</a:t>
            </a:r>
          </a:p>
          <a:p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241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66681-23C5-4A2C-D7A2-0C494118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50A08A6-D759-DFFA-0D2C-BD50E9554B3D}"/>
              </a:ext>
            </a:extLst>
          </p:cNvPr>
          <p:cNvSpPr txBox="1">
            <a:spLocks/>
          </p:cNvSpPr>
          <p:nvPr/>
        </p:nvSpPr>
        <p:spPr>
          <a:xfrm>
            <a:off x="369713" y="0"/>
            <a:ext cx="11452573" cy="10259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/>
              <a:t>Dash</a:t>
            </a:r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FAD222C-72BE-EF7D-1B83-7BD6DA488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82" y="626393"/>
            <a:ext cx="11627436" cy="640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	</a:t>
            </a:r>
            <a:r>
              <a:rPr lang="pt-BR" sz="2000" b="1" dirty="0"/>
              <a:t>Principais Características e Diferenciais</a:t>
            </a:r>
          </a:p>
          <a:p>
            <a:endParaRPr lang="pt-BR" sz="2000" b="1" dirty="0"/>
          </a:p>
          <a:p>
            <a:r>
              <a:rPr lang="pt-BR" sz="2000" b="1" dirty="0"/>
              <a:t>1. Abordagem Baseada em Componentes e HTML</a:t>
            </a:r>
          </a:p>
          <a:p>
            <a:endParaRPr lang="pt-BR" sz="500" b="1" dirty="0"/>
          </a:p>
          <a:p>
            <a:r>
              <a:rPr lang="pt-BR" sz="2000" dirty="0"/>
              <a:t>	Diferente do </a:t>
            </a:r>
            <a:r>
              <a:rPr lang="pt-BR" sz="2000" dirty="0" err="1"/>
              <a:t>Streamlit</a:t>
            </a:r>
            <a:r>
              <a:rPr lang="pt-BR" sz="2000" dirty="0"/>
              <a:t> (que usa um fluxo de script linear), o Dash adota uma abordagem mais estruturada, próxima do desenvolvimento web tradicional:</a:t>
            </a:r>
          </a:p>
          <a:p>
            <a:endParaRPr lang="pt-BR" sz="2000" dirty="0"/>
          </a:p>
          <a:p>
            <a:r>
              <a:rPr lang="pt-BR" sz="2000" b="1" dirty="0"/>
              <a:t>Layout:</a:t>
            </a:r>
            <a:r>
              <a:rPr lang="pt-BR" sz="2000" dirty="0"/>
              <a:t> Você define o layout do seu </a:t>
            </a:r>
            <a:r>
              <a:rPr lang="pt-BR" sz="2000" i="1" dirty="0"/>
              <a:t>dashboard</a:t>
            </a:r>
            <a:r>
              <a:rPr lang="pt-BR" sz="2000" dirty="0"/>
              <a:t> usando classes Python que representam elementos HTML (</a:t>
            </a: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dirty="0" err="1"/>
              <a:t>html.Div</a:t>
            </a:r>
            <a:r>
              <a:rPr lang="pt-BR" sz="2000" dirty="0"/>
              <a:t>, </a:t>
            </a:r>
            <a:r>
              <a:rPr lang="pt-BR" dirty="0"/>
              <a:t>html.H1</a:t>
            </a:r>
            <a:r>
              <a:rPr lang="pt-BR" sz="2000" dirty="0"/>
              <a:t>) e componentes interativos (</a:t>
            </a: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dirty="0" err="1"/>
              <a:t>dcc.Graph</a:t>
            </a:r>
            <a:r>
              <a:rPr lang="pt-BR" sz="2000" dirty="0"/>
              <a:t>, </a:t>
            </a:r>
            <a:r>
              <a:rPr lang="pt-BR" dirty="0" err="1"/>
              <a:t>dcc.Dropdown</a:t>
            </a:r>
            <a:r>
              <a:rPr lang="pt-BR" sz="2000" dirty="0"/>
              <a:t>). Isso oferece </a:t>
            </a:r>
            <a:r>
              <a:rPr lang="pt-BR" sz="2000" b="1" dirty="0"/>
              <a:t>controle total</a:t>
            </a:r>
            <a:r>
              <a:rPr lang="pt-BR" sz="2000" dirty="0"/>
              <a:t> sobre a estrutura e o estilo (via CSS/HTML), algo que o </a:t>
            </a:r>
            <a:r>
              <a:rPr lang="pt-BR" sz="2000" dirty="0" err="1"/>
              <a:t>Streamlit</a:t>
            </a:r>
            <a:r>
              <a:rPr lang="pt-BR" sz="2000" dirty="0"/>
              <a:t> simplifica demais.</a:t>
            </a:r>
          </a:p>
          <a:p>
            <a:endParaRPr lang="pt-BR" sz="2000" dirty="0"/>
          </a:p>
          <a:p>
            <a:r>
              <a:rPr lang="pt-BR" sz="2000" b="1" dirty="0"/>
              <a:t>2. Sistema de </a:t>
            </a:r>
            <a:r>
              <a:rPr lang="pt-BR" sz="2000" b="1" dirty="0" err="1"/>
              <a:t>Callbacks</a:t>
            </a:r>
            <a:r>
              <a:rPr lang="pt-BR" sz="2000" b="1" dirty="0"/>
              <a:t> (Funções de Reatividade)</a:t>
            </a:r>
          </a:p>
          <a:p>
            <a:endParaRPr lang="pt-BR" sz="500" b="1" dirty="0"/>
          </a:p>
          <a:p>
            <a:r>
              <a:rPr lang="pt-BR" sz="2000" dirty="0"/>
              <a:t>	A interatividade é o ponto forte do Dash e é gerenciada pelo sistema de </a:t>
            </a:r>
            <a:r>
              <a:rPr lang="pt-BR" sz="2000" b="1" dirty="0" err="1"/>
              <a:t>Callbacks</a:t>
            </a:r>
            <a:r>
              <a:rPr lang="pt-BR" sz="2000" dirty="0"/>
              <a:t> (funções de retorno):</a:t>
            </a:r>
          </a:p>
          <a:p>
            <a:r>
              <a:rPr lang="pt-BR" sz="2000" dirty="0"/>
              <a:t>	Você define funções Python que são rotuladas com o </a:t>
            </a:r>
            <a:r>
              <a:rPr lang="pt-BR" sz="2000" i="1" dirty="0" err="1"/>
              <a:t>decorator</a:t>
            </a:r>
            <a:r>
              <a:rPr lang="pt-BR" sz="2000" dirty="0"/>
              <a:t> </a:t>
            </a:r>
            <a:r>
              <a:rPr lang="pt-BR" dirty="0"/>
              <a:t>@app.callback</a:t>
            </a:r>
            <a:r>
              <a:rPr lang="pt-BR" sz="2000" dirty="0"/>
              <a:t>.</a:t>
            </a:r>
          </a:p>
          <a:p>
            <a:r>
              <a:rPr lang="pt-BR" sz="2000" dirty="0"/>
              <a:t>	Essas funções especificam explicitamente qual </a:t>
            </a:r>
            <a:r>
              <a:rPr lang="pt-BR" sz="2000" i="1" dirty="0"/>
              <a:t>widget</a:t>
            </a:r>
            <a:r>
              <a:rPr lang="pt-BR" sz="2000" dirty="0"/>
              <a:t> fornece a </a:t>
            </a:r>
            <a:r>
              <a:rPr lang="pt-BR" sz="2000" b="1" dirty="0"/>
              <a:t>entrada</a:t>
            </a:r>
            <a:r>
              <a:rPr lang="pt-BR" sz="2000" dirty="0"/>
              <a:t> (</a:t>
            </a:r>
            <a:r>
              <a:rPr lang="pt-BR" dirty="0"/>
              <a:t>Input</a:t>
            </a:r>
            <a:r>
              <a:rPr lang="pt-BR" sz="2000" dirty="0"/>
              <a:t>) e qual </a:t>
            </a:r>
            <a:r>
              <a:rPr lang="pt-BR" sz="2000" i="1" dirty="0"/>
              <a:t>widget</a:t>
            </a:r>
            <a:r>
              <a:rPr lang="pt-BR" sz="2000" dirty="0"/>
              <a:t> será a </a:t>
            </a:r>
            <a:r>
              <a:rPr lang="pt-BR" sz="2000" b="1" dirty="0"/>
              <a:t>saída</a:t>
            </a:r>
            <a:r>
              <a:rPr lang="pt-BR" sz="2000" dirty="0"/>
              <a:t> (</a:t>
            </a:r>
            <a:r>
              <a:rPr lang="pt-BR" dirty="0"/>
              <a:t>Output</a:t>
            </a:r>
            <a:r>
              <a:rPr lang="pt-BR" sz="2000" dirty="0"/>
              <a:t>).</a:t>
            </a:r>
          </a:p>
          <a:p>
            <a:r>
              <a:rPr lang="pt-BR" sz="2000" b="1" dirty="0"/>
              <a:t>A Vantagem:</a:t>
            </a:r>
            <a:r>
              <a:rPr lang="pt-BR" sz="2000" dirty="0"/>
              <a:t> O Dash só reexecuta a função de </a:t>
            </a:r>
            <a:r>
              <a:rPr lang="pt-BR" sz="2000" i="1" dirty="0" err="1"/>
              <a:t>callback</a:t>
            </a:r>
            <a:r>
              <a:rPr lang="pt-BR" sz="2000" dirty="0"/>
              <a:t> específica quando a entrada muda. Isso o torna altamente eficiente e </a:t>
            </a:r>
            <a:r>
              <a:rPr lang="pt-BR" sz="2000" b="1" dirty="0"/>
              <a:t>escalável</a:t>
            </a:r>
            <a:r>
              <a:rPr lang="pt-BR" sz="2000" dirty="0"/>
              <a:t> para aplicações grandes com muitos componentes interativos, pois nem todo o script precisa ser reexecutado (como faz o </a:t>
            </a:r>
            <a:r>
              <a:rPr lang="pt-BR" sz="2000" dirty="0" err="1"/>
              <a:t>Streamlit</a:t>
            </a:r>
            <a:r>
              <a:rPr lang="pt-BR" sz="2000" dirty="0"/>
              <a:t>).</a:t>
            </a:r>
          </a:p>
          <a:p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499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DACF-9691-E4F9-F198-4BBDBDE5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75862C6-4827-F81E-4997-97EE912B4D76}"/>
              </a:ext>
            </a:extLst>
          </p:cNvPr>
          <p:cNvSpPr txBox="1">
            <a:spLocks/>
          </p:cNvSpPr>
          <p:nvPr/>
        </p:nvSpPr>
        <p:spPr>
          <a:xfrm>
            <a:off x="369713" y="0"/>
            <a:ext cx="11452573" cy="10259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/>
              <a:t>Dash</a:t>
            </a:r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35746C2-359E-5479-A29E-B7B0BF321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80" y="766486"/>
            <a:ext cx="116274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/>
              <a:t>3. Visualização com </a:t>
            </a:r>
            <a:r>
              <a:rPr lang="pt-BR" sz="2000" b="1" dirty="0" err="1"/>
              <a:t>Plotly</a:t>
            </a:r>
            <a:endParaRPr lang="pt-BR" sz="2000" b="1" dirty="0"/>
          </a:p>
          <a:p>
            <a:r>
              <a:rPr lang="pt-BR" sz="2000" dirty="0"/>
              <a:t>O Dash se integra perfeitamente com a biblioteca </a:t>
            </a:r>
            <a:r>
              <a:rPr lang="pt-BR" sz="2000" b="1" dirty="0" err="1"/>
              <a:t>Plotly</a:t>
            </a:r>
            <a:r>
              <a:rPr lang="pt-BR" sz="2000" dirty="0"/>
              <a:t>, permitindo a criação de gráficos interativos (que permitem zoom, </a:t>
            </a:r>
            <a:r>
              <a:rPr lang="pt-BR" sz="2000" i="1" dirty="0" err="1"/>
              <a:t>hover</a:t>
            </a:r>
            <a:r>
              <a:rPr lang="pt-BR" sz="2000" dirty="0"/>
              <a:t>, etc.) por padrão, sem código adicional.</a:t>
            </a:r>
          </a:p>
          <a:p>
            <a:endParaRPr lang="pt-BR" sz="2000" dirty="0"/>
          </a:p>
          <a:p>
            <a:r>
              <a:rPr lang="pt-BR" sz="2000" b="1" dirty="0"/>
              <a:t>Dash vs. </a:t>
            </a:r>
            <a:r>
              <a:rPr lang="pt-BR" sz="2000" b="1" dirty="0" err="1"/>
              <a:t>Streamlit</a:t>
            </a:r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0C075DA-EE1B-9FFE-6108-8E416629C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88364"/>
              </p:ext>
            </p:extLst>
          </p:nvPr>
        </p:nvGraphicFramePr>
        <p:xfrm>
          <a:off x="850641" y="2466324"/>
          <a:ext cx="10490715" cy="3978275"/>
        </p:xfrm>
        <a:graphic>
          <a:graphicData uri="http://schemas.openxmlformats.org/drawingml/2006/table">
            <a:tbl>
              <a:tblPr/>
              <a:tblGrid>
                <a:gridCol w="3496905">
                  <a:extLst>
                    <a:ext uri="{9D8B030D-6E8A-4147-A177-3AD203B41FA5}">
                      <a16:colId xmlns:a16="http://schemas.microsoft.com/office/drawing/2014/main" val="3464217710"/>
                    </a:ext>
                  </a:extLst>
                </a:gridCol>
                <a:gridCol w="3496905">
                  <a:extLst>
                    <a:ext uri="{9D8B030D-6E8A-4147-A177-3AD203B41FA5}">
                      <a16:colId xmlns:a16="http://schemas.microsoft.com/office/drawing/2014/main" val="3048272538"/>
                    </a:ext>
                  </a:extLst>
                </a:gridCol>
                <a:gridCol w="3496905">
                  <a:extLst>
                    <a:ext uri="{9D8B030D-6E8A-4147-A177-3AD203B41FA5}">
                      <a16:colId xmlns:a16="http://schemas.microsoft.com/office/drawing/2014/main" val="1216177884"/>
                    </a:ext>
                  </a:extLst>
                </a:gridCol>
              </a:tblGrid>
              <a:tr h="4035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Característica</a:t>
                      </a:r>
                      <a:endParaRPr lang="pt-BR" sz="17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Dash</a:t>
                      </a:r>
                      <a:endParaRPr lang="pt-BR" sz="17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Streamlit</a:t>
                      </a:r>
                      <a:endParaRPr lang="pt-BR" sz="17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3071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Filosofia</a:t>
                      </a:r>
                      <a:endParaRPr lang="pt-BR" sz="17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Framework Componentizado (Modelo MVC)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Fluxo de Script Linear ("Python Notebook")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501332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Escalabilidade</a:t>
                      </a:r>
                      <a:endParaRPr lang="pt-BR" sz="17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Melhor.</a:t>
                      </a: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Ideal para aplicações grandes e de nível empresarial.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Melhor para prototipagem rápida e aplicações menores/internas.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385262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Reatividade</a:t>
                      </a:r>
                      <a:endParaRPr lang="pt-BR" sz="17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Explícita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via </a:t>
                      </a:r>
                      <a:r>
                        <a:rPr lang="en-US" sz="1700" i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Callbacks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(Input, Output).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Automática e Implícita</a:t>
                      </a: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(reexecuta o script inteiro).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022233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Customização</a:t>
                      </a:r>
                      <a:endParaRPr lang="pt-BR" sz="17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Alta.</a:t>
                      </a: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Permite o uso de HTML/CSS para layout e estilo detalhado.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Baixa. Estilos predefinidos; difícil customização profunda.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732552"/>
                  </a:ext>
                </a:extLst>
              </a:tr>
              <a:tr h="9224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Curva de Aprendizado</a:t>
                      </a:r>
                      <a:endParaRPr lang="pt-BR" sz="17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Mais íngreme (requer entender </a:t>
                      </a:r>
                      <a:r>
                        <a:rPr lang="pt-BR" sz="1700" i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callbacks</a:t>
                      </a:r>
                      <a:r>
                        <a:rPr lang="pt-BR" sz="17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e a estrutura de componentes).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Muito baixa (parece um script Python normal).</a:t>
                      </a:r>
                    </a:p>
                  </a:txBody>
                  <a:tcPr marL="108105" marR="108105" marT="72070" marB="7207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94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736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974C5-7B6C-F8E5-AF5A-E242FF50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F01FE40-6924-BC31-9C6E-737A4363BAF9}"/>
              </a:ext>
            </a:extLst>
          </p:cNvPr>
          <p:cNvSpPr txBox="1">
            <a:spLocks/>
          </p:cNvSpPr>
          <p:nvPr/>
        </p:nvSpPr>
        <p:spPr>
          <a:xfrm>
            <a:off x="369711" y="144855"/>
            <a:ext cx="11452573" cy="10259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/>
              <a:t>Dash</a:t>
            </a:r>
          </a:p>
          <a:p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FC09A0B-D305-87F6-CB94-D89BC7A80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79" y="1094956"/>
            <a:ext cx="1162743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000" b="1" dirty="0"/>
              <a:t>	</a:t>
            </a:r>
            <a:r>
              <a:rPr lang="pt-BR" sz="2000" dirty="0"/>
              <a:t>Em resumo, o </a:t>
            </a:r>
            <a:r>
              <a:rPr lang="pt-BR" sz="2000" b="1" dirty="0"/>
              <a:t>Dash</a:t>
            </a:r>
            <a:r>
              <a:rPr lang="pt-BR" sz="2000" dirty="0"/>
              <a:t> é a escolha se você precisa de </a:t>
            </a:r>
            <a:r>
              <a:rPr lang="pt-BR" sz="2000" b="1" dirty="0"/>
              <a:t>controle máximo</a:t>
            </a:r>
            <a:r>
              <a:rPr lang="pt-BR" sz="2000" dirty="0"/>
              <a:t>, </a:t>
            </a:r>
            <a:r>
              <a:rPr lang="pt-BR" sz="2000" b="1" dirty="0"/>
              <a:t>escalabilidade</a:t>
            </a:r>
            <a:r>
              <a:rPr lang="pt-BR" sz="2000" dirty="0"/>
              <a:t> para grandes aplicações e visualizações altamente </a:t>
            </a:r>
            <a:r>
              <a:rPr lang="pt-BR" sz="2000" b="1" dirty="0"/>
              <a:t>personalizadas</a:t>
            </a:r>
            <a:r>
              <a:rPr lang="pt-BR" sz="2000" dirty="0"/>
              <a:t>, aceitando uma curva de aprendizado um pouco mais acentuada.</a:t>
            </a:r>
          </a:p>
          <a:p>
            <a:pPr algn="just"/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07D6AC4-B965-C06E-799E-8C572B3D5721}"/>
              </a:ext>
            </a:extLst>
          </p:cNvPr>
          <p:cNvSpPr txBox="1">
            <a:spLocks/>
          </p:cNvSpPr>
          <p:nvPr/>
        </p:nvSpPr>
        <p:spPr>
          <a:xfrm>
            <a:off x="3090147" y="2342502"/>
            <a:ext cx="5619286" cy="78999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92500"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 err="1">
                <a:solidFill>
                  <a:srgbClr val="FFFF00"/>
                </a:solidFill>
              </a:rPr>
              <a:t>pip</a:t>
            </a:r>
            <a:r>
              <a:rPr lang="pt-BR" sz="3600" dirty="0">
                <a:solidFill>
                  <a:srgbClr val="FFFF00"/>
                </a:solidFill>
              </a:rPr>
              <a:t> </a:t>
            </a:r>
            <a:r>
              <a:rPr lang="pt-BR" sz="3600" dirty="0" err="1">
                <a:solidFill>
                  <a:srgbClr val="FFFF00"/>
                </a:solidFill>
              </a:rPr>
              <a:t>install</a:t>
            </a:r>
            <a:r>
              <a:rPr lang="pt-BR" sz="3600" dirty="0">
                <a:solidFill>
                  <a:srgbClr val="FFFF00"/>
                </a:solidFill>
              </a:rPr>
              <a:t> Dash Pandas </a:t>
            </a:r>
            <a:r>
              <a:rPr lang="pt-BR" sz="3600" dirty="0" err="1">
                <a:solidFill>
                  <a:srgbClr val="FFFF00"/>
                </a:solidFill>
              </a:rPr>
              <a:t>Plotly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6EC9211-5BA8-1672-E85E-199B3D5E0B04}"/>
              </a:ext>
            </a:extLst>
          </p:cNvPr>
          <p:cNvSpPr txBox="1">
            <a:spLocks/>
          </p:cNvSpPr>
          <p:nvPr/>
        </p:nvSpPr>
        <p:spPr>
          <a:xfrm>
            <a:off x="2731595" y="3321032"/>
            <a:ext cx="6158907" cy="125145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 fontScale="70000" lnSpcReduction="20000"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600" dirty="0">
                <a:solidFill>
                  <a:srgbClr val="FFFF00"/>
                </a:solidFill>
              </a:rPr>
              <a:t>Após digitar o Código, </a:t>
            </a:r>
            <a:r>
              <a:rPr lang="pt-BR" sz="3600" b="1" dirty="0">
                <a:solidFill>
                  <a:srgbClr val="FFFF00"/>
                </a:solidFill>
              </a:rPr>
              <a:t>abra o terminal </a:t>
            </a:r>
            <a:r>
              <a:rPr lang="pt-BR" sz="3600" dirty="0">
                <a:solidFill>
                  <a:srgbClr val="FFFF00"/>
                </a:solidFill>
              </a:rPr>
              <a:t>e execute conforme o exemplo abaixo.</a:t>
            </a:r>
          </a:p>
          <a:p>
            <a:pPr algn="ctr"/>
            <a:endParaRPr lang="pt-BR" sz="3600" dirty="0">
              <a:solidFill>
                <a:srgbClr val="FFFF00"/>
              </a:solidFill>
            </a:endParaRPr>
          </a:p>
          <a:p>
            <a:pPr algn="ctr"/>
            <a:r>
              <a:rPr lang="en-US" sz="2800" b="1" dirty="0" err="1">
                <a:solidFill>
                  <a:srgbClr val="92D050"/>
                </a:solidFill>
              </a:rPr>
              <a:t>streamlit</a:t>
            </a:r>
            <a:r>
              <a:rPr lang="en-US" sz="2800" b="1" dirty="0">
                <a:solidFill>
                  <a:srgbClr val="92D050"/>
                </a:solidFill>
              </a:rPr>
              <a:t> app_dash.py</a:t>
            </a:r>
            <a:endParaRPr lang="pt-BR" sz="2800" b="1" dirty="0">
              <a:solidFill>
                <a:srgbClr val="92D05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B51127-BCC1-3C87-D01D-95F0428D9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47" y="4766183"/>
            <a:ext cx="1021230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 sz="2400" b="1" dirty="0"/>
          </a:p>
          <a:p>
            <a:r>
              <a:rPr lang="pt-BR" sz="2400" dirty="0"/>
              <a:t>O Dash abrirá uma página no seu navegador (geralmente em </a:t>
            </a:r>
            <a:r>
              <a:rPr lang="pt-BR" sz="2000" dirty="0"/>
              <a:t>http://127.0.0.1:8050/</a:t>
            </a:r>
            <a:r>
              <a:rPr lang="pt-BR" sz="2400" dirty="0"/>
              <a:t>).</a:t>
            </a:r>
            <a:endParaRPr lang="pt-BR" sz="2400" b="1" dirty="0"/>
          </a:p>
          <a:p>
            <a:endParaRPr lang="pt-BR" sz="2400" b="1" dirty="0"/>
          </a:p>
          <a:p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608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6F9E-D693-B4C8-9831-3BDEAE7F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5A0E4B14-D308-6A9F-85EA-13737B3EBD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626CC63-077D-54EF-5954-CD72EF924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66" y="309136"/>
            <a:ext cx="5821378" cy="6724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from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dash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Dash, </a:t>
            </a:r>
            <a:r>
              <a:rPr lang="pt-BR" altLang="pt-BR" sz="1400" b="1" dirty="0" err="1">
                <a:latin typeface="Arial" panose="020B0604020202020204" pitchFamily="34" charset="0"/>
              </a:rPr>
              <a:t>dcc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html</a:t>
            </a:r>
            <a:r>
              <a:rPr lang="pt-BR" altLang="pt-BR" sz="1400" b="1" dirty="0">
                <a:latin typeface="Arial" panose="020B0604020202020204" pitchFamily="34" charset="0"/>
              </a:rPr>
              <a:t>, Input, Output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pandas as </a:t>
            </a:r>
            <a:r>
              <a:rPr lang="pt-BR" altLang="pt-BR" sz="1400" b="1" dirty="0" err="1">
                <a:latin typeface="Arial" panose="020B0604020202020204" pitchFamily="34" charset="0"/>
              </a:rPr>
              <a:t>pd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plotly.express</a:t>
            </a:r>
            <a:r>
              <a:rPr lang="pt-BR" altLang="pt-BR" sz="1400" b="1" dirty="0">
                <a:latin typeface="Arial" panose="020B0604020202020204" pitchFamily="34" charset="0"/>
              </a:rPr>
              <a:t> as </a:t>
            </a:r>
            <a:r>
              <a:rPr lang="pt-BR" altLang="pt-BR" sz="1400" b="1" dirty="0" err="1">
                <a:latin typeface="Arial" panose="020B0604020202020204" pitchFamily="34" charset="0"/>
              </a:rPr>
              <a:t>px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5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1. Inicializa o aplicativo Dash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'</a:t>
            </a:r>
            <a:r>
              <a:rPr lang="pt-BR" altLang="pt-BR" sz="1400" b="1" dirty="0" err="1">
                <a:latin typeface="Arial" panose="020B0604020202020204" pitchFamily="34" charset="0"/>
              </a:rPr>
              <a:t>name</a:t>
            </a:r>
            <a:r>
              <a:rPr lang="pt-BR" altLang="pt-BR" sz="1400" b="1" dirty="0">
                <a:latin typeface="Arial" panose="020B0604020202020204" pitchFamily="34" charset="0"/>
              </a:rPr>
              <a:t>' é o nome do módulo principal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app = Dash(__</a:t>
            </a:r>
            <a:r>
              <a:rPr lang="pt-BR" altLang="pt-BR" sz="1400" b="1" dirty="0" err="1">
                <a:latin typeface="Arial" panose="020B0604020202020204" pitchFamily="34" charset="0"/>
              </a:rPr>
              <a:t>name</a:t>
            </a:r>
            <a:r>
              <a:rPr lang="pt-BR" altLang="pt-BR" sz="1400" b="1" dirty="0">
                <a:latin typeface="Arial" panose="020B0604020202020204" pitchFamily="34" charset="0"/>
              </a:rPr>
              <a:t>__)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5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--- 2. DEFINIÇÃO DO LAYOUT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O layout define a estrutura visual da página usando componentes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app.layout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html.Div</a:t>
            </a:r>
            <a:r>
              <a:rPr lang="pt-BR" altLang="pt-BR" sz="1400" b="1" dirty="0">
                <a:latin typeface="Arial" panose="020B0604020202020204" pitchFamily="34" charset="0"/>
              </a:rPr>
              <a:t>([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5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Título (Usamos um componente HTML)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html.H1(</a:t>
            </a:r>
            <a:r>
              <a:rPr lang="pt-BR" altLang="pt-BR" sz="1400" b="1" dirty="0" err="1">
                <a:latin typeface="Arial" panose="020B0604020202020204" pitchFamily="34" charset="0"/>
              </a:rPr>
              <a:t>children</a:t>
            </a:r>
            <a:r>
              <a:rPr lang="pt-BR" altLang="pt-BR" sz="1400" b="1" dirty="0">
                <a:latin typeface="Arial" panose="020B0604020202020204" pitchFamily="34" charset="0"/>
              </a:rPr>
              <a:t>='Dash - Reatividade Simples', </a:t>
            </a:r>
            <a:r>
              <a:rPr lang="pt-BR" altLang="pt-BR" sz="1400" b="1" dirty="0" err="1">
                <a:latin typeface="Arial" panose="020B0604020202020204" pitchFamily="34" charset="0"/>
              </a:rPr>
              <a:t>style</a:t>
            </a:r>
            <a:r>
              <a:rPr lang="pt-BR" altLang="pt-BR" sz="1400" b="1" dirty="0">
                <a:latin typeface="Arial" panose="020B0604020202020204" pitchFamily="34" charset="0"/>
              </a:rPr>
              <a:t>={'</a:t>
            </a:r>
            <a:r>
              <a:rPr lang="pt-BR" altLang="pt-BR" sz="1400" b="1" dirty="0" err="1">
                <a:latin typeface="Arial" panose="020B0604020202020204" pitchFamily="34" charset="0"/>
              </a:rPr>
              <a:t>textAlign</a:t>
            </a:r>
            <a:r>
              <a:rPr lang="pt-BR" altLang="pt-BR" sz="1400" b="1" dirty="0">
                <a:latin typeface="Arial" panose="020B0604020202020204" pitchFamily="34" charset="0"/>
              </a:rPr>
              <a:t>': 'center'}),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5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Componente de Entrada (Dash Core </a:t>
            </a:r>
            <a:r>
              <a:rPr lang="pt-BR" altLang="pt-BR" sz="1400" b="1" dirty="0" err="1">
                <a:latin typeface="Arial" panose="020B0604020202020204" pitchFamily="34" charset="0"/>
              </a:rPr>
              <a:t>Components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html.Div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children</a:t>
            </a:r>
            <a:r>
              <a:rPr lang="pt-BR" altLang="pt-BR" sz="1400" b="1" dirty="0">
                <a:latin typeface="Arial" panose="020B0604020202020204" pitchFamily="34" charset="0"/>
              </a:rPr>
              <a:t>='Digite um número:', </a:t>
            </a:r>
            <a:r>
              <a:rPr lang="pt-BR" altLang="pt-BR" sz="1400" b="1" dirty="0" err="1">
                <a:latin typeface="Arial" panose="020B0604020202020204" pitchFamily="34" charset="0"/>
              </a:rPr>
              <a:t>style</a:t>
            </a:r>
            <a:r>
              <a:rPr lang="pt-BR" altLang="pt-BR" sz="1400" b="1" dirty="0">
                <a:latin typeface="Arial" panose="020B0604020202020204" pitchFamily="34" charset="0"/>
              </a:rPr>
              <a:t>={'</a:t>
            </a:r>
            <a:r>
              <a:rPr lang="pt-BR" altLang="pt-BR" sz="1400" b="1" dirty="0" err="1">
                <a:latin typeface="Arial" panose="020B0604020202020204" pitchFamily="34" charset="0"/>
              </a:rPr>
              <a:t>marginTop</a:t>
            </a:r>
            <a:r>
              <a:rPr lang="pt-BR" altLang="pt-BR" sz="1400" b="1" dirty="0">
                <a:latin typeface="Arial" panose="020B0604020202020204" pitchFamily="34" charset="0"/>
              </a:rPr>
              <a:t>': 20, '</a:t>
            </a:r>
            <a:r>
              <a:rPr lang="pt-BR" altLang="pt-BR" sz="1400" b="1" dirty="0" err="1">
                <a:latin typeface="Arial" panose="020B0604020202020204" pitchFamily="34" charset="0"/>
              </a:rPr>
              <a:t>marginBottom</a:t>
            </a:r>
            <a:r>
              <a:rPr lang="pt-BR" altLang="pt-BR" sz="1400" b="1" dirty="0">
                <a:latin typeface="Arial" panose="020B0604020202020204" pitchFamily="34" charset="0"/>
              </a:rPr>
              <a:t>': 10}),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5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</a:t>
            </a:r>
            <a:r>
              <a:rPr lang="pt-BR" altLang="pt-BR" sz="1400" b="1" dirty="0" err="1">
                <a:latin typeface="Arial" panose="020B0604020202020204" pitchFamily="34" charset="0"/>
              </a:rPr>
              <a:t>dcc.Input</a:t>
            </a:r>
            <a:r>
              <a:rPr lang="pt-BR" altLang="pt-BR" sz="1400" b="1" dirty="0">
                <a:latin typeface="Arial" panose="020B0604020202020204" pitchFamily="34" charset="0"/>
              </a:rPr>
              <a:t> é o widget de entrada de texto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dcc.Input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id='entrada-numero',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type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number</a:t>
            </a:r>
            <a:r>
              <a:rPr lang="pt-BR" altLang="pt-BR" sz="1400" b="1" dirty="0">
                <a:latin typeface="Arial" panose="020B0604020202020204" pitchFamily="34" charset="0"/>
              </a:rPr>
              <a:t>', # Define que o tipo de entrada é número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value</a:t>
            </a:r>
            <a:r>
              <a:rPr lang="pt-BR" altLang="pt-BR" sz="1400" b="1" dirty="0">
                <a:latin typeface="Arial" panose="020B0604020202020204" pitchFamily="34" charset="0"/>
              </a:rPr>
              <a:t>=5,       # Valor inicial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style</a:t>
            </a:r>
            <a:r>
              <a:rPr lang="pt-BR" altLang="pt-BR" sz="1400" b="1" dirty="0">
                <a:latin typeface="Arial" panose="020B0604020202020204" pitchFamily="34" charset="0"/>
              </a:rPr>
              <a:t>={'</a:t>
            </a:r>
            <a:r>
              <a:rPr lang="pt-BR" altLang="pt-BR" sz="1400" b="1" dirty="0" err="1">
                <a:latin typeface="Arial" panose="020B0604020202020204" pitchFamily="34" charset="0"/>
              </a:rPr>
              <a:t>fontSize</a:t>
            </a:r>
            <a:r>
              <a:rPr lang="pt-BR" altLang="pt-BR" sz="1400" b="1" dirty="0">
                <a:latin typeface="Arial" panose="020B0604020202020204" pitchFamily="34" charset="0"/>
              </a:rPr>
              <a:t>': 16}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5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Rótulo de Saída (Onde o resultado será exibido)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html.Div</a:t>
            </a:r>
            <a:r>
              <a:rPr lang="pt-BR" altLang="pt-BR" sz="1400" b="1" dirty="0">
                <a:latin typeface="Arial" panose="020B0604020202020204" pitchFamily="34" charset="0"/>
              </a:rPr>
              <a:t>(id='</a:t>
            </a:r>
            <a:r>
              <a:rPr lang="pt-BR" altLang="pt-BR" sz="1400" b="1" dirty="0" err="1">
                <a:latin typeface="Arial" panose="020B0604020202020204" pitchFamily="34" charset="0"/>
              </a:rPr>
              <a:t>saida</a:t>
            </a:r>
            <a:r>
              <a:rPr lang="pt-BR" altLang="pt-BR" sz="1400" b="1" dirty="0">
                <a:latin typeface="Arial" panose="020B0604020202020204" pitchFamily="34" charset="0"/>
              </a:rPr>
              <a:t>-resultado', </a:t>
            </a:r>
            <a:r>
              <a:rPr lang="pt-BR" altLang="pt-BR" sz="1400" b="1" dirty="0" err="1">
                <a:latin typeface="Arial" panose="020B0604020202020204" pitchFamily="34" charset="0"/>
              </a:rPr>
              <a:t>style</a:t>
            </a:r>
            <a:r>
              <a:rPr lang="pt-BR" altLang="pt-BR" sz="1400" b="1" dirty="0">
                <a:latin typeface="Arial" panose="020B0604020202020204" pitchFamily="34" charset="0"/>
              </a:rPr>
              <a:t>={'</a:t>
            </a:r>
            <a:r>
              <a:rPr lang="pt-BR" altLang="pt-BR" sz="1400" b="1" dirty="0" err="1">
                <a:latin typeface="Arial" panose="020B0604020202020204" pitchFamily="34" charset="0"/>
              </a:rPr>
              <a:t>marginTop</a:t>
            </a:r>
            <a:r>
              <a:rPr lang="pt-BR" altLang="pt-BR" sz="1400" b="1" dirty="0">
                <a:latin typeface="Arial" panose="020B0604020202020204" pitchFamily="34" charset="0"/>
              </a:rPr>
              <a:t>': 20, '</a:t>
            </a:r>
            <a:r>
              <a:rPr lang="pt-BR" altLang="pt-BR" sz="1400" b="1" dirty="0" err="1">
                <a:latin typeface="Arial" panose="020B0604020202020204" pitchFamily="34" charset="0"/>
              </a:rPr>
              <a:t>fontSize</a:t>
            </a:r>
            <a:r>
              <a:rPr lang="pt-BR" altLang="pt-BR" sz="1400" b="1" dirty="0">
                <a:latin typeface="Arial" panose="020B0604020202020204" pitchFamily="34" charset="0"/>
              </a:rPr>
              <a:t>': 20, 'color': '</a:t>
            </a:r>
            <a:r>
              <a:rPr lang="pt-BR" altLang="pt-BR" sz="1400" b="1" dirty="0" err="1">
                <a:latin typeface="Arial" panose="020B0604020202020204" pitchFamily="34" charset="0"/>
              </a:rPr>
              <a:t>darkblue</a:t>
            </a:r>
            <a:r>
              <a:rPr lang="pt-BR" altLang="pt-BR" sz="1400" b="1" dirty="0">
                <a:latin typeface="Arial" panose="020B0604020202020204" pitchFamily="34" charset="0"/>
              </a:rPr>
              <a:t>'})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52352F32-48C5-BA8B-E2AE-CF5115A7F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497" y="91455"/>
            <a:ext cx="6595644" cy="634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--- 3. DEFINIÇÃO DO CALLBACK (A LÓGICA DE INTERAÇÃO)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@app.callback(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OUTPUT: Onde o resultado será injetado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Output(</a:t>
            </a:r>
            <a:r>
              <a:rPr lang="pt-BR" altLang="pt-BR" sz="1400" b="1" dirty="0" err="1">
                <a:latin typeface="Arial" panose="020B0604020202020204" pitchFamily="34" charset="0"/>
              </a:rPr>
              <a:t>component_id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saida</a:t>
            </a:r>
            <a:r>
              <a:rPr lang="pt-BR" altLang="pt-BR" sz="1400" b="1" dirty="0">
                <a:latin typeface="Arial" panose="020B0604020202020204" pitchFamily="34" charset="0"/>
              </a:rPr>
              <a:t>-resultado', </a:t>
            </a:r>
            <a:r>
              <a:rPr lang="pt-BR" altLang="pt-BR" sz="1400" b="1" dirty="0" err="1">
                <a:latin typeface="Arial" panose="020B0604020202020204" pitchFamily="34" charset="0"/>
              </a:rPr>
              <a:t>component_property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children</a:t>
            </a:r>
            <a:r>
              <a:rPr lang="pt-BR" altLang="pt-BR" sz="1400" b="1" dirty="0">
                <a:latin typeface="Arial" panose="020B0604020202020204" pitchFamily="34" charset="0"/>
              </a:rPr>
              <a:t>'),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INPUT: De qual componente e propriedade o valor será lido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Input(</a:t>
            </a:r>
            <a:r>
              <a:rPr lang="pt-BR" altLang="pt-BR" sz="1400" b="1" dirty="0" err="1">
                <a:latin typeface="Arial" panose="020B0604020202020204" pitchFamily="34" charset="0"/>
              </a:rPr>
              <a:t>component_id</a:t>
            </a:r>
            <a:r>
              <a:rPr lang="pt-BR" altLang="pt-BR" sz="1400" b="1" dirty="0">
                <a:latin typeface="Arial" panose="020B0604020202020204" pitchFamily="34" charset="0"/>
              </a:rPr>
              <a:t>='entrada-numero', </a:t>
            </a:r>
            <a:r>
              <a:rPr lang="pt-BR" altLang="pt-BR" sz="1400" b="1" dirty="0" err="1">
                <a:latin typeface="Arial" panose="020B0604020202020204" pitchFamily="34" charset="0"/>
              </a:rPr>
              <a:t>component_property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value</a:t>
            </a:r>
            <a:r>
              <a:rPr lang="pt-BR" altLang="pt-BR" sz="1400" b="1" dirty="0">
                <a:latin typeface="Arial" panose="020B0604020202020204" pitchFamily="34" charset="0"/>
              </a:rPr>
              <a:t>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def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atualizar_saida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valor_de_entrada</a:t>
            </a:r>
            <a:r>
              <a:rPr lang="pt-BR" altLang="pt-BR" sz="1400" b="1" dirty="0">
                <a:latin typeface="Arial" panose="020B0604020202020204" pitchFamily="34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"""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Esta função é um </a:t>
            </a:r>
            <a:r>
              <a:rPr lang="pt-BR" altLang="pt-BR" sz="1400" b="1" dirty="0" err="1">
                <a:latin typeface="Arial" panose="020B0604020202020204" pitchFamily="34" charset="0"/>
              </a:rPr>
              <a:t>callback</a:t>
            </a:r>
            <a:r>
              <a:rPr lang="pt-BR" altLang="pt-BR" sz="1400" b="1" dirty="0">
                <a:latin typeface="Arial" panose="020B0604020202020204" pitchFamily="34" charset="0"/>
              </a:rPr>
              <a:t>. Ela é executada automaticamente sempre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que o valor (</a:t>
            </a:r>
            <a:r>
              <a:rPr lang="pt-BR" altLang="pt-BR" sz="1400" b="1" dirty="0" err="1">
                <a:latin typeface="Arial" panose="020B0604020202020204" pitchFamily="34" charset="0"/>
              </a:rPr>
              <a:t>value</a:t>
            </a:r>
            <a:r>
              <a:rPr lang="pt-BR" altLang="pt-BR" sz="1400" b="1" dirty="0">
                <a:latin typeface="Arial" panose="020B0604020202020204" pitchFamily="34" charset="0"/>
              </a:rPr>
              <a:t>) do componente 'entrada-numero' muda.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"""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try</a:t>
            </a:r>
            <a:r>
              <a:rPr lang="pt-BR" altLang="pt-BR" sz="1400" b="1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Se o valor for válido (não nulo), calcula o quadrado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numero = </a:t>
            </a:r>
            <a:r>
              <a:rPr lang="pt-BR" altLang="pt-BR" sz="1400" b="1" dirty="0" err="1">
                <a:latin typeface="Arial" panose="020B0604020202020204" pitchFamily="34" charset="0"/>
              </a:rPr>
              <a:t>float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valor_de_entrada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resultado = numero **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return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f'O</a:t>
            </a:r>
            <a:r>
              <a:rPr lang="pt-BR" altLang="pt-BR" sz="1400" b="1" dirty="0">
                <a:latin typeface="Arial" panose="020B0604020202020204" pitchFamily="34" charset="0"/>
              </a:rPr>
              <a:t> quadrado de {numero} é: {resultado:.2f}'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except</a:t>
            </a:r>
            <a:r>
              <a:rPr lang="pt-BR" altLang="pt-BR" sz="1400" b="1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# Retorna uma mensagem de erro se a entrada não for um número válido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return</a:t>
            </a:r>
            <a:r>
              <a:rPr lang="pt-BR" altLang="pt-BR" sz="1400" b="1" dirty="0">
                <a:latin typeface="Arial" panose="020B0604020202020204" pitchFamily="34" charset="0"/>
              </a:rPr>
              <a:t> 'Por favor, insira um número válido.'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# --- 4. INICIA O SERVIDOR 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if</a:t>
            </a:r>
            <a:r>
              <a:rPr lang="pt-BR" altLang="pt-BR" sz="1400" b="1" dirty="0">
                <a:latin typeface="Arial" panose="020B0604020202020204" pitchFamily="34" charset="0"/>
              </a:rPr>
              <a:t> __</a:t>
            </a:r>
            <a:r>
              <a:rPr lang="pt-BR" altLang="pt-BR" sz="1400" b="1" dirty="0" err="1">
                <a:latin typeface="Arial" panose="020B0604020202020204" pitchFamily="34" charset="0"/>
              </a:rPr>
              <a:t>name</a:t>
            </a:r>
            <a:r>
              <a:rPr lang="pt-BR" altLang="pt-BR" sz="1400" b="1" dirty="0">
                <a:latin typeface="Arial" panose="020B0604020202020204" pitchFamily="34" charset="0"/>
              </a:rPr>
              <a:t>__ == '__</a:t>
            </a:r>
            <a:r>
              <a:rPr lang="pt-BR" altLang="pt-BR" sz="1400" b="1" dirty="0" err="1">
                <a:latin typeface="Arial" panose="020B0604020202020204" pitchFamily="34" charset="0"/>
              </a:rPr>
              <a:t>main</a:t>
            </a:r>
            <a:r>
              <a:rPr lang="pt-BR" altLang="pt-BR" sz="1400" b="1" dirty="0">
                <a:latin typeface="Arial" panose="020B0604020202020204" pitchFamily="34" charset="0"/>
              </a:rPr>
              <a:t>__':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# Roda o aplicativo no modo debug para ver as alterações em tempo real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app.run</a:t>
            </a:r>
            <a:r>
              <a:rPr lang="pt-BR" altLang="pt-BR" sz="1400" b="1" dirty="0">
                <a:latin typeface="Arial" panose="020B0604020202020204" pitchFamily="34" charset="0"/>
              </a:rPr>
              <a:t>(debug=</a:t>
            </a:r>
            <a:r>
              <a:rPr lang="pt-BR" altLang="pt-BR" sz="1400" b="1" dirty="0" err="1">
                <a:latin typeface="Arial" panose="020B0604020202020204" pitchFamily="34" charset="0"/>
              </a:rPr>
              <a:t>True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CD39584-4067-F2FF-A627-A71B345A1542}"/>
              </a:ext>
            </a:extLst>
          </p:cNvPr>
          <p:cNvCxnSpPr/>
          <p:nvPr/>
        </p:nvCxnSpPr>
        <p:spPr>
          <a:xfrm>
            <a:off x="5676518" y="272924"/>
            <a:ext cx="0" cy="6308947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2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4773168"/>
            <a:ext cx="5179330" cy="1579696"/>
          </a:xfrm>
          <a:noFill/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Wellington S. S. Silva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guitomw@outlook.com</a:t>
            </a:r>
          </a:p>
        </p:txBody>
      </p:sp>
      <p:pic>
        <p:nvPicPr>
          <p:cNvPr id="25" name="Espaço Reservado para Imagem 24" descr="Imagem ampliada de uma rede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3_TF33713516_Win32" id="{381BE384-4E88-40D9-BE21-FE65AFA21B4D}" vid="{52A1BC7B-5E05-4786-AE3A-7C32E2BD0D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{D4B1B551-CF5F-4749-BE22-BA7347A4FEAF}tf33713516_win32</Template>
  <TotalTime>1778</TotalTime>
  <Words>4413</Words>
  <Application>Microsoft Office PowerPoint</Application>
  <PresentationFormat>Widescreen</PresentationFormat>
  <Paragraphs>473</Paragraphs>
  <Slides>26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Arial</vt:lpstr>
      <vt:lpstr>Calibri</vt:lpstr>
      <vt:lpstr>Gill Sans MT</vt:lpstr>
      <vt:lpstr>Google Sans Text</vt:lpstr>
      <vt:lpstr>Walbaum Display</vt:lpstr>
      <vt:lpstr>3DFloatVTI</vt:lpstr>
      <vt:lpstr>Linguagem de Programação Back-End</vt:lpstr>
      <vt:lpstr>Python: Bibliotecas Gráficas (GUI)</vt:lpstr>
      <vt:lpstr>Biblioteca Gráficas – O que são e como funcionam </vt:lpstr>
      <vt:lpstr>Algumas das Bibliotecas (GUI) utilizadas</vt:lpstr>
      <vt:lpstr>Propósito das Bibliotecas (GUI)</vt:lpstr>
      <vt:lpstr>Propósito das Bibliotecas (GUI)</vt:lpstr>
      <vt:lpstr>Biblioteca – Tkinter (TK Interface)</vt:lpstr>
      <vt:lpstr>Biblioteca – Tkinter (TK Interface)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Serafim Dos Santos Silva</dc:creator>
  <cp:lastModifiedBy>Wellington Serafim Dos Santos Silva</cp:lastModifiedBy>
  <cp:revision>60</cp:revision>
  <dcterms:created xsi:type="dcterms:W3CDTF">2025-07-31T14:19:03Z</dcterms:created>
  <dcterms:modified xsi:type="dcterms:W3CDTF">2025-10-23T13:53:26Z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