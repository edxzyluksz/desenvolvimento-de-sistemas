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7"/>
  </p:notesMasterIdLst>
  <p:handoutMasterIdLst>
    <p:handoutMasterId r:id="rId18"/>
  </p:handoutMasterIdLst>
  <p:sldIdLst>
    <p:sldId id="278" r:id="rId5"/>
    <p:sldId id="282" r:id="rId6"/>
    <p:sldId id="293" r:id="rId7"/>
    <p:sldId id="271" r:id="rId8"/>
    <p:sldId id="294" r:id="rId9"/>
    <p:sldId id="283" r:id="rId10"/>
    <p:sldId id="284" r:id="rId11"/>
    <p:sldId id="285" r:id="rId12"/>
    <p:sldId id="286" r:id="rId13"/>
    <p:sldId id="287" r:id="rId14"/>
    <p:sldId id="288" r:id="rId15"/>
    <p:sldId id="292" r:id="rId1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3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FCF5D6B5-35B7-4285-9A4D-92ED5F34F328}" type="datetime1">
              <a:rPr lang="pt-BR" smtClean="0"/>
              <a:t>31/07/2025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CFA70580-B89C-4157-871D-6B9318EE5F5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4CFF1DF4-D409-4130-8A44-0FEC7A586139}" type="datetime1">
              <a:rPr lang="pt-BR" smtClean="0"/>
              <a:pPr/>
              <a:t>31/07/2025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7AF00E9-A49D-4007-B3B9-A3783809E50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1674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81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pt-BR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ítulo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2" name="Espaço Reservado para Conteúdo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200">
                <a:solidFill>
                  <a:schemeClr val="tx1"/>
                </a:solidFill>
              </a:defRPr>
            </a:lvl2pPr>
            <a:lvl3pPr>
              <a:defRPr lang="pt-BR" sz="1200">
                <a:solidFill>
                  <a:schemeClr val="tx1"/>
                </a:solidFill>
              </a:defRPr>
            </a:lvl3pPr>
            <a:lvl4pPr>
              <a:defRPr lang="pt-BR" sz="1200">
                <a:solidFill>
                  <a:schemeClr val="tx1"/>
                </a:solidFill>
              </a:defRPr>
            </a:lvl4pPr>
            <a:lvl5pPr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 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" name="Forma Livre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" name="Forma Livre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orma livre: Forma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orma Livre: Forma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orma Livre: Forma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pt-BR" sz="54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pt-BR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orma Livre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2" name="Forma Livre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3" name="Forma Livre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8" name="Espaço Reservado para Imagem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orma livre: Forma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orma Livre: Forma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orma livre: Forma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pt-BR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pt-BR" sz="1800">
                <a:solidFill>
                  <a:schemeClr val="tx1"/>
                </a:solidFill>
              </a:defRPr>
            </a:lvl1pPr>
            <a:lvl2pPr>
              <a:defRPr lang="pt-BR" sz="1200">
                <a:solidFill>
                  <a:schemeClr val="tx1"/>
                </a:solidFill>
              </a:defRPr>
            </a:lvl2pPr>
            <a:lvl3pPr>
              <a:defRPr lang="pt-BR" sz="1200">
                <a:solidFill>
                  <a:schemeClr val="tx1"/>
                </a:solidFill>
              </a:defRPr>
            </a:lvl3pPr>
            <a:lvl4pPr>
              <a:defRPr lang="pt-BR" sz="1200">
                <a:solidFill>
                  <a:schemeClr val="tx1"/>
                </a:solidFill>
              </a:defRPr>
            </a:lvl4pPr>
            <a:lvl5pPr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pt-BR" sz="54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pt-BR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údo + image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lang="pt-BR" sz="1800">
                <a:solidFill>
                  <a:schemeClr val="tx1"/>
                </a:solidFill>
              </a:defRPr>
            </a:lvl1pPr>
            <a:lvl2pPr algn="r">
              <a:defRPr lang="pt-BR" sz="1200">
                <a:solidFill>
                  <a:schemeClr val="tx1"/>
                </a:solidFill>
              </a:defRPr>
            </a:lvl2pPr>
            <a:lvl3pPr algn="r">
              <a:defRPr lang="pt-BR" sz="1200">
                <a:solidFill>
                  <a:schemeClr val="tx1"/>
                </a:solidFill>
              </a:defRPr>
            </a:lvl3pPr>
            <a:lvl4pPr algn="r">
              <a:defRPr lang="pt-BR" sz="1200">
                <a:solidFill>
                  <a:schemeClr val="tx1"/>
                </a:solidFill>
              </a:defRPr>
            </a:lvl4pPr>
            <a:lvl5pPr algn="r"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orma Livre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0" name="Forma Livre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1" name="Forma Livre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561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orma Livre: Forma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5" name="Forma livre: Forma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800">
                <a:solidFill>
                  <a:schemeClr val="tx1"/>
                </a:solidFill>
              </a:defRPr>
            </a:lvl2pPr>
            <a:lvl3pPr>
              <a:defRPr lang="pt-BR" sz="1800">
                <a:solidFill>
                  <a:schemeClr val="tx1"/>
                </a:solidFill>
              </a:defRPr>
            </a:lvl3pPr>
            <a:lvl4pPr>
              <a:defRPr lang="pt-BR" sz="1800">
                <a:solidFill>
                  <a:schemeClr val="tx1"/>
                </a:solidFill>
              </a:defRPr>
            </a:lvl4pPr>
            <a:lvl5pPr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800">
                <a:solidFill>
                  <a:schemeClr val="tx1"/>
                </a:solidFill>
              </a:defRPr>
            </a:lvl2pPr>
            <a:lvl3pPr>
              <a:defRPr lang="pt-BR" sz="1800">
                <a:solidFill>
                  <a:schemeClr val="tx1"/>
                </a:solidFill>
              </a:defRPr>
            </a:lvl3pPr>
            <a:lvl4pPr>
              <a:defRPr lang="pt-BR" sz="1800">
                <a:solidFill>
                  <a:schemeClr val="tx1"/>
                </a:solidFill>
              </a:defRPr>
            </a:lvl4pPr>
            <a:lvl5pPr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pt-BR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orma Livre: Forma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pt-BR" sz="64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698" r:id="rId6"/>
    <p:sldLayoutId id="2147483704" r:id="rId7"/>
    <p:sldLayoutId id="2147483699" r:id="rId8"/>
    <p:sldLayoutId id="2147483688" r:id="rId9"/>
    <p:sldLayoutId id="2147483686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4302255"/>
          </a:xfrm>
          <a:noFill/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>
              <a:lnSpc>
                <a:spcPct val="100000"/>
              </a:lnSpc>
            </a:pPr>
            <a:r>
              <a:rPr lang="pt-BR" dirty="0"/>
              <a:t>Introdução a Linguagem de Programação Back-</a:t>
            </a:r>
            <a:r>
              <a:rPr lang="pt-BR" dirty="0" err="1"/>
              <a:t>End</a:t>
            </a:r>
            <a:endParaRPr lang="pt-BR" dirty="0"/>
          </a:p>
        </p:txBody>
      </p:sp>
      <p:pic>
        <p:nvPicPr>
          <p:cNvPr id="8" name="Espaço Reservado para Imagem 13" descr="Tela de fundo digital de pontos de dados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A935D48-0C4A-CDBB-2DC4-A015CCD2232A}"/>
              </a:ext>
            </a:extLst>
          </p:cNvPr>
          <p:cNvSpPr txBox="1"/>
          <p:nvPr/>
        </p:nvSpPr>
        <p:spPr>
          <a:xfrm>
            <a:off x="8750808" y="6185919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Prof. Wellington S. S. Silva</a:t>
            </a:r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684059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Linguagem de Programação: Back </a:t>
            </a:r>
            <a:r>
              <a:rPr lang="pt-BR" dirty="0" err="1"/>
              <a:t>End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3145536"/>
            <a:ext cx="11090274" cy="318700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2000" dirty="0">
                <a:solidFill>
                  <a:srgbClr val="FFFF00"/>
                </a:solidFill>
              </a:rPr>
              <a:t>Introdução: O que é a Linguagem de Programação Back </a:t>
            </a:r>
            <a:r>
              <a:rPr lang="pt-BR" sz="2000" dirty="0" err="1">
                <a:solidFill>
                  <a:srgbClr val="FFFF00"/>
                </a:solidFill>
              </a:rPr>
              <a:t>End</a:t>
            </a:r>
            <a:r>
              <a:rPr lang="pt-BR" sz="2000" dirty="0">
                <a:solidFill>
                  <a:srgbClr val="FFFF00"/>
                </a:solidFill>
              </a:rPr>
              <a:t>?</a:t>
            </a:r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8B42C-B887-1278-0748-424514C44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Back-</a:t>
            </a:r>
            <a:r>
              <a:rPr lang="pt-BR" dirty="0" err="1"/>
              <a:t>End</a:t>
            </a:r>
            <a:r>
              <a:rPr lang="pt-BR" dirty="0"/>
              <a:t> - por que ele é crucial?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034668-0363-5B8A-87E2-FED7535C3B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4" y="2263902"/>
            <a:ext cx="11090274" cy="3913188"/>
          </a:xfrm>
        </p:spPr>
        <p:txBody>
          <a:bodyPr/>
          <a:lstStyle/>
          <a:p>
            <a:endParaRPr lang="pt-BR" dirty="0"/>
          </a:p>
          <a:p>
            <a:r>
              <a:rPr lang="pt-BR" sz="2000" dirty="0"/>
              <a:t>Para começarmos, vamos entender o que é o </a:t>
            </a:r>
            <a:r>
              <a:rPr lang="pt-BR" sz="2000" b="1" dirty="0"/>
              <a:t>Back-End</a:t>
            </a:r>
            <a:r>
              <a:rPr lang="pt-BR" sz="2000" dirty="0"/>
              <a:t>. Pensem nos aplicativos e sites que vocês usam todos os dias. A parte que vocês veem e interagem, os botões, as imagens, o texto – isso é o </a:t>
            </a:r>
            <a:r>
              <a:rPr lang="pt-BR" sz="2000" b="1" dirty="0"/>
              <a:t>Front-End</a:t>
            </a:r>
            <a:r>
              <a:rPr lang="pt-BR" sz="2000" dirty="0"/>
              <a:t>. O Back-</a:t>
            </a:r>
            <a:r>
              <a:rPr lang="pt-BR" sz="2000" dirty="0" err="1"/>
              <a:t>End</a:t>
            </a:r>
            <a:r>
              <a:rPr lang="pt-BR" sz="2000" dirty="0"/>
              <a:t>, por sua vez, é tudo aquilo que acontece nos "bastidores". É o servidor, o banco de dados, a lógica de negócio que permite que o Front-</a:t>
            </a:r>
            <a:r>
              <a:rPr lang="pt-BR" sz="2000" dirty="0" err="1"/>
              <a:t>End</a:t>
            </a:r>
            <a:r>
              <a:rPr lang="pt-BR" sz="2000" dirty="0"/>
              <a:t> funcione. É onde os dados são armazenados, processados e gerenciados.</a:t>
            </a:r>
          </a:p>
          <a:p>
            <a:r>
              <a:rPr lang="pt-BR" sz="2000" dirty="0"/>
              <a:t>Por que o Back-</a:t>
            </a:r>
            <a:r>
              <a:rPr lang="pt-BR" sz="2000" dirty="0" err="1"/>
              <a:t>End</a:t>
            </a:r>
            <a:r>
              <a:rPr lang="pt-BR" sz="2000" dirty="0"/>
              <a:t> é crucial? Basicamente, sem ele, a maioria das aplicações que conhecemos simplesmente não existiria. É o Back-</a:t>
            </a:r>
            <a:r>
              <a:rPr lang="pt-BR" sz="2000" dirty="0" err="1"/>
              <a:t>End</a:t>
            </a:r>
            <a:r>
              <a:rPr lang="pt-BR" sz="2000" dirty="0"/>
              <a:t> que garante que suas fotos sejam salvas no Instagram, que seus e-mails cheguem no Gmail, que suas transações bancárias sejam seguras. É a espinha dorsal de qualquer sistema robusto.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46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25" y="4045464"/>
            <a:ext cx="11750040" cy="2286000"/>
          </a:xfrm>
          <a:noFill/>
        </p:spPr>
        <p:txBody>
          <a:bodyPr rtlCol="0" anchor="ctr"/>
          <a:lstStyle>
            <a:defPPr>
              <a:defRPr lang="pt-BR"/>
            </a:defPPr>
          </a:lstStyle>
          <a:p>
            <a:r>
              <a:rPr lang="pt-BR" dirty="0"/>
              <a:t>Lógica de Programação: A base de tudo</a:t>
            </a:r>
          </a:p>
        </p:txBody>
      </p:sp>
      <p:pic>
        <p:nvPicPr>
          <p:cNvPr id="11" name="Espaço Reservado para Imagem 15" descr="Tela de fundo digital de pontos de dados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B73DD-3D80-F73D-19CA-67000C5BF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322" y="159264"/>
            <a:ext cx="11115355" cy="1702302"/>
          </a:xfrm>
        </p:spPr>
        <p:txBody>
          <a:bodyPr/>
          <a:lstStyle/>
          <a:p>
            <a:r>
              <a:rPr lang="pt-BR" dirty="0"/>
              <a:t>Lógica de Programação: Estrutura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8CEFE32-C548-7814-1FF0-50832D2F32D9}"/>
              </a:ext>
            </a:extLst>
          </p:cNvPr>
          <p:cNvSpPr txBox="1">
            <a:spLocks/>
          </p:cNvSpPr>
          <p:nvPr/>
        </p:nvSpPr>
        <p:spPr>
          <a:xfrm>
            <a:off x="563403" y="1472406"/>
            <a:ext cx="11090274" cy="39131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pt-BR"/>
            </a:defPPr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dirty="0"/>
              <a:t>A lógica de programação é o alicerce de tudo. Não importa qual linguagem vocês usem no futuro (Java, Python, Node.js, C#, etc.), os princípios lógicos serão os mesmos.</a:t>
            </a:r>
          </a:p>
          <a:p>
            <a:pPr algn="l"/>
            <a:r>
              <a:rPr lang="pt-BR" sz="1600" dirty="0"/>
              <a:t>A lógica de programação nos ensina a pensar de forma estruturada para resolver problemas. Vamos explorar conceitos como:</a:t>
            </a:r>
          </a:p>
          <a:p>
            <a:pPr algn="l"/>
            <a:r>
              <a:rPr lang="pt-BR" sz="1600" b="1" u="sng" dirty="0"/>
              <a:t>Algoritmos</a:t>
            </a:r>
            <a:r>
              <a:rPr lang="pt-BR" sz="1600" u="sng" dirty="0"/>
              <a:t>: </a:t>
            </a:r>
            <a:r>
              <a:rPr lang="pt-BR" sz="1600" dirty="0"/>
              <a:t>Uma sequência de passos bem definidos para resolver um problema. Pensem em uma receita de bolo: ela é um algoritmo.</a:t>
            </a:r>
          </a:p>
          <a:p>
            <a:pPr algn="l"/>
            <a:r>
              <a:rPr lang="pt-BR" sz="1600" b="1" u="sng" dirty="0"/>
              <a:t>Variáveis</a:t>
            </a:r>
            <a:r>
              <a:rPr lang="pt-BR" sz="1600" u="sng" dirty="0"/>
              <a:t>: </a:t>
            </a:r>
            <a:r>
              <a:rPr lang="pt-BR" sz="1600" dirty="0"/>
              <a:t>Espaços na memória do computador para armazenar dados (números, textos, etc.).</a:t>
            </a:r>
          </a:p>
          <a:p>
            <a:pPr algn="l"/>
            <a:r>
              <a:rPr lang="pt-BR" sz="1600" b="1" u="sng" dirty="0"/>
              <a:t>Tipos de Dados</a:t>
            </a:r>
            <a:r>
              <a:rPr lang="pt-BR" sz="1600" u="sng" dirty="0"/>
              <a:t>: </a:t>
            </a:r>
            <a:r>
              <a:rPr lang="pt-BR" sz="1600" dirty="0"/>
              <a:t>Classificações para os dados (inteiros, decimais, caracteres, booleanos).</a:t>
            </a:r>
          </a:p>
          <a:p>
            <a:pPr algn="l"/>
            <a:r>
              <a:rPr lang="pt-BR" sz="1600" b="1" u="sng" dirty="0"/>
              <a:t>Operadores</a:t>
            </a:r>
            <a:r>
              <a:rPr lang="pt-BR" sz="1600" u="sng" dirty="0"/>
              <a:t>: </a:t>
            </a:r>
            <a:r>
              <a:rPr lang="pt-BR" sz="1600" dirty="0"/>
              <a:t>Símbolos usados para realizar operações (matemáticas, comparações, lógicas).</a:t>
            </a:r>
          </a:p>
          <a:p>
            <a:pPr algn="l"/>
            <a:r>
              <a:rPr lang="pt-BR" sz="1600" b="1" u="sng" dirty="0"/>
              <a:t>Estruturas Condicionais (</a:t>
            </a:r>
            <a:r>
              <a:rPr lang="pt-BR" sz="1600" b="1" u="sng" dirty="0" err="1"/>
              <a:t>if</a:t>
            </a:r>
            <a:r>
              <a:rPr lang="pt-BR" sz="1600" b="1" u="sng" dirty="0"/>
              <a:t>/</a:t>
            </a:r>
            <a:r>
              <a:rPr lang="pt-BR" sz="1600" b="1" u="sng" dirty="0" err="1"/>
              <a:t>else</a:t>
            </a:r>
            <a:r>
              <a:rPr lang="pt-BR" sz="1600" b="1" u="sng" dirty="0"/>
              <a:t>)</a:t>
            </a:r>
            <a:r>
              <a:rPr lang="pt-BR" sz="1600" u="sng" dirty="0"/>
              <a:t>: </a:t>
            </a:r>
            <a:r>
              <a:rPr lang="pt-BR" sz="1600" dirty="0"/>
              <a:t>Tomada de decisões com base em condições (se isso for verdade, faça aquilo; senão, faça outra coisa).</a:t>
            </a:r>
          </a:p>
          <a:p>
            <a:pPr algn="l"/>
            <a:r>
              <a:rPr lang="pt-BR" sz="1600" b="1" u="sng" dirty="0"/>
              <a:t>Estruturas de Repetição (loops - for/</a:t>
            </a:r>
            <a:r>
              <a:rPr lang="pt-BR" sz="1600" b="1" u="sng" dirty="0" err="1"/>
              <a:t>while</a:t>
            </a:r>
            <a:r>
              <a:rPr lang="pt-BR" sz="1600" b="1" u="sng" dirty="0"/>
              <a:t>)</a:t>
            </a:r>
            <a:r>
              <a:rPr lang="pt-BR" sz="1600" u="sng" dirty="0"/>
              <a:t>: </a:t>
            </a:r>
            <a:r>
              <a:rPr lang="pt-BR" sz="1600" dirty="0"/>
              <a:t>Executar um bloco de código várias vezes.</a:t>
            </a:r>
          </a:p>
          <a:p>
            <a:pPr algn="l"/>
            <a:r>
              <a:rPr lang="pt-BR" sz="1600" b="1" u="sng" dirty="0"/>
              <a:t>Funções/Métodos</a:t>
            </a:r>
            <a:r>
              <a:rPr lang="pt-BR" sz="1600" u="sng" dirty="0"/>
              <a:t>: </a:t>
            </a:r>
            <a:r>
              <a:rPr lang="pt-BR" sz="1600" dirty="0"/>
              <a:t>Blocos de código reutilizáveis que realizam uma tarefa específica.</a:t>
            </a:r>
          </a:p>
          <a:p>
            <a:pPr algn="l"/>
            <a:endParaRPr lang="pt-BR" sz="16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52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196900"/>
            <a:ext cx="4159160" cy="3155900"/>
          </a:xfrm>
          <a:noFill/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r>
              <a:rPr lang="pt-BR" dirty="0"/>
              <a:t>Ferramentas e ambiente de desenvolvimento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71" y="3505200"/>
            <a:ext cx="4786729" cy="2609850"/>
          </a:xfrm>
          <a:noFill/>
        </p:spPr>
        <p:txBody>
          <a:bodyPr rtlCol="0"/>
          <a:lstStyle>
            <a:defPPr>
              <a:defRPr lang="pt-BR"/>
            </a:defPPr>
          </a:lstStyle>
          <a:p>
            <a:pPr algn="r"/>
            <a:endParaRPr lang="pt-BR" dirty="0"/>
          </a:p>
          <a:p>
            <a:pPr algn="r"/>
            <a:endParaRPr lang="pt-BR" dirty="0"/>
          </a:p>
          <a:p>
            <a:pPr algn="r"/>
            <a:r>
              <a:rPr lang="pt-BR" dirty="0"/>
              <a:t>- Editor de Texto/IDE</a:t>
            </a:r>
          </a:p>
          <a:p>
            <a:pPr algn="r"/>
            <a:endParaRPr lang="pt-BR" dirty="0"/>
          </a:p>
        </p:txBody>
      </p:sp>
      <p:pic>
        <p:nvPicPr>
          <p:cNvPr id="7" name="Espaço Reservado para Imagem 17" descr="Uma pessoa desenhando em um quadro branco">
            <a:extLst>
              <a:ext uri="{FF2B5EF4-FFF2-40B4-BE49-F238E27FC236}">
                <a16:creationId xmlns:a16="http://schemas.microsoft.com/office/drawing/2014/main" id="{58104626-8F66-9575-5E49-2907EACF11C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8049" y="788713"/>
            <a:ext cx="5132388" cy="5132388"/>
          </a:xfr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10175050" cy="1476630"/>
          </a:xfrm>
        </p:spPr>
        <p:txBody>
          <a:bodyPr rtlCol="0"/>
          <a:lstStyle>
            <a:defPPr>
              <a:defRPr lang="pt-BR"/>
            </a:defPPr>
          </a:lstStyle>
          <a:p>
            <a:pPr algn="ctr"/>
            <a:r>
              <a:rPr lang="pt-BR" dirty="0"/>
              <a:t>A Espinha Dorsal de Qualquer Sistema Robusto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6CBADD-386C-1081-F89B-E43636FBF1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6201" y="2369602"/>
            <a:ext cx="974176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Garante que os dados sejam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armazenados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processados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gerenciados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forma segura.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comunicação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diferentes partes de um sistema.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Viabiliza funcionalidades complexas que não seriam possíveis apenas no navegador.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Instagram (salvar fotos), Gmail (enviar e-mails), Banco (transações).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6680"/>
            <a:ext cx="9144000" cy="22860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Linguagem de Programação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6450744F-A4B6-FD90-F6DA-4EF9A192E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9080"/>
            <a:ext cx="9144000" cy="2016760"/>
          </a:xfrm>
        </p:spPr>
        <p:txBody>
          <a:bodyPr rtlCol="0"/>
          <a:lstStyle>
            <a:defPPr>
              <a:defRPr lang="pt-BR"/>
            </a:defPPr>
          </a:lstStyle>
          <a:p>
            <a:pPr marL="285750" indent="-285750">
              <a:buFontTx/>
              <a:buChar char="-"/>
            </a:pPr>
            <a:r>
              <a:rPr lang="pt-BR" sz="2400" dirty="0"/>
              <a:t>Interpretada</a:t>
            </a:r>
          </a:p>
          <a:p>
            <a:pPr marL="285750" indent="-285750">
              <a:buFontTx/>
              <a:buChar char="-"/>
            </a:pPr>
            <a:r>
              <a:rPr lang="pt-BR" sz="2400" dirty="0"/>
              <a:t>Compilada</a:t>
            </a:r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90868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Tipos de Dados – Como guardamos os dados</a:t>
            </a:r>
          </a:p>
        </p:txBody>
      </p:sp>
      <p:sp>
        <p:nvSpPr>
          <p:cNvPr id="2" name="Título 2">
            <a:extLst>
              <a:ext uri="{FF2B5EF4-FFF2-40B4-BE49-F238E27FC236}">
                <a16:creationId xmlns:a16="http://schemas.microsoft.com/office/drawing/2014/main" id="{4C51083E-3AFE-312C-700D-FB0DD335D355}"/>
              </a:ext>
            </a:extLst>
          </p:cNvPr>
          <p:cNvSpPr txBox="1">
            <a:spLocks/>
          </p:cNvSpPr>
          <p:nvPr/>
        </p:nvSpPr>
        <p:spPr>
          <a:xfrm>
            <a:off x="950151" y="1302905"/>
            <a:ext cx="11090274" cy="90868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/>
              <a:t> Classificando as Informações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F993C23-0571-7DE2-82F9-1E40983EF2F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50863" y="2352901"/>
            <a:ext cx="1074435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Inteiro (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Números sem casas decimais (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10, -5, 1000).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Real/Ponto Flutuante (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float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double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Números com casas decimais (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3.14, 99.99).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Caracter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(char):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 único caractere (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'A', 'z', '@’).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Cadeia de Caracteres (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Textos, sequências de caracteres (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"Olá mundo", "Meu nome é...").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Booleano (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Valores verdadeiro (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ou falso (false). Usado para decisões.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164717"/>
          </a:xfrm>
        </p:spPr>
        <p:txBody>
          <a:bodyPr rtlCol="0"/>
          <a:lstStyle>
            <a:defPPr>
              <a:defRPr lang="pt-BR"/>
            </a:defPPr>
          </a:lstStyle>
          <a:p>
            <a:pPr algn="ctr"/>
            <a:r>
              <a:rPr lang="pt-BR" dirty="0"/>
              <a:t>Identificando Variáveis!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432862"/>
            <a:ext cx="11164824" cy="664313"/>
          </a:xfrm>
        </p:spPr>
        <p:txBody>
          <a:bodyPr rtlCol="0">
            <a:normAutofit fontScale="92500" lnSpcReduction="20000"/>
          </a:bodyPr>
          <a:lstStyle>
            <a:defPPr>
              <a:defRPr lang="pt-BR"/>
            </a:defPPr>
          </a:lstStyle>
          <a:p>
            <a:pPr marL="0" lvl="1" indent="0">
              <a:buNone/>
            </a:pPr>
            <a:r>
              <a:rPr lang="pt-BR" sz="2400" b="1" dirty="0"/>
              <a:t>Para cada item, diga qual tipo de dado seria mais apropriado e qual nome de variável você daria:</a:t>
            </a:r>
          </a:p>
        </p:txBody>
      </p:sp>
      <p:sp>
        <p:nvSpPr>
          <p:cNvPr id="5" name="Espaço Reservado para Conteúdo 5">
            <a:extLst>
              <a:ext uri="{FF2B5EF4-FFF2-40B4-BE49-F238E27FC236}">
                <a16:creationId xmlns:a16="http://schemas.microsoft.com/office/drawing/2014/main" id="{66D53B73-F5D5-08B6-AE9D-DC29AA0D0052}"/>
              </a:ext>
            </a:extLst>
          </p:cNvPr>
          <p:cNvSpPr txBox="1">
            <a:spLocks/>
          </p:cNvSpPr>
          <p:nvPr/>
        </p:nvSpPr>
        <p:spPr>
          <a:xfrm>
            <a:off x="163766" y="2761488"/>
            <a:ext cx="10540810" cy="3090672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148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dirty="0"/>
              <a:t>Sua Altura? </a:t>
            </a:r>
          </a:p>
          <a:p>
            <a:pPr lvl="1"/>
            <a:r>
              <a:rPr lang="pt-BR" dirty="0"/>
              <a:t>Seu nome completo?</a:t>
            </a:r>
          </a:p>
          <a:p>
            <a:pPr lvl="1"/>
            <a:r>
              <a:rPr lang="pt-BR" dirty="0"/>
              <a:t>Se você é estudante (sim/não)?</a:t>
            </a:r>
          </a:p>
          <a:p>
            <a:pPr lvl="1"/>
            <a:r>
              <a:rPr lang="pt-BR" dirty="0"/>
              <a:t>A quantidade de produtos no Carrinho?</a:t>
            </a:r>
          </a:p>
          <a:p>
            <a:pPr lvl="1"/>
            <a:r>
              <a:rPr lang="pt-BR" dirty="0"/>
              <a:t>O preço de um livro?</a:t>
            </a:r>
          </a:p>
        </p:txBody>
      </p:sp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" name="Forma Livre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" name="Forma Livre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196900"/>
            <a:ext cx="4899628" cy="2331490"/>
          </a:xfrm>
          <a:noFill/>
        </p:spPr>
        <p:txBody>
          <a:bodyPr rtlCol="0" anchor="b"/>
          <a:lstStyle>
            <a:defPPr>
              <a:defRPr lang="pt-BR"/>
            </a:defPPr>
          </a:lstStyle>
          <a:p>
            <a:pPr rtl="0"/>
            <a:r>
              <a:rPr lang="pt-BR" dirty="0"/>
              <a:t>Linguagem para Back </a:t>
            </a:r>
            <a:r>
              <a:rPr lang="pt-BR" dirty="0" err="1"/>
              <a:t>End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3162" y="3163823"/>
            <a:ext cx="4917440" cy="3105529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JAVA – Programação Orientada a Objetos</a:t>
            </a:r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  <p:pic>
        <p:nvPicPr>
          <p:cNvPr id="20" name="Espaço Reservado para Imagem 19" descr="Uma imagem ampliada de um gráfico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>
          <a:xfrm>
            <a:off x="6095588" y="0"/>
            <a:ext cx="6095998" cy="6858000"/>
          </a:xfr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Obrigado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4773168"/>
            <a:ext cx="5179330" cy="1579696"/>
          </a:xfrm>
          <a:noFill/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Wellington S. S. Silva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guitomw@outlook.com</a:t>
            </a:r>
          </a:p>
        </p:txBody>
      </p:sp>
      <p:pic>
        <p:nvPicPr>
          <p:cNvPr id="25" name="Espaço Reservado para Imagem 24" descr="Imagem ampliada de uma rede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43_TF33713516_Win32" id="{381BE384-4E88-40D9-BE21-FE65AFA21B4D}" vid="{52A1BC7B-5E05-4786-AE3A-7C32E2BD0D9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{D4B1B551-CF5F-4749-BE22-BA7347A4FEAF}tf33713516_win32</Template>
  <TotalTime>114</TotalTime>
  <Words>659</Words>
  <Application>Microsoft Office PowerPoint</Application>
  <PresentationFormat>Widescreen</PresentationFormat>
  <Paragraphs>70</Paragraphs>
  <Slides>12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Gill Sans MT</vt:lpstr>
      <vt:lpstr>Walbaum Display</vt:lpstr>
      <vt:lpstr>3DFloatVTI</vt:lpstr>
      <vt:lpstr>Introdução a Linguagem de Programação Back-End</vt:lpstr>
      <vt:lpstr>Linguagem de Programação: Back End</vt:lpstr>
      <vt:lpstr>Back-End - por que ele é crucial?</vt:lpstr>
      <vt:lpstr>Lógica de Programação: A base de tudo</vt:lpstr>
      <vt:lpstr>Lógica de Programação: Estrutura</vt:lpstr>
      <vt:lpstr>Ferramentas e ambiente de desenvolvimento</vt:lpstr>
      <vt:lpstr>A Espinha Dorsal de Qualquer Sistema Robusto</vt:lpstr>
      <vt:lpstr>Linguagem de Programação</vt:lpstr>
      <vt:lpstr>Tipos de Dados – Como guardamos os dados</vt:lpstr>
      <vt:lpstr>Identificando Variáveis!</vt:lpstr>
      <vt:lpstr>Linguagem para Back End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Wellington Serafim Dos Santos Silva</dc:creator>
  <cp:lastModifiedBy>Wellington Serafim Dos Santos Silva</cp:lastModifiedBy>
  <cp:revision>7</cp:revision>
  <dcterms:created xsi:type="dcterms:W3CDTF">2025-07-31T14:19:03Z</dcterms:created>
  <dcterms:modified xsi:type="dcterms:W3CDTF">2025-07-31T16:18:59Z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